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  <p:sldId id="283" r:id="rId62"/>
    <p:sldId id="284" r:id="rId64"/>
    <p:sldId id="285" r:id="rId66"/>
    <p:sldId id="286" r:id="rId68"/>
    <p:sldId id="287" r:id="rId70"/>
    <p:sldId id="288" r:id="rId72"/>
    <p:sldId id="289" r:id="rId74"/>
    <p:sldId id="290" r:id="rId76"/>
    <p:sldId id="291" r:id="rId78"/>
    <p:sldId id="292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62" Target="slides/slide28.xml" Type="http://schemas.openxmlformats.org/officeDocument/2006/relationships/slide"/><Relationship Id="rId63" Target="notesSlides/notesSlide28.xml" Type="http://schemas.openxmlformats.org/officeDocument/2006/relationships/notesSlide"/><Relationship Id="rId64" Target="slides/slide29.xml" Type="http://schemas.openxmlformats.org/officeDocument/2006/relationships/slide"/><Relationship Id="rId65" Target="notesSlides/notesSlide29.xml" Type="http://schemas.openxmlformats.org/officeDocument/2006/relationships/notesSlide"/><Relationship Id="rId66" Target="slides/slide30.xml" Type="http://schemas.openxmlformats.org/officeDocument/2006/relationships/slide"/><Relationship Id="rId67" Target="notesSlides/notesSlide30.xml" Type="http://schemas.openxmlformats.org/officeDocument/2006/relationships/notesSlide"/><Relationship Id="rId68" Target="slides/slide31.xml" Type="http://schemas.openxmlformats.org/officeDocument/2006/relationships/slide"/><Relationship Id="rId69" Target="notesSlides/notesSlide31.xml" Type="http://schemas.openxmlformats.org/officeDocument/2006/relationships/notesSlide"/><Relationship Id="rId7" Target="notesMasters/notesMaster1.xml" Type="http://schemas.openxmlformats.org/officeDocument/2006/relationships/notesMaster"/><Relationship Id="rId70" Target="slides/slide32.xml" Type="http://schemas.openxmlformats.org/officeDocument/2006/relationships/slide"/><Relationship Id="rId71" Target="notesSlides/notesSlide32.xml" Type="http://schemas.openxmlformats.org/officeDocument/2006/relationships/notesSlide"/><Relationship Id="rId72" Target="slides/slide33.xml" Type="http://schemas.openxmlformats.org/officeDocument/2006/relationships/slide"/><Relationship Id="rId73" Target="notesSlides/notesSlide33.xml" Type="http://schemas.openxmlformats.org/officeDocument/2006/relationships/notesSlide"/><Relationship Id="rId74" Target="slides/slide34.xml" Type="http://schemas.openxmlformats.org/officeDocument/2006/relationships/slide"/><Relationship Id="rId75" Target="notesSlides/notesSlide34.xml" Type="http://schemas.openxmlformats.org/officeDocument/2006/relationships/notesSlide"/><Relationship Id="rId76" Target="slides/slide35.xml" Type="http://schemas.openxmlformats.org/officeDocument/2006/relationships/slide"/><Relationship Id="rId77" Target="notesSlides/notesSlide35.xml" Type="http://schemas.openxmlformats.org/officeDocument/2006/relationships/notesSlide"/><Relationship Id="rId78" Target="slides/slide36.xml" Type="http://schemas.openxmlformats.org/officeDocument/2006/relationships/slide"/><Relationship Id="rId79" Target="notesSlides/notesSlide36.xml" Type="http://schemas.openxmlformats.org/officeDocument/2006/relationships/notesSlide"/><Relationship Id="rId8" Target="theme/theme2.xml" Type="http://schemas.openxmlformats.org/officeDocument/2006/relationships/theme"/><Relationship Id="rId80" Target="slides/slide37.xml" Type="http://schemas.openxmlformats.org/officeDocument/2006/relationships/slide"/><Relationship Id="rId81" Target="notesSlides/notesSlide37.xml" Type="http://schemas.openxmlformats.org/officeDocument/2006/relationships/notesSlid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每天有上千万企业员工在飞书、钉钉、企业微信之间反复切换——不是因为喜欢，而是因为找不到真正匹配团队工作方式的平台。今天我们就拨开功能罗列的迷雾，从战略定位、真实体验到市场表现，一次性看清这三大协作平台的本质差异和选择逻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份分析分为五个部分：先看它们从哪来、为什么这样定位；再横向对比核心功能谁更实用；接着从用户真实感受和生态厚度判断长期价值；然后聚焦不同企业类型该怎么选；最后用数据和趋势，说清楚它们现在在哪、未来往哪走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我们先回到起点：不是比谁功能多，而是看谁真正理解企业要解决什么问题。三大平台诞生于不同土壤，也天然带着各自的基因和使命。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飞书2016年诞生，是字节内部打磨出来的工具。它不为管理而生，而是为‘人怎么更高效地一起做事’而设计——信息自由流动、决策快速对齐，这才是它的底层逻辑。目标很明确：服务那些靠创意和协作吃饭的知识型团队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钉钉2014年就上线了，出身阿里，骨子里带着‘让管理更可控’的使命。它从通讯起步，一步步长成企业数字化底座，尤其擅长帮传统企业把流程管起来、把人管到位。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企业微信2016年推出，本质是微信的B端延伸。它不做‘内部办公替代品’，而是专注解决一个关键痛点：怎么让企业和服务客户之间的那堵墙消失？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飞书的战略很清晰：用极致协作体验拿下互联网和科技公司。它的文档能实时看到同事光标，会议支持虚拟背景和美颜——这些不是炫技，是在降低协作摩擦。免费版足够好用，增值服务则瞄准深度定制需求。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钉钉的选择是‘深扎行业’。考勤、审批、低代码开发……它把企业管理的毛细血管都覆盖到了。尤其在制造业、教育、政务等传统领域，它不只是工具，更是数字化转型的抓手。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企业微信的护城河只有一条：微信生态。销售加客户、客服回消息、门店发券——所有动作都在微信里闭环。它不拼内部效率，而是帮企业把‘客户’这个最值钱的资产真正管起来。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功能好不好，不看参数表，而看日常用得顺不顺。接下来我们聚焦四大高频场景：沟通、文档、开会、审批，看看哪款工具真正在帮你省时间、少返工。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群聊不是人越多越好，而是信息能不能被找到。飞书用话题归档把杂乱聊天变结构化；钉钉靠已读未读压实责任；企业微信则直接把消息同步进微信——客户消息不漏接，才是销售团队真正的刚需。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文档协作的关键，是避免‘改稿地狱’。飞书版本追溯清晰、光标实时可见，适合创意类密集协同；钉钉模板丰富，特别适合走流程的审批文档；企业微信依赖腾讯文档，强在与微信文件无缝流转。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视频会议早已不止是‘能看见’。飞书千人会议稳定、降噪干净，适合全员同步；钉钉语音转写准确率高，会后纪要秒生成；企业微信预约系统成熟，尤其方便跨部门协调会议室。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审批不是越复杂越好，而是越快闭环越好。飞书流程极简，适合扁平团队快速决策；钉钉可配置复杂多级审批，适合强管控组织；企业微信胜在能直接在微信里处理，客户相关审批不跳出生态。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开放能力决定平台能走多远。飞书API数量最多、文档最友好，开发者愿意来；钉钉生态成熟，大量现成应用可即插即用；企业微信API偏保守，但胜在微信小程序能直接复用，省去大量开发成本。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再好的功能，如果用着别扭，就会被弃用。这一部分我们放下参数，聊聊真实用户每天打开APP时的第一感受，以及背后支撑它的生态厚度。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界面不是审美问题，而是效率问题。飞书像一本清爽的笔记本，一眼找到核心功能；钉钉像功能齐全的控制台，需要学习路径；企业微信则像微信的孪生兄弟——老用户零学习成本，但创新交互少。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组织管理不是搭架子，而是让信息流向该去的地方。飞书适配敏捷小团队，架构调整一键完成；钉钉支持超复杂层级和权限颗粒度；企业微信直接复用微信通讯录，新员工入职即用，不用重新加好友。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今天没人只用一台设备办公。三款App在手机、电脑、平板甚至浏览器上都跑得稳，但体验差异在于：飞书多端同步最及时，钉钉桌面端功能最全，企业微信在微信内跳转最丝滑。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安全不是‘有没有’，而是‘信不信得过’。三者都做加密和审计，但钉钉认证最全，飞书和企业微信则更强调权限的灵活控制——比如敏感文档，谁能看、能编辑、能下载，粒度细到单个链接。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生态不是应用数量堆出来的。钉钉应用市场像百货商场，啥都有；飞书像精品买手店，重质量轻数量；企业微信则是把微信小程序当货架——你熟悉的工具，直接搬进来就能用。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没有最好的平台，只有最适合的平台。接下来我们按企业真实场景分类，看看中小团队、大型集团、跨地域组织，各自该押注哪一款。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中小企业最怕‘试错成本高’。飞书免费版够用，文档会议全在线；钉钉模板多，行政人事直接套用；企业微信则让销售团队第一天就能用客户微信沟通，启动最快。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大型集团头疼的是‘系统割裂’。钉钉低代码能快速搭起专属审批流；企业微信分级管理员让子公司自主运营又不失管控；飞书则用统一平台打破部门墙，让全球团队在一个文档里实时协作。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远程协作最难的是‘信息不同步’。飞书文档+会议组合拳，确保全球团队始终在同一页面；钉钉多语言翻译让跨国会议不卡壳；企业微信直接把海外员工拉进微信工作群，沟通零障碍。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免费不是终点，而是筛选用户的筛子。三款都提供长期免费版，但限制逻辑不同：飞书卡人数上限，钉钉卡高级功能，企业微信卡客户触达频次——这恰恰暴露了各自的盈利重心。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增值服务不是‘割韭菜’，而是为真需求付费。飞书扩容云空间、升级会议时长；钉钉买专属应用、增并发数；企业微信则为更多客户标签、更高消息限额买单——每一分钱，都对应一个具体业务瓶颈。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定制化不是大厂专利。飞书可换主题、改导航；钉钉能部署专属版甚至硬件一体机；企业微信虽定制范围小，但微信侧界面和菜单能按需调整——关键是，它是否解决你最痛的那个点。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数据不会说谎。最后我们用市场份额、增长曲线和用户口碑，验证前面所有判断：谁在扩张？谁在深耕？谁在补短板？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当前格局很清晰：钉钉整体份额领先，尤其在传统行业；飞书在互联网和科技公司渗透率最高；企业微信则牢牢占据销售和客服团队——不是谁赢了，而是谁更懂自己的主战场。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飞书用户增长最快，说明产品力正在兑现；钉钉用户基数大、增长稳；企业微信活跃度靠微信反哺，但留存率略逊——这提示我们：吸引容易，留住难，关键在日常体验是否不可替代。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用户满意度印证了我们的观察：飞书赢在简洁高效，钉钉赢在功能扎实，企业微信赢在微信无缝衔接。但所有用户都在提同一个建议：别堆功能，先修体验。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AI不是噱头，而是正在落地的能力。飞书智能会议纪要、钉钉AI审批助手、企业微信智能客服——三者都在把重复劳动交给机器，把人的精力腾出来做真正需要判断的事。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生态扩展有两个方向：向内深挖行业，向外出海。钉钉在制造业扎根，飞书加速国际化，企业微信则联合微信服务商，把零售、教育等垂直场景做透——谁的生态更贴近业务，谁就更难被替代。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三足鼎立不是静态平衡。飞书要补生态短板，钉钉需回应体验吐槽，企业微信得提升文档协作深度——竞争不是消灭对手，而是逼自己成为用户唯一的选择理由。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未来三年，协作平台只会更‘隐形’：AI自动归档会议、数据自动预警风险、权限自动适配角色。但不变的是：选对平台，不是选功能最多，而是选那个最懂你团队工作节奏的伙伴。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总结三个关键选择逻辑：要极致协作效率，选飞书；要深度管理与行业适配，选钉钉；要打通客户与员工，选企业微信。欢迎随时交流，我们一起找到最适合你们团队的那一款。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25B190">
                <a:alpha val="54901"/>
                <a:lumMod val="60000"/>
                <a:lumOff val="40000"/>
              </a:srgbClr>
            </a:gs>
            <a:gs pos="100000">
              <a:srgbClr val="FBB430">
                <a:alpha val="10196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660400" y="488653"/>
            <a:ext cx="11555664" cy="5747047"/>
            <a:chOff x="660400" y="488653"/>
            <a:chExt cx="11555664" cy="5747047"/>
          </a:xfrm>
        </p:grpSpPr>
        <p:grpSp>
          <p:nvGrpSpPr>
            <p:cNvPr name="Group 3" id="3"/>
            <p:cNvGrpSpPr/>
            <p:nvPr/>
          </p:nvGrpSpPr>
          <p:grpSpPr>
            <a:xfrm flipH="false" flipV="false" rot="0">
              <a:off x="4656064" y="3715700"/>
              <a:ext cx="7560000" cy="2520000"/>
              <a:chOff x="4680128" y="3715700"/>
              <a:chExt cx="7560000" cy="2520000"/>
            </a:xfrm>
          </p:grpSpPr>
          <p:sp>
            <p:nvSpPr>
              <p:cNvPr name="AutoShape 4" id="4"/>
              <p:cNvSpPr/>
              <p:nvPr/>
            </p:nvSpPr>
            <p:spPr>
              <a:xfrm flipH="false" flipV="false" rot="0">
                <a:off x="4680128" y="3715700"/>
                <a:ext cx="7560000" cy="2520000"/>
              </a:xfrm>
              <a:custGeom>
                <a:rect l="l" t="t" r="r" b="b"/>
                <a:pathLst>
                  <a:path w="7658100" h="2514600">
                    <a:moveTo>
                      <a:pt x="419108" y="0"/>
                    </a:moveTo>
                    <a:lnTo>
                      <a:pt x="7658100" y="0"/>
                    </a:lnTo>
                    <a:lnTo>
                      <a:pt x="7658100" y="2514600"/>
                    </a:lnTo>
                    <a:lnTo>
                      <a:pt x="419108" y="2514600"/>
                    </a:lnTo>
                    <a:cubicBezTo>
                      <a:pt x="187641" y="2514600"/>
                      <a:pt x="0" y="2326959"/>
                      <a:pt x="0" y="2095492"/>
                    </a:cubicBezTo>
                    <a:lnTo>
                      <a:pt x="0" y="419108"/>
                    </a:lnTo>
                    <a:cubicBezTo>
                      <a:pt x="0" y="187641"/>
                      <a:pt x="187641" y="0"/>
                      <a:pt x="419108" y="0"/>
                    </a:cubicBez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name="AutoShape 5" id="5"/>
              <p:cNvSpPr/>
              <p:nvPr/>
            </p:nvSpPr>
            <p:spPr>
              <a:xfrm flipH="false" flipV="false" rot="0">
                <a:off x="4930289" y="3931700"/>
                <a:ext cx="3240000" cy="2088000"/>
              </a:xfrm>
              <a:prstGeom prst="roundRect">
                <a:avLst>
                  <a:gd name="adj" fmla="val 11481"/>
                </a:avLst>
              </a:prstGeom>
              <a:blipFill rotWithShape="true">
                <a:blip r:embed="rId2">
                  <a:alphaModFix amt="100000"/>
                  <a:alphaModFix amt="100000"/>
                </a:blip>
                <a:stretch>
                  <a:fillRect l="-11713" r="-10027" t="-6260" b="0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6" id="6"/>
              <p:cNvSpPr/>
              <p:nvPr/>
            </p:nvSpPr>
            <p:spPr>
              <a:xfrm flipH="false" flipV="false" rot="0">
                <a:off x="8540389" y="5191698"/>
                <a:ext cx="288000" cy="281963"/>
              </a:xfrm>
              <a:custGeom>
                <a:rect l="l" t="t" r="r" b="b"/>
                <a:pathLst>
                  <a:path w="4722" h="4630">
                    <a:moveTo>
                      <a:pt x="4602" y="4107"/>
                    </a:moveTo>
                    <a:lnTo>
                      <a:pt x="3785" y="3289"/>
                    </a:lnTo>
                    <a:cubicBezTo>
                      <a:pt x="4027" y="2949"/>
                      <a:pt x="4171" y="2534"/>
                      <a:pt x="4171" y="2085"/>
                    </a:cubicBezTo>
                    <a:cubicBezTo>
                      <a:pt x="4171" y="935"/>
                      <a:pt x="3235" y="0"/>
                      <a:pt x="2085" y="0"/>
                    </a:cubicBezTo>
                    <a:cubicBezTo>
                      <a:pt x="935" y="0"/>
                      <a:pt x="0" y="935"/>
                      <a:pt x="0" y="2085"/>
                    </a:cubicBezTo>
                    <a:cubicBezTo>
                      <a:pt x="0" y="3235"/>
                      <a:pt x="935" y="4171"/>
                      <a:pt x="2085" y="4171"/>
                    </a:cubicBezTo>
                    <a:cubicBezTo>
                      <a:pt x="2566" y="4171"/>
                      <a:pt x="3007" y="4006"/>
                      <a:pt x="3360" y="3732"/>
                    </a:cubicBezTo>
                    <a:lnTo>
                      <a:pt x="4169" y="4540"/>
                    </a:lnTo>
                    <a:cubicBezTo>
                      <a:pt x="4229" y="4600"/>
                      <a:pt x="4307" y="4630"/>
                      <a:pt x="4385" y="4630"/>
                    </a:cubicBezTo>
                    <a:cubicBezTo>
                      <a:pt x="4464" y="4630"/>
                      <a:pt x="4542" y="4600"/>
                      <a:pt x="4602" y="4540"/>
                    </a:cubicBezTo>
                    <a:cubicBezTo>
                      <a:pt x="4722" y="4421"/>
                      <a:pt x="4722" y="4227"/>
                      <a:pt x="4602" y="4107"/>
                    </a:cubicBezTo>
                    <a:close/>
                    <a:moveTo>
                      <a:pt x="2990" y="1778"/>
                    </a:moveTo>
                    <a:cubicBezTo>
                      <a:pt x="2955" y="1795"/>
                      <a:pt x="2919" y="1803"/>
                      <a:pt x="2883" y="1803"/>
                    </a:cubicBezTo>
                    <a:cubicBezTo>
                      <a:pt x="2792" y="1803"/>
                      <a:pt x="2704" y="1752"/>
                      <a:pt x="2662" y="1665"/>
                    </a:cubicBezTo>
                    <a:cubicBezTo>
                      <a:pt x="2531" y="1396"/>
                      <a:pt x="2263" y="1228"/>
                      <a:pt x="1963" y="1228"/>
                    </a:cubicBezTo>
                    <a:cubicBezTo>
                      <a:pt x="1828" y="1228"/>
                      <a:pt x="1718" y="1118"/>
                      <a:pt x="1718" y="983"/>
                    </a:cubicBezTo>
                    <a:cubicBezTo>
                      <a:pt x="1718" y="847"/>
                      <a:pt x="1828" y="738"/>
                      <a:pt x="1963" y="738"/>
                    </a:cubicBezTo>
                    <a:cubicBezTo>
                      <a:pt x="2452" y="738"/>
                      <a:pt x="2889" y="1011"/>
                      <a:pt x="3103" y="1450"/>
                    </a:cubicBezTo>
                    <a:cubicBezTo>
                      <a:pt x="3163" y="1572"/>
                      <a:pt x="3112" y="1719"/>
                      <a:pt x="2990" y="177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7" id="7"/>
              <p:cNvSpPr/>
              <p:nvPr/>
            </p:nvSpPr>
            <p:spPr>
              <a:xfrm flipH="false" flipV="false" rot="0">
                <a:off x="8522389" y="4031681"/>
                <a:ext cx="324000" cy="282833"/>
              </a:xfrm>
              <a:custGeom>
                <a:rect l="l" t="t" r="r" b="b"/>
                <a:pathLst>
                  <a:path w="608697" h="531358">
                    <a:moveTo>
                      <a:pt x="424975" y="168488"/>
                    </a:moveTo>
                    <a:cubicBezTo>
                      <a:pt x="404312" y="168488"/>
                      <a:pt x="387604" y="185248"/>
                      <a:pt x="387604" y="205806"/>
                    </a:cubicBezTo>
                    <a:cubicBezTo>
                      <a:pt x="387604" y="226439"/>
                      <a:pt x="404312" y="243124"/>
                      <a:pt x="424975" y="243124"/>
                    </a:cubicBezTo>
                    <a:cubicBezTo>
                      <a:pt x="445562" y="243124"/>
                      <a:pt x="462346" y="226439"/>
                      <a:pt x="462346" y="205806"/>
                    </a:cubicBezTo>
                    <a:cubicBezTo>
                      <a:pt x="462346" y="185248"/>
                      <a:pt x="445637" y="168488"/>
                      <a:pt x="424975" y="168488"/>
                    </a:cubicBezTo>
                    <a:close/>
                    <a:moveTo>
                      <a:pt x="287947" y="168488"/>
                    </a:moveTo>
                    <a:cubicBezTo>
                      <a:pt x="267285" y="168488"/>
                      <a:pt x="250576" y="185248"/>
                      <a:pt x="250576" y="205806"/>
                    </a:cubicBezTo>
                    <a:cubicBezTo>
                      <a:pt x="250576" y="226439"/>
                      <a:pt x="267285" y="243124"/>
                      <a:pt x="287947" y="243124"/>
                    </a:cubicBezTo>
                    <a:cubicBezTo>
                      <a:pt x="308610" y="243124"/>
                      <a:pt x="325318" y="226439"/>
                      <a:pt x="325318" y="205806"/>
                    </a:cubicBezTo>
                    <a:cubicBezTo>
                      <a:pt x="325318" y="185248"/>
                      <a:pt x="308610" y="168488"/>
                      <a:pt x="287947" y="168488"/>
                    </a:cubicBezTo>
                    <a:close/>
                    <a:moveTo>
                      <a:pt x="102356" y="121231"/>
                    </a:moveTo>
                    <a:cubicBezTo>
                      <a:pt x="101162" y="123317"/>
                      <a:pt x="99969" y="125477"/>
                      <a:pt x="98850" y="127711"/>
                    </a:cubicBezTo>
                    <a:cubicBezTo>
                      <a:pt x="84227" y="156240"/>
                      <a:pt x="76842" y="186631"/>
                      <a:pt x="76842" y="217990"/>
                    </a:cubicBezTo>
                    <a:cubicBezTo>
                      <a:pt x="76842" y="249275"/>
                      <a:pt x="84227" y="279666"/>
                      <a:pt x="98850" y="308194"/>
                    </a:cubicBezTo>
                    <a:cubicBezTo>
                      <a:pt x="112726" y="335308"/>
                      <a:pt x="132496" y="359516"/>
                      <a:pt x="157488" y="380223"/>
                    </a:cubicBezTo>
                    <a:cubicBezTo>
                      <a:pt x="207845" y="421787"/>
                      <a:pt x="274317" y="444729"/>
                      <a:pt x="344668" y="444729"/>
                    </a:cubicBezTo>
                    <a:cubicBezTo>
                      <a:pt x="353173" y="444729"/>
                      <a:pt x="361752" y="444357"/>
                      <a:pt x="370257" y="443687"/>
                    </a:cubicBezTo>
                    <a:cubicBezTo>
                      <a:pt x="332209" y="465288"/>
                      <a:pt x="286254" y="477876"/>
                      <a:pt x="236717" y="477876"/>
                    </a:cubicBezTo>
                    <a:cubicBezTo>
                      <a:pt x="223736" y="477876"/>
                      <a:pt x="210755" y="477057"/>
                      <a:pt x="198072" y="475344"/>
                    </a:cubicBezTo>
                    <a:cubicBezTo>
                      <a:pt x="160397" y="499478"/>
                      <a:pt x="110637" y="528155"/>
                      <a:pt x="82437" y="531284"/>
                    </a:cubicBezTo>
                    <a:cubicBezTo>
                      <a:pt x="82138" y="531358"/>
                      <a:pt x="81840" y="531358"/>
                      <a:pt x="81542" y="531358"/>
                    </a:cubicBezTo>
                    <a:cubicBezTo>
                      <a:pt x="78930" y="531358"/>
                      <a:pt x="76469" y="530017"/>
                      <a:pt x="75051" y="527857"/>
                    </a:cubicBezTo>
                    <a:cubicBezTo>
                      <a:pt x="73410" y="525399"/>
                      <a:pt x="73335" y="522271"/>
                      <a:pt x="74753" y="519738"/>
                    </a:cubicBezTo>
                    <a:cubicBezTo>
                      <a:pt x="75051" y="519291"/>
                      <a:pt x="99223" y="476014"/>
                      <a:pt x="88778" y="435046"/>
                    </a:cubicBezTo>
                    <a:cubicBezTo>
                      <a:pt x="32303" y="397653"/>
                      <a:pt x="0" y="342160"/>
                      <a:pt x="0" y="282198"/>
                    </a:cubicBezTo>
                    <a:cubicBezTo>
                      <a:pt x="0" y="215532"/>
                      <a:pt x="40584" y="156538"/>
                      <a:pt x="102356" y="121231"/>
                    </a:cubicBezTo>
                    <a:close/>
                    <a:moveTo>
                      <a:pt x="356424" y="0"/>
                    </a:moveTo>
                    <a:cubicBezTo>
                      <a:pt x="495540" y="0"/>
                      <a:pt x="608697" y="94747"/>
                      <a:pt x="608697" y="211244"/>
                    </a:cubicBezTo>
                    <a:cubicBezTo>
                      <a:pt x="608697" y="274408"/>
                      <a:pt x="575802" y="333178"/>
                      <a:pt x="518290" y="373401"/>
                    </a:cubicBezTo>
                    <a:cubicBezTo>
                      <a:pt x="512845" y="406324"/>
                      <a:pt x="531717" y="440811"/>
                      <a:pt x="531941" y="441109"/>
                    </a:cubicBezTo>
                    <a:cubicBezTo>
                      <a:pt x="536267" y="448781"/>
                      <a:pt x="535969" y="458092"/>
                      <a:pt x="531120" y="465391"/>
                    </a:cubicBezTo>
                    <a:cubicBezTo>
                      <a:pt x="526794" y="472021"/>
                      <a:pt x="519484" y="475894"/>
                      <a:pt x="511577" y="475894"/>
                    </a:cubicBezTo>
                    <a:cubicBezTo>
                      <a:pt x="510756" y="475894"/>
                      <a:pt x="509936" y="475894"/>
                      <a:pt x="509041" y="475745"/>
                    </a:cubicBezTo>
                    <a:cubicBezTo>
                      <a:pt x="484574" y="473064"/>
                      <a:pt x="444966" y="454442"/>
                      <a:pt x="391408" y="420476"/>
                    </a:cubicBezTo>
                    <a:cubicBezTo>
                      <a:pt x="379920" y="421817"/>
                      <a:pt x="368135" y="422487"/>
                      <a:pt x="356424" y="422487"/>
                    </a:cubicBezTo>
                    <a:cubicBezTo>
                      <a:pt x="217382" y="422487"/>
                      <a:pt x="104225" y="327741"/>
                      <a:pt x="104225" y="211244"/>
                    </a:cubicBezTo>
                    <a:cubicBezTo>
                      <a:pt x="104225" y="94747"/>
                      <a:pt x="217382" y="0"/>
                      <a:pt x="35642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flipH="false" flipV="false" rot="0">
              <a:off x="673544" y="5803700"/>
              <a:ext cx="3489381" cy="432000"/>
              <a:chOff x="1198713" y="534464"/>
              <a:chExt cx="3489381" cy="432000"/>
            </a:xfrm>
          </p:grpSpPr>
          <p:sp>
            <p:nvSpPr>
              <p:cNvPr name="AutoShape 9" id="9"/>
              <p:cNvSpPr/>
              <p:nvPr/>
            </p:nvSpPr>
            <p:spPr>
              <a:xfrm flipH="false" flipV="false" rot="0">
                <a:off x="1771429" y="534464"/>
                <a:ext cx="2916665" cy="43200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name="Group 10" id="10"/>
              <p:cNvGrpSpPr/>
              <p:nvPr/>
            </p:nvGrpSpPr>
            <p:grpSpPr>
              <a:xfrm flipH="false" flipV="false" rot="0">
                <a:off x="1198713" y="534464"/>
                <a:ext cx="432000" cy="432000"/>
                <a:chOff x="1314153" y="5424487"/>
                <a:chExt cx="519545" cy="519545"/>
              </a:xfrm>
              <a:gradFill>
                <a:gsLst>
                  <a:gs pos="2999">
                    <a:srgbClr val="000000">
                      <a:alpha val="100000"/>
                    </a:srgbClr>
                  </a:gs>
                  <a:gs pos="100000">
                    <a:srgbClr val="25B190">
                      <a:alpha val="100000"/>
                      <a:lumMod val="20000"/>
                      <a:lumOff val="80000"/>
                    </a:srgbClr>
                  </a:gs>
                </a:gsLst>
                <a:lin ang="2700000"/>
              </a:gradFill>
            </p:grpSpPr>
            <p:sp>
              <p:nvSpPr>
                <p:cNvPr name="AutoShape 11" id="11"/>
                <p:cNvSpPr/>
                <p:nvPr/>
              </p:nvSpPr>
              <p:spPr>
                <a:xfrm flipH="false" flipV="false" rot="0">
                  <a:off x="1314153" y="5424487"/>
                  <a:ext cx="519545" cy="519545"/>
                </a:xfrm>
                <a:prstGeom prst="ellipse">
                  <a:avLst/>
                </a:prstGeom>
                <a:gradFill>
                  <a:gsLst>
                    <a:gs pos="0">
                      <a:srgbClr val="FBB430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FBB430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12" id="12"/>
                <p:cNvSpPr/>
                <p:nvPr/>
              </p:nvSpPr>
              <p:spPr>
                <a:xfrm flipH="false" flipV="false" rot="0">
                  <a:off x="1436863" y="5558258"/>
                  <a:ext cx="241297" cy="252000"/>
                </a:xfrm>
                <a:custGeom>
                  <a:rect l="l" t="t" r="r" b="b"/>
                  <a:pathLst>
                    <a:path w="12589" h="13168">
                      <a:moveTo>
                        <a:pt x="4945" y="12700"/>
                      </a:moveTo>
                      <a:cubicBezTo>
                        <a:pt x="5257" y="13012"/>
                        <a:pt x="5666" y="13168"/>
                        <a:pt x="6077" y="13168"/>
                      </a:cubicBezTo>
                      <a:cubicBezTo>
                        <a:pt x="6488" y="13168"/>
                        <a:pt x="6896" y="13012"/>
                        <a:pt x="7209" y="12700"/>
                      </a:cubicBezTo>
                      <a:lnTo>
                        <a:pt x="12116" y="7793"/>
                      </a:lnTo>
                      <a:lnTo>
                        <a:pt x="12116" y="7793"/>
                      </a:lnTo>
                      <a:cubicBezTo>
                        <a:pt x="12377" y="7532"/>
                        <a:pt x="12558" y="7159"/>
                        <a:pt x="12582" y="6788"/>
                      </a:cubicBezTo>
                      <a:cubicBezTo>
                        <a:pt x="12589" y="6683"/>
                        <a:pt x="12589" y="6568"/>
                        <a:pt x="12573" y="6464"/>
                      </a:cubicBezTo>
                      <a:cubicBezTo>
                        <a:pt x="12544" y="6264"/>
                        <a:pt x="12486" y="6069"/>
                        <a:pt x="12388" y="5892"/>
                      </a:cubicBezTo>
                      <a:cubicBezTo>
                        <a:pt x="12314" y="5760"/>
                        <a:pt x="12222" y="5637"/>
                        <a:pt x="12116" y="5531"/>
                      </a:cubicBezTo>
                      <a:lnTo>
                        <a:pt x="12116" y="5531"/>
                      </a:lnTo>
                      <a:lnTo>
                        <a:pt x="7209" y="624"/>
                      </a:lnTo>
                      <a:cubicBezTo>
                        <a:pt x="6584" y="0"/>
                        <a:pt x="5570" y="0"/>
                        <a:pt x="4945" y="624"/>
                      </a:cubicBezTo>
                      <a:cubicBezTo>
                        <a:pt x="4320" y="1249"/>
                        <a:pt x="4320" y="2261"/>
                        <a:pt x="4945" y="2887"/>
                      </a:cubicBezTo>
                      <a:lnTo>
                        <a:pt x="7120" y="5061"/>
                      </a:lnTo>
                      <a:lnTo>
                        <a:pt x="1600" y="5061"/>
                      </a:lnTo>
                      <a:cubicBezTo>
                        <a:pt x="716" y="5061"/>
                        <a:pt x="0" y="5777"/>
                        <a:pt x="0" y="6661"/>
                      </a:cubicBezTo>
                      <a:cubicBezTo>
                        <a:pt x="0" y="7545"/>
                        <a:pt x="716" y="8261"/>
                        <a:pt x="1600" y="8261"/>
                      </a:cubicBezTo>
                      <a:lnTo>
                        <a:pt x="7120" y="8261"/>
                      </a:lnTo>
                      <a:lnTo>
                        <a:pt x="4945" y="10437"/>
                      </a:lnTo>
                      <a:cubicBezTo>
                        <a:pt x="4320" y="11063"/>
                        <a:pt x="4320" y="12076"/>
                        <a:pt x="4945" y="12700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  <p:grpSp>
          <p:nvGrpSpPr>
            <p:cNvPr name="Group 13" id="13"/>
            <p:cNvGrpSpPr/>
            <p:nvPr/>
          </p:nvGrpSpPr>
          <p:grpSpPr>
            <a:xfrm flipH="false" flipV="false" rot="0">
              <a:off x="660400" y="488653"/>
              <a:ext cx="10858500" cy="432000"/>
              <a:chOff x="660400" y="488653"/>
              <a:chExt cx="10858500" cy="432000"/>
            </a:xfrm>
          </p:grpSpPr>
          <p:sp>
            <p:nvSpPr>
              <p:cNvPr name="AutoShape 14" id="14"/>
              <p:cNvSpPr/>
              <p:nvPr/>
            </p:nvSpPr>
            <p:spPr>
              <a:xfrm flipH="false" flipV="false" rot="0">
                <a:off x="660400" y="488653"/>
                <a:ext cx="10858500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108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name="Group 15" id="15"/>
              <p:cNvGrpSpPr/>
              <p:nvPr/>
            </p:nvGrpSpPr>
            <p:grpSpPr>
              <a:xfrm flipH="false" flipV="false" rot="0">
                <a:off x="10855939" y="650653"/>
                <a:ext cx="446393" cy="108000"/>
                <a:chOff x="11072507" y="650700"/>
                <a:chExt cx="446393" cy="108000"/>
              </a:xfrm>
            </p:grpSpPr>
            <p:sp>
              <p:nvSpPr>
                <p:cNvPr name="AutoShape 16" id="16"/>
                <p:cNvSpPr/>
                <p:nvPr/>
              </p:nvSpPr>
              <p:spPr>
                <a:xfrm flipH="false" flipV="false" rot="0">
                  <a:off x="11072507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17" id="17"/>
                <p:cNvSpPr/>
                <p:nvPr/>
              </p:nvSpPr>
              <p:spPr>
                <a:xfrm flipH="false" flipV="false" rot="0">
                  <a:off x="11241703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5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18" id="18"/>
                <p:cNvSpPr/>
                <p:nvPr/>
              </p:nvSpPr>
              <p:spPr>
                <a:xfrm flipH="false" flipV="false" rot="0">
                  <a:off x="11410900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5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25B190">
                <a:alpha val="54901"/>
                <a:lumMod val="60000"/>
                <a:lumOff val="40000"/>
              </a:srgbClr>
            </a:gs>
            <a:gs pos="100000">
              <a:srgbClr val="FBB430">
                <a:alpha val="10196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444399" y="380700"/>
            <a:ext cx="11074500" cy="648000"/>
            <a:chOff x="444399" y="380700"/>
            <a:chExt cx="11074500" cy="648000"/>
          </a:xfrm>
        </p:grpSpPr>
        <p:sp>
          <p:nvSpPr>
            <p:cNvPr name="AutoShape 3" id="3"/>
            <p:cNvSpPr/>
            <p:nvPr/>
          </p:nvSpPr>
          <p:spPr>
            <a:xfrm flipH="false" flipV="false" rot="0">
              <a:off x="660399" y="380700"/>
              <a:ext cx="10858500" cy="648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60000"/>
              </a:srgbClr>
            </a:solidFill>
            <a:ln w="190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name="Group 4" id="4"/>
            <p:cNvGrpSpPr/>
            <p:nvPr/>
          </p:nvGrpSpPr>
          <p:grpSpPr>
            <a:xfrm flipH="false" flipV="false" rot="0">
              <a:off x="444399" y="488700"/>
              <a:ext cx="432000" cy="432000"/>
              <a:chOff x="432913" y="518494"/>
              <a:chExt cx="432000" cy="432000"/>
            </a:xfrm>
          </p:grpSpPr>
          <p:sp>
            <p:nvSpPr>
              <p:cNvPr name="AutoShape 5" id="5"/>
              <p:cNvSpPr/>
              <p:nvPr/>
            </p:nvSpPr>
            <p:spPr>
              <a:xfrm flipH="false" flipV="false" rot="0">
                <a:off x="432913" y="518494"/>
                <a:ext cx="432000" cy="432000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6" id="6"/>
              <p:cNvSpPr/>
              <p:nvPr/>
            </p:nvSpPr>
            <p:spPr>
              <a:xfrm flipH="false" flipV="false" rot="0">
                <a:off x="534946" y="629724"/>
                <a:ext cx="200638" cy="209537"/>
              </a:xfrm>
              <a:custGeom>
                <a:rect l="l" t="t" r="r" b="b"/>
                <a:pathLst>
                  <a:path w="12589" h="13168">
                    <a:moveTo>
                      <a:pt x="4945" y="12700"/>
                    </a:moveTo>
                    <a:cubicBezTo>
                      <a:pt x="5257" y="13012"/>
                      <a:pt x="5666" y="13168"/>
                      <a:pt x="6077" y="13168"/>
                    </a:cubicBezTo>
                    <a:cubicBezTo>
                      <a:pt x="6488" y="13168"/>
                      <a:pt x="6896" y="13012"/>
                      <a:pt x="7209" y="12700"/>
                    </a:cubicBezTo>
                    <a:lnTo>
                      <a:pt x="12116" y="7793"/>
                    </a:lnTo>
                    <a:lnTo>
                      <a:pt x="12116" y="7793"/>
                    </a:lnTo>
                    <a:cubicBezTo>
                      <a:pt x="12377" y="7532"/>
                      <a:pt x="12558" y="7159"/>
                      <a:pt x="12582" y="6788"/>
                    </a:cubicBezTo>
                    <a:cubicBezTo>
                      <a:pt x="12589" y="6683"/>
                      <a:pt x="12589" y="6568"/>
                      <a:pt x="12573" y="6464"/>
                    </a:cubicBezTo>
                    <a:cubicBezTo>
                      <a:pt x="12544" y="6264"/>
                      <a:pt x="12486" y="6069"/>
                      <a:pt x="12388" y="5892"/>
                    </a:cubicBezTo>
                    <a:cubicBezTo>
                      <a:pt x="12314" y="5760"/>
                      <a:pt x="12222" y="5637"/>
                      <a:pt x="12116" y="5531"/>
                    </a:cubicBezTo>
                    <a:lnTo>
                      <a:pt x="12116" y="5531"/>
                    </a:lnTo>
                    <a:lnTo>
                      <a:pt x="7209" y="624"/>
                    </a:lnTo>
                    <a:cubicBezTo>
                      <a:pt x="6584" y="0"/>
                      <a:pt x="5570" y="0"/>
                      <a:pt x="4945" y="624"/>
                    </a:cubicBezTo>
                    <a:cubicBezTo>
                      <a:pt x="4320" y="1249"/>
                      <a:pt x="4320" y="2261"/>
                      <a:pt x="4945" y="2887"/>
                    </a:cubicBezTo>
                    <a:lnTo>
                      <a:pt x="7120" y="5061"/>
                    </a:lnTo>
                    <a:lnTo>
                      <a:pt x="1600" y="5061"/>
                    </a:lnTo>
                    <a:cubicBezTo>
                      <a:pt x="716" y="5061"/>
                      <a:pt x="0" y="5777"/>
                      <a:pt x="0" y="6661"/>
                    </a:cubicBezTo>
                    <a:cubicBezTo>
                      <a:pt x="0" y="7545"/>
                      <a:pt x="716" y="8261"/>
                      <a:pt x="1600" y="8261"/>
                    </a:cubicBezTo>
                    <a:lnTo>
                      <a:pt x="7120" y="8261"/>
                    </a:lnTo>
                    <a:lnTo>
                      <a:pt x="4945" y="10437"/>
                    </a:lnTo>
                    <a:cubicBezTo>
                      <a:pt x="4320" y="11063"/>
                      <a:pt x="4320" y="12076"/>
                      <a:pt x="4945" y="1270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>
          <a:gsLst>
            <a:gs pos="0">
              <a:srgbClr val="25B190">
                <a:alpha val="54901"/>
                <a:lumMod val="60000"/>
                <a:lumOff val="40000"/>
              </a:srgbClr>
            </a:gs>
            <a:gs pos="100000">
              <a:srgbClr val="FBB430">
                <a:alpha val="10196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660400" y="488653"/>
            <a:ext cx="10858500" cy="5883995"/>
            <a:chOff x="660400" y="488653"/>
            <a:chExt cx="10858500" cy="5883995"/>
          </a:xfrm>
        </p:grpSpPr>
        <p:sp>
          <p:nvSpPr>
            <p:cNvPr name="AutoShape 3" id="3"/>
            <p:cNvSpPr/>
            <p:nvPr/>
          </p:nvSpPr>
          <p:spPr>
            <a:xfrm flipH="false" flipV="false" rot="0">
              <a:off x="660400" y="1339700"/>
              <a:ext cx="10858500" cy="4791230"/>
            </a:xfrm>
            <a:prstGeom prst="roundRect">
              <a:avLst>
                <a:gd name="adj" fmla="val 5043"/>
              </a:avLst>
            </a:prstGeom>
            <a:solidFill>
              <a:srgbClr val="FFFFFF">
                <a:alpha val="60000"/>
              </a:srgbClr>
            </a:solidFill>
            <a:ln w="190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name="Group 4" id="4"/>
            <p:cNvGrpSpPr/>
            <p:nvPr/>
          </p:nvGrpSpPr>
          <p:grpSpPr>
            <a:xfrm flipH="false" flipV="false" rot="0">
              <a:off x="660400" y="488653"/>
              <a:ext cx="10858500" cy="432000"/>
              <a:chOff x="660400" y="488653"/>
              <a:chExt cx="10858500" cy="432000"/>
            </a:xfrm>
          </p:grpSpPr>
          <p:sp>
            <p:nvSpPr>
              <p:cNvPr name="AutoShape 5" id="5"/>
              <p:cNvSpPr/>
              <p:nvPr/>
            </p:nvSpPr>
            <p:spPr>
              <a:xfrm flipH="false" flipV="false" rot="0">
                <a:off x="660400" y="488653"/>
                <a:ext cx="10858500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108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 flipH="false" flipV="false" rot="0">
                <a:off x="10855939" y="650653"/>
                <a:ext cx="446393" cy="108000"/>
                <a:chOff x="11072507" y="650700"/>
                <a:chExt cx="446393" cy="108000"/>
              </a:xfrm>
            </p:grpSpPr>
            <p:sp>
              <p:nvSpPr>
                <p:cNvPr name="AutoShape 7" id="7"/>
                <p:cNvSpPr/>
                <p:nvPr/>
              </p:nvSpPr>
              <p:spPr>
                <a:xfrm flipH="false" flipV="false" rot="0">
                  <a:off x="11072507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8" id="8"/>
                <p:cNvSpPr/>
                <p:nvPr/>
              </p:nvSpPr>
              <p:spPr>
                <a:xfrm flipH="false" flipV="false" rot="0">
                  <a:off x="11241703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5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9" id="9"/>
                <p:cNvSpPr/>
                <p:nvPr/>
              </p:nvSpPr>
              <p:spPr>
                <a:xfrm flipH="false" flipV="false" rot="0">
                  <a:off x="11410900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5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  <p:grpSp>
          <p:nvGrpSpPr>
            <p:cNvPr name="Group 10" id="10"/>
            <p:cNvGrpSpPr/>
            <p:nvPr/>
          </p:nvGrpSpPr>
          <p:grpSpPr>
            <a:xfrm flipH="false" flipV="false" rot="0">
              <a:off x="5880000" y="5940648"/>
              <a:ext cx="432000" cy="432000"/>
              <a:chOff x="1314153" y="5424487"/>
              <a:chExt cx="519545" cy="519545"/>
            </a:xfrm>
            <a:gradFill>
              <a:gsLst>
                <a:gs pos="2999">
                  <a:srgbClr val="000000">
                    <a:alpha val="100000"/>
                  </a:srgbClr>
                </a:gs>
                <a:gs pos="100000">
                  <a:srgbClr val="25B190">
                    <a:alpha val="100000"/>
                    <a:lumMod val="20000"/>
                    <a:lumOff val="80000"/>
                  </a:srgbClr>
                </a:gs>
              </a:gsLst>
              <a:lin ang="2700000"/>
            </a:gradFill>
          </p:grpSpPr>
          <p:sp>
            <p:nvSpPr>
              <p:cNvPr name="AutoShape 11" id="11"/>
              <p:cNvSpPr/>
              <p:nvPr/>
            </p:nvSpPr>
            <p:spPr>
              <a:xfrm flipH="false" flipV="false" rot="0">
                <a:off x="1314153" y="5424487"/>
                <a:ext cx="519545" cy="519545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2" id="12"/>
              <p:cNvSpPr/>
              <p:nvPr/>
            </p:nvSpPr>
            <p:spPr>
              <a:xfrm flipH="false" flipV="false" rot="0">
                <a:off x="1436863" y="5558258"/>
                <a:ext cx="241297" cy="252000"/>
              </a:xfrm>
              <a:custGeom>
                <a:rect l="l" t="t" r="r" b="b"/>
                <a:pathLst>
                  <a:path w="12589" h="13168">
                    <a:moveTo>
                      <a:pt x="4945" y="12700"/>
                    </a:moveTo>
                    <a:cubicBezTo>
                      <a:pt x="5257" y="13012"/>
                      <a:pt x="5666" y="13168"/>
                      <a:pt x="6077" y="13168"/>
                    </a:cubicBezTo>
                    <a:cubicBezTo>
                      <a:pt x="6488" y="13168"/>
                      <a:pt x="6896" y="13012"/>
                      <a:pt x="7209" y="12700"/>
                    </a:cubicBezTo>
                    <a:lnTo>
                      <a:pt x="12116" y="7793"/>
                    </a:lnTo>
                    <a:lnTo>
                      <a:pt x="12116" y="7793"/>
                    </a:lnTo>
                    <a:cubicBezTo>
                      <a:pt x="12377" y="7532"/>
                      <a:pt x="12558" y="7159"/>
                      <a:pt x="12582" y="6788"/>
                    </a:cubicBezTo>
                    <a:cubicBezTo>
                      <a:pt x="12589" y="6683"/>
                      <a:pt x="12589" y="6568"/>
                      <a:pt x="12573" y="6464"/>
                    </a:cubicBezTo>
                    <a:cubicBezTo>
                      <a:pt x="12544" y="6264"/>
                      <a:pt x="12486" y="6069"/>
                      <a:pt x="12388" y="5892"/>
                    </a:cubicBezTo>
                    <a:cubicBezTo>
                      <a:pt x="12314" y="5760"/>
                      <a:pt x="12222" y="5637"/>
                      <a:pt x="12116" y="5531"/>
                    </a:cubicBezTo>
                    <a:lnTo>
                      <a:pt x="12116" y="5531"/>
                    </a:lnTo>
                    <a:lnTo>
                      <a:pt x="7209" y="624"/>
                    </a:lnTo>
                    <a:cubicBezTo>
                      <a:pt x="6584" y="0"/>
                      <a:pt x="5570" y="0"/>
                      <a:pt x="4945" y="624"/>
                    </a:cubicBezTo>
                    <a:cubicBezTo>
                      <a:pt x="4320" y="1249"/>
                      <a:pt x="4320" y="2261"/>
                      <a:pt x="4945" y="2887"/>
                    </a:cubicBezTo>
                    <a:lnTo>
                      <a:pt x="7120" y="5061"/>
                    </a:lnTo>
                    <a:lnTo>
                      <a:pt x="1600" y="5061"/>
                    </a:lnTo>
                    <a:cubicBezTo>
                      <a:pt x="716" y="5061"/>
                      <a:pt x="0" y="5777"/>
                      <a:pt x="0" y="6661"/>
                    </a:cubicBezTo>
                    <a:cubicBezTo>
                      <a:pt x="0" y="7545"/>
                      <a:pt x="716" y="8261"/>
                      <a:pt x="1600" y="8261"/>
                    </a:cubicBezTo>
                    <a:lnTo>
                      <a:pt x="7120" y="8261"/>
                    </a:lnTo>
                    <a:lnTo>
                      <a:pt x="4945" y="10437"/>
                    </a:lnTo>
                    <a:cubicBezTo>
                      <a:pt x="4320" y="11063"/>
                      <a:pt x="4320" y="12076"/>
                      <a:pt x="4945" y="1270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25B190">
                <a:alpha val="54901"/>
                <a:lumMod val="60000"/>
                <a:lumOff val="40000"/>
              </a:srgbClr>
            </a:gs>
            <a:gs pos="100000">
              <a:srgbClr val="FBB430">
                <a:alpha val="10196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444399" y="380700"/>
            <a:ext cx="11074500" cy="648000"/>
            <a:chOff x="444399" y="380700"/>
            <a:chExt cx="11074500" cy="648000"/>
          </a:xfrm>
        </p:grpSpPr>
        <p:sp>
          <p:nvSpPr>
            <p:cNvPr name="AutoShape 3" id="3"/>
            <p:cNvSpPr/>
            <p:nvPr/>
          </p:nvSpPr>
          <p:spPr>
            <a:xfrm flipH="false" flipV="false" rot="0">
              <a:off x="660399" y="380700"/>
              <a:ext cx="10858500" cy="648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60000"/>
              </a:srgbClr>
            </a:solidFill>
            <a:ln w="190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name="Group 4" id="4"/>
            <p:cNvGrpSpPr/>
            <p:nvPr/>
          </p:nvGrpSpPr>
          <p:grpSpPr>
            <a:xfrm flipH="false" flipV="false" rot="0">
              <a:off x="444399" y="488700"/>
              <a:ext cx="432000" cy="432000"/>
              <a:chOff x="432913" y="518494"/>
              <a:chExt cx="432000" cy="432000"/>
            </a:xfrm>
          </p:grpSpPr>
          <p:sp>
            <p:nvSpPr>
              <p:cNvPr name="AutoShape 5" id="5"/>
              <p:cNvSpPr/>
              <p:nvPr/>
            </p:nvSpPr>
            <p:spPr>
              <a:xfrm flipH="false" flipV="false" rot="0">
                <a:off x="432913" y="518494"/>
                <a:ext cx="432000" cy="432000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6" id="6"/>
              <p:cNvSpPr/>
              <p:nvPr/>
            </p:nvSpPr>
            <p:spPr>
              <a:xfrm flipH="false" flipV="false" rot="0">
                <a:off x="534946" y="629724"/>
                <a:ext cx="200638" cy="209537"/>
              </a:xfrm>
              <a:custGeom>
                <a:rect l="l" t="t" r="r" b="b"/>
                <a:pathLst>
                  <a:path w="12589" h="13168">
                    <a:moveTo>
                      <a:pt x="4945" y="12700"/>
                    </a:moveTo>
                    <a:cubicBezTo>
                      <a:pt x="5257" y="13012"/>
                      <a:pt x="5666" y="13168"/>
                      <a:pt x="6077" y="13168"/>
                    </a:cubicBezTo>
                    <a:cubicBezTo>
                      <a:pt x="6488" y="13168"/>
                      <a:pt x="6896" y="13012"/>
                      <a:pt x="7209" y="12700"/>
                    </a:cubicBezTo>
                    <a:lnTo>
                      <a:pt x="12116" y="7793"/>
                    </a:lnTo>
                    <a:lnTo>
                      <a:pt x="12116" y="7793"/>
                    </a:lnTo>
                    <a:cubicBezTo>
                      <a:pt x="12377" y="7532"/>
                      <a:pt x="12558" y="7159"/>
                      <a:pt x="12582" y="6788"/>
                    </a:cubicBezTo>
                    <a:cubicBezTo>
                      <a:pt x="12589" y="6683"/>
                      <a:pt x="12589" y="6568"/>
                      <a:pt x="12573" y="6464"/>
                    </a:cubicBezTo>
                    <a:cubicBezTo>
                      <a:pt x="12544" y="6264"/>
                      <a:pt x="12486" y="6069"/>
                      <a:pt x="12388" y="5892"/>
                    </a:cubicBezTo>
                    <a:cubicBezTo>
                      <a:pt x="12314" y="5760"/>
                      <a:pt x="12222" y="5637"/>
                      <a:pt x="12116" y="5531"/>
                    </a:cubicBezTo>
                    <a:lnTo>
                      <a:pt x="12116" y="5531"/>
                    </a:lnTo>
                    <a:lnTo>
                      <a:pt x="7209" y="624"/>
                    </a:lnTo>
                    <a:cubicBezTo>
                      <a:pt x="6584" y="0"/>
                      <a:pt x="5570" y="0"/>
                      <a:pt x="4945" y="624"/>
                    </a:cubicBezTo>
                    <a:cubicBezTo>
                      <a:pt x="4320" y="1249"/>
                      <a:pt x="4320" y="2261"/>
                      <a:pt x="4945" y="2887"/>
                    </a:cubicBezTo>
                    <a:lnTo>
                      <a:pt x="7120" y="5061"/>
                    </a:lnTo>
                    <a:lnTo>
                      <a:pt x="1600" y="5061"/>
                    </a:lnTo>
                    <a:cubicBezTo>
                      <a:pt x="716" y="5061"/>
                      <a:pt x="0" y="5777"/>
                      <a:pt x="0" y="6661"/>
                    </a:cubicBezTo>
                    <a:cubicBezTo>
                      <a:pt x="0" y="7545"/>
                      <a:pt x="716" y="8261"/>
                      <a:pt x="1600" y="8261"/>
                    </a:cubicBezTo>
                    <a:lnTo>
                      <a:pt x="7120" y="8261"/>
                    </a:lnTo>
                    <a:lnTo>
                      <a:pt x="4945" y="10437"/>
                    </a:lnTo>
                    <a:cubicBezTo>
                      <a:pt x="4320" y="11063"/>
                      <a:pt x="4320" y="12076"/>
                      <a:pt x="4945" y="1270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25B190">
                <a:alpha val="54901"/>
                <a:lumMod val="60000"/>
                <a:lumOff val="40000"/>
              </a:srgbClr>
            </a:gs>
            <a:gs pos="100000">
              <a:srgbClr val="FBB430">
                <a:alpha val="10196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25B190">
                <a:alpha val="54901"/>
                <a:lumMod val="60000"/>
                <a:lumOff val="40000"/>
              </a:srgbClr>
            </a:gs>
            <a:gs pos="100000">
              <a:srgbClr val="FBB430">
                <a:alpha val="10196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660400" y="488653"/>
            <a:ext cx="10858500" cy="5747047"/>
            <a:chOff x="660400" y="488653"/>
            <a:chExt cx="10858500" cy="5747047"/>
          </a:xfrm>
        </p:grpSpPr>
        <p:sp>
          <p:nvSpPr>
            <p:cNvPr name="AutoShape 3" id="3"/>
            <p:cNvSpPr/>
            <p:nvPr/>
          </p:nvSpPr>
          <p:spPr>
            <a:xfrm flipH="false" flipV="false" rot="0">
              <a:off x="3598900" y="1339700"/>
              <a:ext cx="7920000" cy="4896000"/>
            </a:xfrm>
            <a:prstGeom prst="roundRect">
              <a:avLst>
                <a:gd name="adj" fmla="val 5043"/>
              </a:avLst>
            </a:prstGeom>
            <a:solidFill>
              <a:srgbClr val="FFFFFF">
                <a:alpha val="60000"/>
              </a:srgbClr>
            </a:solidFill>
            <a:ln w="190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name="Group 4" id="4"/>
            <p:cNvGrpSpPr/>
            <p:nvPr/>
          </p:nvGrpSpPr>
          <p:grpSpPr>
            <a:xfrm flipH="false" flipV="false" rot="0">
              <a:off x="660400" y="488653"/>
              <a:ext cx="10858500" cy="432000"/>
              <a:chOff x="660400" y="488653"/>
              <a:chExt cx="10858500" cy="432000"/>
            </a:xfrm>
          </p:grpSpPr>
          <p:sp>
            <p:nvSpPr>
              <p:cNvPr name="AutoShape 5" id="5"/>
              <p:cNvSpPr/>
              <p:nvPr/>
            </p:nvSpPr>
            <p:spPr>
              <a:xfrm flipH="false" flipV="false" rot="0">
                <a:off x="660400" y="488653"/>
                <a:ext cx="10858500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108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 flipH="false" flipV="false" rot="0">
                <a:off x="10855939" y="650653"/>
                <a:ext cx="446393" cy="108000"/>
                <a:chOff x="11072507" y="650700"/>
                <a:chExt cx="446393" cy="108000"/>
              </a:xfrm>
            </p:grpSpPr>
            <p:sp>
              <p:nvSpPr>
                <p:cNvPr name="AutoShape 7" id="7"/>
                <p:cNvSpPr/>
                <p:nvPr/>
              </p:nvSpPr>
              <p:spPr>
                <a:xfrm flipH="false" flipV="false" rot="0">
                  <a:off x="11072507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8" id="8"/>
                <p:cNvSpPr/>
                <p:nvPr/>
              </p:nvSpPr>
              <p:spPr>
                <a:xfrm flipH="false" flipV="false" rot="0">
                  <a:off x="11241703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5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9" id="9"/>
                <p:cNvSpPr/>
                <p:nvPr/>
              </p:nvSpPr>
              <p:spPr>
                <a:xfrm flipH="false" flipV="false" rot="0">
                  <a:off x="11410900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5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  <p:grpSp>
          <p:nvGrpSpPr>
            <p:cNvPr name="Group 10" id="10"/>
            <p:cNvGrpSpPr/>
            <p:nvPr/>
          </p:nvGrpSpPr>
          <p:grpSpPr>
            <a:xfrm flipH="false" flipV="false" rot="0">
              <a:off x="3360398" y="5425700"/>
              <a:ext cx="432000" cy="432000"/>
              <a:chOff x="1314153" y="5424487"/>
              <a:chExt cx="519545" cy="519545"/>
            </a:xfrm>
            <a:gradFill>
              <a:gsLst>
                <a:gs pos="2999">
                  <a:srgbClr val="000000">
                    <a:alpha val="100000"/>
                  </a:srgbClr>
                </a:gs>
                <a:gs pos="100000">
                  <a:srgbClr val="25B190">
                    <a:alpha val="100000"/>
                    <a:lumMod val="20000"/>
                    <a:lumOff val="80000"/>
                  </a:srgbClr>
                </a:gs>
              </a:gsLst>
              <a:lin ang="2700000"/>
            </a:gradFill>
          </p:grpSpPr>
          <p:sp>
            <p:nvSpPr>
              <p:cNvPr name="AutoShape 11" id="11"/>
              <p:cNvSpPr/>
              <p:nvPr/>
            </p:nvSpPr>
            <p:spPr>
              <a:xfrm flipH="false" flipV="false" rot="0">
                <a:off x="1314153" y="5424487"/>
                <a:ext cx="519545" cy="519545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2" id="12"/>
              <p:cNvSpPr/>
              <p:nvPr/>
            </p:nvSpPr>
            <p:spPr>
              <a:xfrm flipH="false" flipV="false" rot="0">
                <a:off x="1436863" y="5558258"/>
                <a:ext cx="241297" cy="252000"/>
              </a:xfrm>
              <a:custGeom>
                <a:rect l="l" t="t" r="r" b="b"/>
                <a:pathLst>
                  <a:path w="12589" h="13168">
                    <a:moveTo>
                      <a:pt x="4945" y="12700"/>
                    </a:moveTo>
                    <a:cubicBezTo>
                      <a:pt x="5257" y="13012"/>
                      <a:pt x="5666" y="13168"/>
                      <a:pt x="6077" y="13168"/>
                    </a:cubicBezTo>
                    <a:cubicBezTo>
                      <a:pt x="6488" y="13168"/>
                      <a:pt x="6896" y="13012"/>
                      <a:pt x="7209" y="12700"/>
                    </a:cubicBezTo>
                    <a:lnTo>
                      <a:pt x="12116" y="7793"/>
                    </a:lnTo>
                    <a:lnTo>
                      <a:pt x="12116" y="7793"/>
                    </a:lnTo>
                    <a:cubicBezTo>
                      <a:pt x="12377" y="7532"/>
                      <a:pt x="12558" y="7159"/>
                      <a:pt x="12582" y="6788"/>
                    </a:cubicBezTo>
                    <a:cubicBezTo>
                      <a:pt x="12589" y="6683"/>
                      <a:pt x="12589" y="6568"/>
                      <a:pt x="12573" y="6464"/>
                    </a:cubicBezTo>
                    <a:cubicBezTo>
                      <a:pt x="12544" y="6264"/>
                      <a:pt x="12486" y="6069"/>
                      <a:pt x="12388" y="5892"/>
                    </a:cubicBezTo>
                    <a:cubicBezTo>
                      <a:pt x="12314" y="5760"/>
                      <a:pt x="12222" y="5637"/>
                      <a:pt x="12116" y="5531"/>
                    </a:cubicBezTo>
                    <a:lnTo>
                      <a:pt x="12116" y="5531"/>
                    </a:lnTo>
                    <a:lnTo>
                      <a:pt x="7209" y="624"/>
                    </a:lnTo>
                    <a:cubicBezTo>
                      <a:pt x="6584" y="0"/>
                      <a:pt x="5570" y="0"/>
                      <a:pt x="4945" y="624"/>
                    </a:cubicBezTo>
                    <a:cubicBezTo>
                      <a:pt x="4320" y="1249"/>
                      <a:pt x="4320" y="2261"/>
                      <a:pt x="4945" y="2887"/>
                    </a:cubicBezTo>
                    <a:lnTo>
                      <a:pt x="7120" y="5061"/>
                    </a:lnTo>
                    <a:lnTo>
                      <a:pt x="1600" y="5061"/>
                    </a:lnTo>
                    <a:cubicBezTo>
                      <a:pt x="716" y="5061"/>
                      <a:pt x="0" y="5777"/>
                      <a:pt x="0" y="6661"/>
                    </a:cubicBezTo>
                    <a:cubicBezTo>
                      <a:pt x="0" y="7545"/>
                      <a:pt x="716" y="8261"/>
                      <a:pt x="1600" y="8261"/>
                    </a:cubicBezTo>
                    <a:lnTo>
                      <a:pt x="7120" y="8261"/>
                    </a:lnTo>
                    <a:lnTo>
                      <a:pt x="4945" y="10437"/>
                    </a:lnTo>
                    <a:cubicBezTo>
                      <a:pt x="4320" y="11063"/>
                      <a:pt x="4320" y="12076"/>
                      <a:pt x="4945" y="1270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gradFill>
          <a:gsLst>
            <a:gs pos="0">
              <a:srgbClr val="25B190">
                <a:alpha val="54901"/>
                <a:lumMod val="60000"/>
                <a:lumOff val="40000"/>
              </a:srgbClr>
            </a:gs>
            <a:gs pos="100000">
              <a:srgbClr val="FBB430">
                <a:alpha val="10196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660400" y="488653"/>
            <a:ext cx="10858500" cy="5747047"/>
            <a:chOff x="660400" y="488653"/>
            <a:chExt cx="10858500" cy="5747047"/>
          </a:xfrm>
        </p:grpSpPr>
        <p:grpSp>
          <p:nvGrpSpPr>
            <p:cNvPr name="Group 3" id="3"/>
            <p:cNvGrpSpPr/>
            <p:nvPr/>
          </p:nvGrpSpPr>
          <p:grpSpPr>
            <a:xfrm flipH="false" flipV="false" rot="0">
              <a:off x="660400" y="488653"/>
              <a:ext cx="10858500" cy="432000"/>
              <a:chOff x="660400" y="488653"/>
              <a:chExt cx="10858500" cy="432000"/>
            </a:xfrm>
          </p:grpSpPr>
          <p:sp>
            <p:nvSpPr>
              <p:cNvPr name="AutoShape 4" id="4"/>
              <p:cNvSpPr/>
              <p:nvPr/>
            </p:nvSpPr>
            <p:spPr>
              <a:xfrm flipH="false" flipV="false" rot="0">
                <a:off x="660400" y="488653"/>
                <a:ext cx="10858500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108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name="Group 5" id="5"/>
              <p:cNvGrpSpPr/>
              <p:nvPr/>
            </p:nvGrpSpPr>
            <p:grpSpPr>
              <a:xfrm flipH="false" flipV="false" rot="0">
                <a:off x="10855939" y="650653"/>
                <a:ext cx="446393" cy="108000"/>
                <a:chOff x="11072507" y="650700"/>
                <a:chExt cx="446393" cy="108000"/>
              </a:xfrm>
            </p:grpSpPr>
            <p:sp>
              <p:nvSpPr>
                <p:cNvPr name="AutoShape 6" id="6"/>
                <p:cNvSpPr/>
                <p:nvPr/>
              </p:nvSpPr>
              <p:spPr>
                <a:xfrm flipH="false" flipV="false" rot="0">
                  <a:off x="11072507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7" id="7"/>
                <p:cNvSpPr/>
                <p:nvPr/>
              </p:nvSpPr>
              <p:spPr>
                <a:xfrm flipH="false" flipV="false" rot="0">
                  <a:off x="11241703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5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8" id="8"/>
                <p:cNvSpPr/>
                <p:nvPr/>
              </p:nvSpPr>
              <p:spPr>
                <a:xfrm flipH="false" flipV="false" rot="0">
                  <a:off x="11410900" y="650700"/>
                  <a:ext cx="108000" cy="108000"/>
                </a:xfrm>
                <a:prstGeom prst="ellipse">
                  <a:avLst/>
                </a:prstGeom>
                <a:solidFill>
                  <a:srgbClr val="FFFFFF">
                    <a:alpha val="5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  <p:grpSp>
          <p:nvGrpSpPr>
            <p:cNvPr name="Group 9" id="9"/>
            <p:cNvGrpSpPr/>
            <p:nvPr/>
          </p:nvGrpSpPr>
          <p:grpSpPr>
            <a:xfrm flipH="false" flipV="false" rot="0">
              <a:off x="660400" y="3715700"/>
              <a:ext cx="10858500" cy="2520000"/>
              <a:chOff x="660400" y="3715700"/>
              <a:chExt cx="10858500" cy="2520000"/>
            </a:xfrm>
          </p:grpSpPr>
          <p:sp>
            <p:nvSpPr>
              <p:cNvPr name="AutoShape 10" id="10"/>
              <p:cNvSpPr/>
              <p:nvPr/>
            </p:nvSpPr>
            <p:spPr>
              <a:xfrm flipH="false" flipV="false" rot="0">
                <a:off x="660400" y="3715700"/>
                <a:ext cx="10858500" cy="2520000"/>
              </a:xfrm>
              <a:prstGeom prst="roundRect">
                <a:avLst>
                  <a:gd name="adj" fmla="val 14757"/>
                </a:avLst>
              </a:pr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name="AutoShape 11" id="11"/>
              <p:cNvSpPr/>
              <p:nvPr/>
            </p:nvSpPr>
            <p:spPr>
              <a:xfrm flipH="false" flipV="false" rot="0">
                <a:off x="4306243" y="3931700"/>
                <a:ext cx="3240000" cy="2088000"/>
              </a:xfrm>
              <a:prstGeom prst="roundRect">
                <a:avLst>
                  <a:gd name="adj" fmla="val 11481"/>
                </a:avLst>
              </a:prstGeom>
              <a:blipFill rotWithShape="true">
                <a:blip r:embed="rId2">
                  <a:alphaModFix amt="100000"/>
                  <a:alphaModFix amt="100000"/>
                </a:blip>
                <a:stretch>
                  <a:fillRect l="-14147" r="-11853" t="-9978" b="-1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2" id="12"/>
              <p:cNvSpPr/>
              <p:nvPr/>
            </p:nvSpPr>
            <p:spPr>
              <a:xfrm flipH="false" flipV="false" rot="0">
                <a:off x="889668" y="3931700"/>
                <a:ext cx="3240000" cy="2088000"/>
              </a:xfrm>
              <a:prstGeom prst="roundRect">
                <a:avLst>
                  <a:gd name="adj" fmla="val 11481"/>
                </a:avLst>
              </a:prstGeom>
              <a:blipFill rotWithShape="true">
                <a:blip r:embed="rId3">
                  <a:alphaModFix amt="100000"/>
                  <a:alphaModFix amt="100000"/>
                </a:blip>
                <a:stretch>
                  <a:fillRect l="0" r="-16465" t="-68162" b="-102356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3" id="13"/>
              <p:cNvSpPr/>
              <p:nvPr/>
            </p:nvSpPr>
            <p:spPr>
              <a:xfrm flipH="false" flipV="false" rot="0">
                <a:off x="7961651" y="5191698"/>
                <a:ext cx="288000" cy="281963"/>
              </a:xfrm>
              <a:custGeom>
                <a:rect l="l" t="t" r="r" b="b"/>
                <a:pathLst>
                  <a:path w="4722" h="4630">
                    <a:moveTo>
                      <a:pt x="4602" y="4107"/>
                    </a:moveTo>
                    <a:lnTo>
                      <a:pt x="3785" y="3289"/>
                    </a:lnTo>
                    <a:cubicBezTo>
                      <a:pt x="4027" y="2949"/>
                      <a:pt x="4171" y="2534"/>
                      <a:pt x="4171" y="2085"/>
                    </a:cubicBezTo>
                    <a:cubicBezTo>
                      <a:pt x="4171" y="935"/>
                      <a:pt x="3235" y="0"/>
                      <a:pt x="2085" y="0"/>
                    </a:cubicBezTo>
                    <a:cubicBezTo>
                      <a:pt x="935" y="0"/>
                      <a:pt x="0" y="935"/>
                      <a:pt x="0" y="2085"/>
                    </a:cubicBezTo>
                    <a:cubicBezTo>
                      <a:pt x="0" y="3235"/>
                      <a:pt x="935" y="4171"/>
                      <a:pt x="2085" y="4171"/>
                    </a:cubicBezTo>
                    <a:cubicBezTo>
                      <a:pt x="2566" y="4171"/>
                      <a:pt x="3007" y="4006"/>
                      <a:pt x="3360" y="3732"/>
                    </a:cubicBezTo>
                    <a:lnTo>
                      <a:pt x="4169" y="4540"/>
                    </a:lnTo>
                    <a:cubicBezTo>
                      <a:pt x="4229" y="4600"/>
                      <a:pt x="4307" y="4630"/>
                      <a:pt x="4385" y="4630"/>
                    </a:cubicBezTo>
                    <a:cubicBezTo>
                      <a:pt x="4464" y="4630"/>
                      <a:pt x="4542" y="4600"/>
                      <a:pt x="4602" y="4540"/>
                    </a:cubicBezTo>
                    <a:cubicBezTo>
                      <a:pt x="4722" y="4421"/>
                      <a:pt x="4722" y="4227"/>
                      <a:pt x="4602" y="4107"/>
                    </a:cubicBezTo>
                    <a:close/>
                    <a:moveTo>
                      <a:pt x="2990" y="1778"/>
                    </a:moveTo>
                    <a:cubicBezTo>
                      <a:pt x="2955" y="1795"/>
                      <a:pt x="2919" y="1803"/>
                      <a:pt x="2883" y="1803"/>
                    </a:cubicBezTo>
                    <a:cubicBezTo>
                      <a:pt x="2792" y="1803"/>
                      <a:pt x="2704" y="1752"/>
                      <a:pt x="2662" y="1665"/>
                    </a:cubicBezTo>
                    <a:cubicBezTo>
                      <a:pt x="2531" y="1396"/>
                      <a:pt x="2263" y="1228"/>
                      <a:pt x="1963" y="1228"/>
                    </a:cubicBezTo>
                    <a:cubicBezTo>
                      <a:pt x="1828" y="1228"/>
                      <a:pt x="1718" y="1118"/>
                      <a:pt x="1718" y="983"/>
                    </a:cubicBezTo>
                    <a:cubicBezTo>
                      <a:pt x="1718" y="847"/>
                      <a:pt x="1828" y="738"/>
                      <a:pt x="1963" y="738"/>
                    </a:cubicBezTo>
                    <a:cubicBezTo>
                      <a:pt x="2452" y="738"/>
                      <a:pt x="2889" y="1011"/>
                      <a:pt x="3103" y="1450"/>
                    </a:cubicBezTo>
                    <a:cubicBezTo>
                      <a:pt x="3163" y="1572"/>
                      <a:pt x="3112" y="1719"/>
                      <a:pt x="2990" y="177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4" id="14"/>
              <p:cNvSpPr/>
              <p:nvPr/>
            </p:nvSpPr>
            <p:spPr>
              <a:xfrm flipH="false" flipV="false" rot="0">
                <a:off x="7943651" y="4031681"/>
                <a:ext cx="324000" cy="282833"/>
              </a:xfrm>
              <a:custGeom>
                <a:rect l="l" t="t" r="r" b="b"/>
                <a:pathLst>
                  <a:path w="608697" h="531358">
                    <a:moveTo>
                      <a:pt x="424975" y="168488"/>
                    </a:moveTo>
                    <a:cubicBezTo>
                      <a:pt x="404312" y="168488"/>
                      <a:pt x="387604" y="185248"/>
                      <a:pt x="387604" y="205806"/>
                    </a:cubicBezTo>
                    <a:cubicBezTo>
                      <a:pt x="387604" y="226439"/>
                      <a:pt x="404312" y="243124"/>
                      <a:pt x="424975" y="243124"/>
                    </a:cubicBezTo>
                    <a:cubicBezTo>
                      <a:pt x="445562" y="243124"/>
                      <a:pt x="462346" y="226439"/>
                      <a:pt x="462346" y="205806"/>
                    </a:cubicBezTo>
                    <a:cubicBezTo>
                      <a:pt x="462346" y="185248"/>
                      <a:pt x="445637" y="168488"/>
                      <a:pt x="424975" y="168488"/>
                    </a:cubicBezTo>
                    <a:close/>
                    <a:moveTo>
                      <a:pt x="287947" y="168488"/>
                    </a:moveTo>
                    <a:cubicBezTo>
                      <a:pt x="267285" y="168488"/>
                      <a:pt x="250576" y="185248"/>
                      <a:pt x="250576" y="205806"/>
                    </a:cubicBezTo>
                    <a:cubicBezTo>
                      <a:pt x="250576" y="226439"/>
                      <a:pt x="267285" y="243124"/>
                      <a:pt x="287947" y="243124"/>
                    </a:cubicBezTo>
                    <a:cubicBezTo>
                      <a:pt x="308610" y="243124"/>
                      <a:pt x="325318" y="226439"/>
                      <a:pt x="325318" y="205806"/>
                    </a:cubicBezTo>
                    <a:cubicBezTo>
                      <a:pt x="325318" y="185248"/>
                      <a:pt x="308610" y="168488"/>
                      <a:pt x="287947" y="168488"/>
                    </a:cubicBezTo>
                    <a:close/>
                    <a:moveTo>
                      <a:pt x="102356" y="121231"/>
                    </a:moveTo>
                    <a:cubicBezTo>
                      <a:pt x="101162" y="123317"/>
                      <a:pt x="99969" y="125477"/>
                      <a:pt x="98850" y="127711"/>
                    </a:cubicBezTo>
                    <a:cubicBezTo>
                      <a:pt x="84227" y="156240"/>
                      <a:pt x="76842" y="186631"/>
                      <a:pt x="76842" y="217990"/>
                    </a:cubicBezTo>
                    <a:cubicBezTo>
                      <a:pt x="76842" y="249275"/>
                      <a:pt x="84227" y="279666"/>
                      <a:pt x="98850" y="308194"/>
                    </a:cubicBezTo>
                    <a:cubicBezTo>
                      <a:pt x="112726" y="335308"/>
                      <a:pt x="132496" y="359516"/>
                      <a:pt x="157488" y="380223"/>
                    </a:cubicBezTo>
                    <a:cubicBezTo>
                      <a:pt x="207845" y="421787"/>
                      <a:pt x="274317" y="444729"/>
                      <a:pt x="344668" y="444729"/>
                    </a:cubicBezTo>
                    <a:cubicBezTo>
                      <a:pt x="353173" y="444729"/>
                      <a:pt x="361752" y="444357"/>
                      <a:pt x="370257" y="443687"/>
                    </a:cubicBezTo>
                    <a:cubicBezTo>
                      <a:pt x="332209" y="465288"/>
                      <a:pt x="286254" y="477876"/>
                      <a:pt x="236717" y="477876"/>
                    </a:cubicBezTo>
                    <a:cubicBezTo>
                      <a:pt x="223736" y="477876"/>
                      <a:pt x="210755" y="477057"/>
                      <a:pt x="198072" y="475344"/>
                    </a:cubicBezTo>
                    <a:cubicBezTo>
                      <a:pt x="160397" y="499478"/>
                      <a:pt x="110637" y="528155"/>
                      <a:pt x="82437" y="531284"/>
                    </a:cubicBezTo>
                    <a:cubicBezTo>
                      <a:pt x="82138" y="531358"/>
                      <a:pt x="81840" y="531358"/>
                      <a:pt x="81542" y="531358"/>
                    </a:cubicBezTo>
                    <a:cubicBezTo>
                      <a:pt x="78930" y="531358"/>
                      <a:pt x="76469" y="530017"/>
                      <a:pt x="75051" y="527857"/>
                    </a:cubicBezTo>
                    <a:cubicBezTo>
                      <a:pt x="73410" y="525399"/>
                      <a:pt x="73335" y="522271"/>
                      <a:pt x="74753" y="519738"/>
                    </a:cubicBezTo>
                    <a:cubicBezTo>
                      <a:pt x="75051" y="519291"/>
                      <a:pt x="99223" y="476014"/>
                      <a:pt x="88778" y="435046"/>
                    </a:cubicBezTo>
                    <a:cubicBezTo>
                      <a:pt x="32303" y="397653"/>
                      <a:pt x="0" y="342160"/>
                      <a:pt x="0" y="282198"/>
                    </a:cubicBezTo>
                    <a:cubicBezTo>
                      <a:pt x="0" y="215532"/>
                      <a:pt x="40584" y="156538"/>
                      <a:pt x="102356" y="121231"/>
                    </a:cubicBezTo>
                    <a:close/>
                    <a:moveTo>
                      <a:pt x="356424" y="0"/>
                    </a:moveTo>
                    <a:cubicBezTo>
                      <a:pt x="495540" y="0"/>
                      <a:pt x="608697" y="94747"/>
                      <a:pt x="608697" y="211244"/>
                    </a:cubicBezTo>
                    <a:cubicBezTo>
                      <a:pt x="608697" y="274408"/>
                      <a:pt x="575802" y="333178"/>
                      <a:pt x="518290" y="373401"/>
                    </a:cubicBezTo>
                    <a:cubicBezTo>
                      <a:pt x="512845" y="406324"/>
                      <a:pt x="531717" y="440811"/>
                      <a:pt x="531941" y="441109"/>
                    </a:cubicBezTo>
                    <a:cubicBezTo>
                      <a:pt x="536267" y="448781"/>
                      <a:pt x="535969" y="458092"/>
                      <a:pt x="531120" y="465391"/>
                    </a:cubicBezTo>
                    <a:cubicBezTo>
                      <a:pt x="526794" y="472021"/>
                      <a:pt x="519484" y="475894"/>
                      <a:pt x="511577" y="475894"/>
                    </a:cubicBezTo>
                    <a:cubicBezTo>
                      <a:pt x="510756" y="475894"/>
                      <a:pt x="509936" y="475894"/>
                      <a:pt x="509041" y="475745"/>
                    </a:cubicBezTo>
                    <a:cubicBezTo>
                      <a:pt x="484574" y="473064"/>
                      <a:pt x="444966" y="454442"/>
                      <a:pt x="391408" y="420476"/>
                    </a:cubicBezTo>
                    <a:cubicBezTo>
                      <a:pt x="379920" y="421817"/>
                      <a:pt x="368135" y="422487"/>
                      <a:pt x="356424" y="422487"/>
                    </a:cubicBezTo>
                    <a:cubicBezTo>
                      <a:pt x="217382" y="422487"/>
                      <a:pt x="104225" y="327741"/>
                      <a:pt x="104225" y="211244"/>
                    </a:cubicBezTo>
                    <a:cubicBezTo>
                      <a:pt x="104225" y="94747"/>
                      <a:pt x="217382" y="0"/>
                      <a:pt x="35642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Watermark" Target="../media/watermark_aigc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3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3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10.xml" Type="http://schemas.openxmlformats.org/officeDocument/2006/relationships/slideLayout"/><Relationship Id="rId2" Target="../notesSlides/notesSlide37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660399" y="1130300"/>
            <a:ext cx="10858500" cy="23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 w="19050"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主流企业协作SaaS平台对比分析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660401" y="3931700"/>
            <a:ext cx="3502525" cy="1647485"/>
          </a:xfrm>
          <a:prstGeom prst="roundRect">
            <a:avLst>
              <a:gd fmla="val 0" name="adj"/>
            </a:avLst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飞书、钉钉、企业微信全方位解读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8998900" y="4015907"/>
            <a:ext cx="2520000" cy="828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000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报告人名称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8998900" y="5191698"/>
            <a:ext cx="2520000" cy="828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non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20xx.xx.xx</a:t>
            </a:r>
            <a:endParaRPr lang="en-US" sz="1100"/>
          </a:p>
        </p:txBody>
      </p:sp>
      <p:pic xmlns:r="http://schemas.openxmlformats.org/officeDocument/2006/relationships">
        <p:nvPicPr>
          <p:cNvPr id="99999" name="WatermarkAigc"/>
          <p:cNvPicPr>
            <a:picLocks noChangeAspect="1"/>
          </p:cNvPicPr>
          <p:nvPr/>
        </p:nvPicPr>
        <p:blipFill>
          <a:blip r:embed="rIdWatermark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e0cced3-cd42-486d-a274-f9a67421a56b"/>
          <p:cNvGrpSpPr/>
          <p:nvPr/>
        </p:nvGrpSpPr>
        <p:grpSpPr>
          <a:xfrm flipH="false" flipV="false" rot="0">
            <a:off x="660400" y="1644650"/>
            <a:ext cx="11531600" cy="5213350"/>
            <a:chOff x="660400" y="1644650"/>
            <a:chExt cx="11531600" cy="521335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10769600" y="5534574"/>
              <a:ext cx="1422400" cy="1323426"/>
            </a:xfrm>
            <a:custGeom>
              <a:rect b="b" l="l" r="r" t="t"/>
              <a:pathLst>
                <a:path h="1981200" w="2129367">
                  <a:moveTo>
                    <a:pt x="1456267" y="0"/>
                  </a:moveTo>
                  <a:cubicBezTo>
                    <a:pt x="1657335" y="0"/>
                    <a:pt x="1848886" y="40750"/>
                    <a:pt x="2023112" y="114441"/>
                  </a:cubicBezTo>
                  <a:lnTo>
                    <a:pt x="2129367" y="165627"/>
                  </a:lnTo>
                  <a:lnTo>
                    <a:pt x="2129367" y="1981200"/>
                  </a:lnTo>
                  <a:lnTo>
                    <a:pt x="99101" y="1981200"/>
                  </a:lnTo>
                  <a:lnTo>
                    <a:pt x="65471" y="1889316"/>
                  </a:lnTo>
                  <a:cubicBezTo>
                    <a:pt x="22922" y="1752516"/>
                    <a:pt x="0" y="1607069"/>
                    <a:pt x="0" y="1456267"/>
                  </a:cubicBezTo>
                  <a:cubicBezTo>
                    <a:pt x="0" y="651993"/>
                    <a:pt x="651993" y="0"/>
                    <a:pt x="1456267" y="0"/>
                  </a:cubicBezTo>
                  <a:close/>
                </a:path>
              </a:pathLst>
            </a:custGeom>
            <a:gradFill>
              <a:gsLst>
                <a:gs pos="0">
                  <a:srgbClr val="25B190">
                    <a:alpha val="100000"/>
                    <a:lumMod val="60000"/>
                    <a:lumOff val="40000"/>
                  </a:srgbClr>
                </a:gs>
                <a:gs pos="60000">
                  <a:srgbClr val="25B190">
                    <a:alpha val="10000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660400" y="1644650"/>
              <a:ext cx="2564062" cy="394621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3462431" y="1644650"/>
              <a:ext cx="8056469" cy="4489450"/>
              <a:chOff x="3462431" y="1130300"/>
              <a:chExt cx="8056469" cy="5003800"/>
            </a:xfrm>
          </p:grpSpPr>
          <p:sp>
            <p:nvSpPr>
              <p:cNvPr id="6" name="AutoShape 6"/>
              <p:cNvSpPr/>
              <p:nvPr/>
            </p:nvSpPr>
            <p:spPr>
              <a:xfrm flipH="false" flipV="false" rot="0">
                <a:off x="3462431" y="1130300"/>
                <a:ext cx="8056469" cy="5003800"/>
              </a:xfrm>
              <a:prstGeom prst="roundRect">
                <a:avLst>
                  <a:gd fmla="val 5043" name="adj"/>
                </a:avLst>
              </a:pr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 flipH="false" flipV="false" rot="0">
                <a:off x="3678431" y="1326753"/>
                <a:ext cx="3566919" cy="1214632"/>
                <a:chOff x="3914528" y="1719897"/>
                <a:chExt cx="3714947" cy="655137"/>
              </a:xfrm>
            </p:grpSpPr>
            <p:sp>
              <p:nvSpPr>
                <p:cNvPr id="8" name="TextBox 8"/>
                <p:cNvSpPr txBox="true"/>
                <p:nvPr/>
              </p:nvSpPr>
              <p:spPr>
                <a:xfrm flipH="false" flipV="false" rot="0">
                  <a:off x="3914528" y="1719897"/>
                  <a:ext cx="648000" cy="655137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800">
                      <a:ln/>
                      <a:solidFill>
                        <a:srgbClr val="25B19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true"/>
                <p:nvPr/>
              </p:nvSpPr>
              <p:spPr>
                <a:xfrm flipH="false" flipV="false" rot="0">
                  <a:off x="4663461" y="1719897"/>
                  <a:ext cx="2966014" cy="65513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l">
                    <a:spcBef>
                      <a:spcPts val="0"/>
                    </a:spcBef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发展背景与战略定位</a:t>
                  </a:r>
                  <a:endParaRPr lang="en-US" sz="1100"/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 flipH="false" flipV="false" rot="0">
                <a:off x="7735413" y="1326753"/>
                <a:ext cx="3566919" cy="1214632"/>
                <a:chOff x="3914528" y="1719897"/>
                <a:chExt cx="3714947" cy="655137"/>
              </a:xfrm>
            </p:grpSpPr>
            <p:sp>
              <p:nvSpPr>
                <p:cNvPr id="11" name="TextBox 11"/>
                <p:cNvSpPr txBox="true"/>
                <p:nvPr/>
              </p:nvSpPr>
              <p:spPr>
                <a:xfrm flipH="false" flipV="false" rot="0">
                  <a:off x="3914528" y="1719897"/>
                  <a:ext cx="648000" cy="655137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800">
                      <a:ln/>
                      <a:solidFill>
                        <a:srgbClr val="25B19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true"/>
                <p:nvPr/>
              </p:nvSpPr>
              <p:spPr>
                <a:xfrm flipH="false" flipV="false" rot="0">
                  <a:off x="4663461" y="1719897"/>
                  <a:ext cx="2966014" cy="65513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l">
                    <a:spcBef>
                      <a:spcPts val="0"/>
                    </a:spcBef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核心功能对比</a:t>
                  </a:r>
                  <a:endParaRPr lang="en-US" sz="1100"/>
                </a:p>
              </p:txBody>
            </p:sp>
          </p:grpSp>
          <p:grpSp>
            <p:nvGrpSpPr>
              <p:cNvPr id="13" name="Group 13"/>
              <p:cNvGrpSpPr/>
              <p:nvPr/>
            </p:nvGrpSpPr>
            <p:grpSpPr>
              <a:xfrm flipH="false" flipV="false" rot="0">
                <a:off x="3678431" y="3067494"/>
                <a:ext cx="3566919" cy="1214632"/>
                <a:chOff x="3914528" y="1719897"/>
                <a:chExt cx="3714947" cy="655137"/>
              </a:xfrm>
            </p:grpSpPr>
            <p:sp>
              <p:nvSpPr>
                <p:cNvPr id="14" name="TextBox 14"/>
                <p:cNvSpPr txBox="true"/>
                <p:nvPr/>
              </p:nvSpPr>
              <p:spPr>
                <a:xfrm flipH="false" flipV="false" rot="0">
                  <a:off x="3914528" y="1719897"/>
                  <a:ext cx="648000" cy="655137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800">
                      <a:ln/>
                      <a:solidFill>
                        <a:srgbClr val="25B19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true"/>
                <p:nvPr/>
              </p:nvSpPr>
              <p:spPr>
                <a:xfrm flipH="false" flipV="false" rot="0">
                  <a:off x="4663461" y="1719897"/>
                  <a:ext cx="2966014" cy="65513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l">
                    <a:spcBef>
                      <a:spcPts val="0"/>
                    </a:spcBef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用户体验与生态体系</a:t>
                  </a:r>
                  <a:endParaRPr lang="en-US" sz="1100"/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 flipH="false" flipV="false" rot="0">
                <a:off x="7735413" y="3067494"/>
                <a:ext cx="3566919" cy="1214632"/>
                <a:chOff x="3914528" y="1719897"/>
                <a:chExt cx="3714947" cy="655137"/>
              </a:xfrm>
            </p:grpSpPr>
            <p:sp>
              <p:nvSpPr>
                <p:cNvPr id="17" name="TextBox 17"/>
                <p:cNvSpPr txBox="true"/>
                <p:nvPr/>
              </p:nvSpPr>
              <p:spPr>
                <a:xfrm flipH="false" flipV="false" rot="0">
                  <a:off x="3914528" y="1719897"/>
                  <a:ext cx="648000" cy="655137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800">
                      <a:ln/>
                      <a:solidFill>
                        <a:srgbClr val="25B19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true"/>
                <p:nvPr/>
              </p:nvSpPr>
              <p:spPr>
                <a:xfrm flipH="false" flipV="false" rot="0">
                  <a:off x="4663461" y="1719897"/>
                  <a:ext cx="2966014" cy="65513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l">
                    <a:spcBef>
                      <a:spcPts val="0"/>
                    </a:spcBef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目标客群与商业化策略</a:t>
                  </a:r>
                  <a:endParaRPr lang="en-US" sz="1100"/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 flipH="false" flipV="false" rot="0">
                <a:off x="3678431" y="4808235"/>
                <a:ext cx="7623900" cy="1214632"/>
                <a:chOff x="3914528" y="1719897"/>
                <a:chExt cx="7940294" cy="655137"/>
              </a:xfrm>
            </p:grpSpPr>
            <p:sp>
              <p:nvSpPr>
                <p:cNvPr id="20" name="TextBox 20"/>
                <p:cNvSpPr txBox="true"/>
                <p:nvPr/>
              </p:nvSpPr>
              <p:spPr>
                <a:xfrm flipH="false" flipV="false" rot="0">
                  <a:off x="3914528" y="1719897"/>
                  <a:ext cx="648000" cy="655137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800">
                      <a:ln/>
                      <a:solidFill>
                        <a:srgbClr val="25B19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05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true"/>
                <p:nvPr/>
              </p:nvSpPr>
              <p:spPr>
                <a:xfrm flipH="false" flipV="false" rot="0">
                  <a:off x="4663461" y="1719897"/>
                  <a:ext cx="7191361" cy="65513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l">
                    <a:spcBef>
                      <a:spcPts val="0"/>
                    </a:spcBef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市场表现与未来展望</a:t>
                  </a:r>
                  <a:endParaRPr lang="en-US" sz="1100"/>
                </a:p>
              </p:txBody>
            </p:sp>
          </p:grpSp>
        </p:grpSp>
      </p:grpSp>
      <p:sp>
        <p:nvSpPr>
          <p:cNvPr id="22" name="TextBox 22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215361" y="1754325"/>
            <a:ext cx="9748578" cy="207970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发展背景与战略定位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1215361" y="3913252"/>
            <a:ext cx="9748578" cy="159073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了解三大平台的发展历程与市场定位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1c533d3-45af-4edc-a2dd-63d161d7750b"/>
          <p:cNvGrpSpPr/>
          <p:nvPr/>
        </p:nvGrpSpPr>
        <p:grpSpPr>
          <a:xfrm flipH="false" flipV="false" rot="0">
            <a:off x="660399" y="1130300"/>
            <a:ext cx="10858500" cy="5003800"/>
            <a:chOff x="660399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4579090" y="2032408"/>
              <a:ext cx="3033822" cy="3033822"/>
            </a:xfrm>
            <a:prstGeom prst="donut">
              <a:avLst>
                <a:gd fmla="val 20853" name="adj"/>
              </a:avLst>
            </a:prstGeom>
            <a:solidFill>
              <a:srgbClr val="25B190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true"/>
            <p:nvPr/>
          </p:nvSpPr>
          <p:spPr>
            <a:xfrm flipH="false" flipV="false" rot="0">
              <a:off x="4853518" y="2590800"/>
              <a:ext cx="2484966" cy="191703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从诞生到成长的轨迹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660399" y="1130300"/>
              <a:ext cx="3778251" cy="2247900"/>
              <a:chOff x="660399" y="1130300"/>
              <a:chExt cx="3778251" cy="2247900"/>
            </a:xfrm>
          </p:grpSpPr>
          <p:grpSp>
            <p:nvGrpSpPr>
              <p:cNvPr id="6" name="Group 6"/>
              <p:cNvGrpSpPr/>
              <p:nvPr/>
            </p:nvGrpSpPr>
            <p:grpSpPr>
              <a:xfrm flipH="false" flipV="false" rot="0">
                <a:off x="1008305" y="1394594"/>
                <a:ext cx="3430345" cy="1983606"/>
                <a:chOff x="1008305" y="1162726"/>
                <a:chExt cx="4460377" cy="1316500"/>
              </a:xfrm>
            </p:grpSpPr>
            <p:sp>
              <p:nvSpPr>
                <p:cNvPr id="7" name="AutoShape 7"/>
                <p:cNvSpPr/>
                <p:nvPr/>
              </p:nvSpPr>
              <p:spPr>
                <a:xfrm flipH="false" flipV="false" rot="0">
                  <a:off x="1008305" y="1162726"/>
                  <a:ext cx="4460377" cy="1316500"/>
                </a:xfrm>
                <a:prstGeom prst="roundRect">
                  <a:avLst>
                    <a:gd fmla="val 5500" name="adj"/>
                  </a:avLst>
                </a:prstGeom>
                <a:solidFill>
                  <a:srgbClr val="FFFFFF">
                    <a:alpha val="60000"/>
                  </a:srgbClr>
                </a:solidFill>
                <a:ln w="19050">
                  <a:solidFill>
                    <a:srgbClr val="FFFFFF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TextBox 8"/>
                <p:cNvSpPr txBox="true"/>
                <p:nvPr/>
              </p:nvSpPr>
              <p:spPr>
                <a:xfrm flipH="false" flipV="false" rot="0">
                  <a:off x="1272207" y="1691412"/>
                  <a:ext cx="4037535" cy="66559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飞书创立于2016年，由字节跳动推出，是字节跳动内部办公与协作平台。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true"/>
                <p:nvPr/>
              </p:nvSpPr>
              <p:spPr>
                <a:xfrm flipH="false" flipV="false" rot="0">
                  <a:off x="1272207" y="1258094"/>
                  <a:ext cx="4037535" cy="43331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50400" lIns="108000" rIns="108000" rtlCol="false" tIns="5400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创立时间</a:t>
                  </a:r>
                  <a:endParaRPr lang="en-US" sz="1100"/>
                </a:p>
              </p:txBody>
            </p:sp>
          </p:grp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660399" y="1130300"/>
                <a:ext cx="511200" cy="511546"/>
              </a:xfrm>
              <a:prstGeom prst="roundRect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flipH="true" flipV="false" rot="0">
              <a:off x="7740647" y="1130300"/>
              <a:ext cx="3778252" cy="2247900"/>
              <a:chOff x="660399" y="1130300"/>
              <a:chExt cx="3778252" cy="2247900"/>
            </a:xfrm>
          </p:grpSpPr>
          <p:grpSp>
            <p:nvGrpSpPr>
              <p:cNvPr id="12" name="Group 12"/>
              <p:cNvGrpSpPr/>
              <p:nvPr/>
            </p:nvGrpSpPr>
            <p:grpSpPr>
              <a:xfrm flipH="false" flipV="false" rot="0">
                <a:off x="1008306" y="1394594"/>
                <a:ext cx="3430345" cy="1983606"/>
                <a:chOff x="1008306" y="1162726"/>
                <a:chExt cx="4460377" cy="1316500"/>
              </a:xfrm>
            </p:grpSpPr>
            <p:sp>
              <p:nvSpPr>
                <p:cNvPr id="13" name="AutoShape 13"/>
                <p:cNvSpPr/>
                <p:nvPr/>
              </p:nvSpPr>
              <p:spPr>
                <a:xfrm flipH="false" flipV="false" rot="0">
                  <a:off x="1008306" y="1162726"/>
                  <a:ext cx="4460377" cy="1316500"/>
                </a:xfrm>
                <a:prstGeom prst="roundRect">
                  <a:avLst>
                    <a:gd fmla="val 5500" name="adj"/>
                  </a:avLst>
                </a:prstGeom>
                <a:solidFill>
                  <a:srgbClr val="FFFFFF">
                    <a:alpha val="60000"/>
                  </a:srgbClr>
                </a:solidFill>
                <a:ln w="19050">
                  <a:solidFill>
                    <a:srgbClr val="FFFFFF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TextBox 14"/>
                <p:cNvSpPr txBox="true"/>
                <p:nvPr/>
              </p:nvSpPr>
              <p:spPr>
                <a:xfrm flipH="false" flipV="false" rot="0">
                  <a:off x="1272206" y="1691412"/>
                  <a:ext cx="4037535" cy="66559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r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最初服务内部，后逐步开放，凭借高效协作和先进理念吸引众多企业用户。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true"/>
                <p:nvPr/>
              </p:nvSpPr>
              <p:spPr>
                <a:xfrm flipH="false" flipV="false" rot="0">
                  <a:off x="1272207" y="1258094"/>
                  <a:ext cx="4037535" cy="43331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50400" lIns="108000" rIns="108000" rtlCol="false" tIns="54000" vert="horz" wrap="square"/>
                <a:lstStyle/>
                <a:p>
                  <a:pPr algn="r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发展历程</a:t>
                  </a:r>
                  <a:endParaRPr lang="en-US" sz="1100"/>
                </a:p>
              </p:txBody>
            </p:sp>
          </p:grpSp>
          <p:sp>
            <p:nvSpPr>
              <p:cNvPr id="16" name="TextBox 16"/>
              <p:cNvSpPr txBox="true"/>
              <p:nvPr/>
            </p:nvSpPr>
            <p:spPr>
              <a:xfrm flipH="true" flipV="false" rot="0">
                <a:off x="660399" y="1130300"/>
                <a:ext cx="511200" cy="511546"/>
              </a:xfrm>
              <a:prstGeom prst="roundRect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7740647" y="3886200"/>
              <a:ext cx="3778252" cy="2247900"/>
              <a:chOff x="7740647" y="3886200"/>
              <a:chExt cx="3778252" cy="2247900"/>
            </a:xfrm>
          </p:grpSpPr>
          <p:grpSp>
            <p:nvGrpSpPr>
              <p:cNvPr id="18" name="Group 18"/>
              <p:cNvGrpSpPr/>
              <p:nvPr/>
            </p:nvGrpSpPr>
            <p:grpSpPr>
              <a:xfrm flipH="true" flipV="false" rot="0">
                <a:off x="7740647" y="3886200"/>
                <a:ext cx="3430345" cy="1983606"/>
                <a:chOff x="1008306" y="1162726"/>
                <a:chExt cx="4460377" cy="1316500"/>
              </a:xfrm>
            </p:grpSpPr>
            <p:sp>
              <p:nvSpPr>
                <p:cNvPr id="19" name="AutoShape 19"/>
                <p:cNvSpPr/>
                <p:nvPr/>
              </p:nvSpPr>
              <p:spPr>
                <a:xfrm flipH="false" flipV="false" rot="0">
                  <a:off x="1008306" y="1162726"/>
                  <a:ext cx="4460377" cy="1316500"/>
                </a:xfrm>
                <a:prstGeom prst="roundRect">
                  <a:avLst>
                    <a:gd fmla="val 5500" name="adj"/>
                  </a:avLst>
                </a:prstGeom>
                <a:solidFill>
                  <a:srgbClr val="FFFFFF">
                    <a:alpha val="60000"/>
                  </a:srgbClr>
                </a:solidFill>
                <a:ln w="19050">
                  <a:solidFill>
                    <a:srgbClr val="FFFFFF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TextBox 20"/>
                <p:cNvSpPr txBox="true"/>
                <p:nvPr/>
              </p:nvSpPr>
              <p:spPr>
                <a:xfrm flipH="false" flipV="false" rot="0">
                  <a:off x="1272206" y="1691412"/>
                  <a:ext cx="4037535" cy="66559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r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倡导“以人为中心”的工作方式，强调信息自由流动和高效沟通。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true"/>
                <p:nvPr/>
              </p:nvSpPr>
              <p:spPr>
                <a:xfrm flipH="false" flipV="false" rot="0">
                  <a:off x="1272207" y="1258094"/>
                  <a:ext cx="4037535" cy="43331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50400" lIns="108000" rIns="108000" rtlCol="false" tIns="54000" vert="horz" wrap="square"/>
                <a:lstStyle/>
                <a:p>
                  <a:pPr algn="r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核心理念</a:t>
                  </a:r>
                  <a:endParaRPr lang="en-US" sz="1100"/>
                </a:p>
              </p:txBody>
            </p:sp>
          </p:grp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11007699" y="5622554"/>
                <a:ext cx="511200" cy="511546"/>
              </a:xfrm>
              <a:prstGeom prst="roundRect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flipH="false" flipV="false" rot="0">
              <a:off x="660399" y="3886200"/>
              <a:ext cx="3778251" cy="2247900"/>
              <a:chOff x="660399" y="3886200"/>
              <a:chExt cx="3778251" cy="2247900"/>
            </a:xfrm>
          </p:grpSpPr>
          <p:grpSp>
            <p:nvGrpSpPr>
              <p:cNvPr id="24" name="Group 24"/>
              <p:cNvGrpSpPr/>
              <p:nvPr/>
            </p:nvGrpSpPr>
            <p:grpSpPr>
              <a:xfrm flipH="false" flipV="false" rot="0">
                <a:off x="1008305" y="3886200"/>
                <a:ext cx="3430345" cy="1983606"/>
                <a:chOff x="1008305" y="1162726"/>
                <a:chExt cx="4460377" cy="1316500"/>
              </a:xfrm>
            </p:grpSpPr>
            <p:sp>
              <p:nvSpPr>
                <p:cNvPr id="25" name="AutoShape 25"/>
                <p:cNvSpPr/>
                <p:nvPr/>
              </p:nvSpPr>
              <p:spPr>
                <a:xfrm flipH="false" flipV="false" rot="0">
                  <a:off x="1008305" y="1162726"/>
                  <a:ext cx="4460377" cy="1316500"/>
                </a:xfrm>
                <a:prstGeom prst="roundRect">
                  <a:avLst>
                    <a:gd fmla="val 5500" name="adj"/>
                  </a:avLst>
                </a:prstGeom>
                <a:solidFill>
                  <a:srgbClr val="FFFFFF">
                    <a:alpha val="60000"/>
                  </a:srgbClr>
                </a:solidFill>
                <a:ln w="19050">
                  <a:solidFill>
                    <a:srgbClr val="FFFFFF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TextBox 26"/>
                <p:cNvSpPr txBox="true"/>
                <p:nvPr/>
              </p:nvSpPr>
              <p:spPr>
                <a:xfrm flipH="false" flipV="false" rot="0">
                  <a:off x="1272207" y="1691412"/>
                  <a:ext cx="4037535" cy="66559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瞄准知识型企业和创新团队，提供一站式协作解决方案。</a:t>
                  </a:r>
                  <a:endParaRPr lang="en-US" sz="1100"/>
                </a:p>
              </p:txBody>
            </p:sp>
            <p:sp>
              <p:nvSpPr>
                <p:cNvPr id="27" name="TextBox 27"/>
                <p:cNvSpPr txBox="true"/>
                <p:nvPr/>
              </p:nvSpPr>
              <p:spPr>
                <a:xfrm flipH="false" flipV="false" rot="0">
                  <a:off x="1272207" y="1258094"/>
                  <a:ext cx="4037535" cy="43331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50400" lIns="108000" rIns="108000" rtlCol="false" tIns="5400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市场目标</a:t>
                  </a:r>
                  <a:endParaRPr lang="en-US" sz="1100"/>
                </a:p>
              </p:txBody>
            </p:sp>
          </p:grp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660399" y="5622554"/>
                <a:ext cx="511200" cy="511546"/>
              </a:xfrm>
              <a:prstGeom prst="roundRect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飞书发展背景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63c7258-823b-47af-9c15-bf09e71af084"/>
          <p:cNvGrpSpPr/>
          <p:nvPr/>
        </p:nvGrpSpPr>
        <p:grpSpPr>
          <a:xfrm flipH="false" flipV="false" rot="0">
            <a:off x="732399" y="1146252"/>
            <a:ext cx="10786502" cy="4987848"/>
            <a:chOff x="732399" y="1146252"/>
            <a:chExt cx="10786502" cy="4987848"/>
          </a:xfrm>
        </p:grpSpPr>
        <p:grpSp>
          <p:nvGrpSpPr>
            <p:cNvPr id="3" name="Group 3"/>
            <p:cNvGrpSpPr/>
            <p:nvPr/>
          </p:nvGrpSpPr>
          <p:grpSpPr>
            <a:xfrm flipH="false" flipV="false" rot="0">
              <a:off x="732399" y="1310100"/>
              <a:ext cx="4779401" cy="4824000"/>
              <a:chOff x="732399" y="1310100"/>
              <a:chExt cx="5112370" cy="4824000"/>
            </a:xfrm>
          </p:grpSpPr>
          <p:sp>
            <p:nvSpPr>
              <p:cNvPr id="4" name="AutoShape 4"/>
              <p:cNvSpPr/>
              <p:nvPr/>
            </p:nvSpPr>
            <p:spPr>
              <a:xfrm flipH="false" flipV="false" rot="0">
                <a:off x="5268769" y="2874728"/>
                <a:ext cx="576000" cy="325936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162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 flipH="false" flipV="false" rot="0">
                <a:off x="732399" y="3895826"/>
                <a:ext cx="576000" cy="223827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162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 flipH="false" flipV="false" rot="0">
                <a:off x="1639673" y="2353488"/>
                <a:ext cx="576000" cy="37806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162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 flipH="false" flipV="false" rot="0">
                <a:off x="2546947" y="1310100"/>
                <a:ext cx="576000" cy="48240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162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 flipH="false" flipV="false" rot="0">
                <a:off x="3454221" y="3895826"/>
                <a:ext cx="576000" cy="223827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162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 flipH="false" flipV="false" rot="0">
                <a:off x="4361495" y="2508171"/>
                <a:ext cx="576000" cy="362592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16200000"/>
              </a:gra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0" name="TextBox 10"/>
            <p:cNvSpPr txBox="true"/>
            <p:nvPr/>
          </p:nvSpPr>
          <p:spPr>
            <a:xfrm flipH="false" flipV="false" rot="0">
              <a:off x="6096002" y="1146252"/>
              <a:ext cx="5422899" cy="6888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从阿里到企业的桥梁</a:t>
              </a:r>
              <a:endParaRPr lang="en-US" sz="1100"/>
            </a:p>
          </p:txBody>
        </p:sp>
        <p:grpSp>
          <p:nvGrpSpPr>
            <p:cNvPr id="11" name="Group 11"/>
            <p:cNvGrpSpPr/>
            <p:nvPr/>
          </p:nvGrpSpPr>
          <p:grpSpPr>
            <a:xfrm flipH="false" flipV="false" rot="0">
              <a:off x="6096001" y="1937658"/>
              <a:ext cx="5422898" cy="967244"/>
              <a:chOff x="6096001" y="1937658"/>
              <a:chExt cx="5422898" cy="1307560"/>
            </a:xfrm>
          </p:grpSpPr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6096001" y="1937658"/>
                <a:ext cx="5422898" cy="6291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创立时间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6096001" y="2566851"/>
                <a:ext cx="5422898" cy="678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钉钉创立于2014年，由阿里巴巴集团推出，最初聚焦于企业级通讯。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6096001" y="3014056"/>
              <a:ext cx="5422898" cy="967244"/>
              <a:chOff x="6096001" y="3382099"/>
              <a:chExt cx="5422898" cy="1307560"/>
            </a:xfrm>
          </p:grpSpPr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6096001" y="3382099"/>
                <a:ext cx="5422898" cy="6291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发展历程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6096001" y="4011292"/>
                <a:ext cx="5422898" cy="678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从简单的通讯工具演变为集多种功能于一体的数字化管理平台。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6096001" y="4090454"/>
              <a:ext cx="5422898" cy="967245"/>
              <a:chOff x="6096001" y="4826539"/>
              <a:chExt cx="5422898" cy="1307561"/>
            </a:xfrm>
          </p:grpSpPr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6096001" y="4826539"/>
                <a:ext cx="5422898" cy="6291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核心理念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6096001" y="5455733"/>
                <a:ext cx="5422898" cy="678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以“让工作更简单”为目标，帮助企业提升办公效率和管理水平。</a:t>
                </a:r>
                <a:endParaRPr lang="en-US" sz="1100"/>
              </a:p>
            </p:txBody>
          </p:sp>
        </p:grpSp>
        <p:sp>
          <p:nvSpPr>
            <p:cNvPr id="20" name="AutoShape 20"/>
            <p:cNvSpPr/>
            <p:nvPr/>
          </p:nvSpPr>
          <p:spPr>
            <a:xfrm flipH="false" flipV="false" rot="0">
              <a:off x="6096001" y="2959479"/>
              <a:ext cx="5422898" cy="0"/>
            </a:xfrm>
            <a:prstGeom prst="line">
              <a:avLst/>
            </a:prstGeom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 flipH="false" flipV="false" rot="0">
              <a:off x="6096001" y="4035877"/>
              <a:ext cx="5422898" cy="0"/>
            </a:xfrm>
            <a:prstGeom prst="line">
              <a:avLst/>
            </a:prstGeom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2" name="Group 22"/>
            <p:cNvGrpSpPr/>
            <p:nvPr/>
          </p:nvGrpSpPr>
          <p:grpSpPr>
            <a:xfrm flipH="false" flipV="false" rot="0">
              <a:off x="6096001" y="5166851"/>
              <a:ext cx="5422898" cy="967245"/>
              <a:chOff x="6096001" y="4826539"/>
              <a:chExt cx="5422898" cy="1307561"/>
            </a:xfrm>
          </p:grpSpPr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6096001" y="4826539"/>
                <a:ext cx="5422898" cy="6291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市场目标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6096001" y="5455733"/>
                <a:ext cx="5422898" cy="678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服务各类企业，尤其是传统行业，提供全面的数字化办公解决方案。</a:t>
                </a:r>
                <a:endParaRPr lang="en-US" sz="1100"/>
              </a:p>
            </p:txBody>
          </p:sp>
        </p:grpSp>
        <p:sp>
          <p:nvSpPr>
            <p:cNvPr id="25" name="AutoShape 25"/>
            <p:cNvSpPr/>
            <p:nvPr/>
          </p:nvSpPr>
          <p:spPr>
            <a:xfrm flipH="false" flipV="false" rot="0">
              <a:off x="6096001" y="5112276"/>
              <a:ext cx="5422898" cy="0"/>
            </a:xfrm>
            <a:prstGeom prst="line">
              <a:avLst/>
            </a:prstGeom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26" name="TextBox 26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钉钉发展背景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f7b62c0-4770-4315-942f-bcc70d7e593d"/>
          <p:cNvGrpSpPr/>
          <p:nvPr/>
        </p:nvGrpSpPr>
        <p:grpSpPr>
          <a:xfrm flipH="false" flipV="false" rot="0">
            <a:off x="660399" y="1130300"/>
            <a:ext cx="11531601" cy="5727700"/>
            <a:chOff x="660399" y="1130300"/>
            <a:chExt cx="11531601" cy="572770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10062633" y="4876800"/>
              <a:ext cx="2129367" cy="1981200"/>
            </a:xfrm>
            <a:custGeom>
              <a:rect b="b" l="l" r="r" t="t"/>
              <a:pathLst>
                <a:path h="1981200" w="2129367">
                  <a:moveTo>
                    <a:pt x="1456267" y="0"/>
                  </a:moveTo>
                  <a:cubicBezTo>
                    <a:pt x="1657335" y="0"/>
                    <a:pt x="1848886" y="40750"/>
                    <a:pt x="2023112" y="114441"/>
                  </a:cubicBezTo>
                  <a:lnTo>
                    <a:pt x="2129367" y="165627"/>
                  </a:lnTo>
                  <a:lnTo>
                    <a:pt x="2129367" y="1981200"/>
                  </a:lnTo>
                  <a:lnTo>
                    <a:pt x="99101" y="1981200"/>
                  </a:lnTo>
                  <a:lnTo>
                    <a:pt x="65471" y="1889316"/>
                  </a:lnTo>
                  <a:cubicBezTo>
                    <a:pt x="22922" y="1752516"/>
                    <a:pt x="0" y="1607069"/>
                    <a:pt x="0" y="1456267"/>
                  </a:cubicBezTo>
                  <a:cubicBezTo>
                    <a:pt x="0" y="651993"/>
                    <a:pt x="651993" y="0"/>
                    <a:pt x="1456267" y="0"/>
                  </a:cubicBezTo>
                  <a:close/>
                </a:path>
              </a:pathLst>
            </a:custGeom>
            <a:gradFill>
              <a:gsLst>
                <a:gs pos="0">
                  <a:srgbClr val="25B190">
                    <a:alpha val="100000"/>
                    <a:lumMod val="60000"/>
                    <a:lumOff val="40000"/>
                  </a:srgbClr>
                </a:gs>
                <a:gs pos="60000">
                  <a:srgbClr val="25B190">
                    <a:alpha val="10000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660400" y="2165350"/>
              <a:ext cx="10858500" cy="4070349"/>
            </a:xfrm>
            <a:prstGeom prst="roundRect">
              <a:avLst>
                <a:gd fmla="val 4596" name="adj"/>
              </a:avLst>
            </a:prstGeom>
            <a:solidFill>
              <a:srgbClr val="FFFFFF">
                <a:alpha val="60000"/>
              </a:srgbClr>
            </a:solidFill>
            <a:ln w="190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true" flipV="false" rot="0">
              <a:off x="660399" y="2515787"/>
              <a:ext cx="10858499" cy="1269508"/>
            </a:xfrm>
            <a:custGeom>
              <a:rect b="b" l="l" r="r" t="t"/>
              <a:pathLst>
                <a:path h="1271902" w="12240125">
                  <a:moveTo>
                    <a:pt x="0" y="259219"/>
                  </a:moveTo>
                  <a:cubicBezTo>
                    <a:pt x="1137652" y="-26865"/>
                    <a:pt x="2478504" y="-69644"/>
                    <a:pt x="3978441" y="98798"/>
                  </a:cubicBezTo>
                  <a:cubicBezTo>
                    <a:pt x="5478378" y="267240"/>
                    <a:pt x="7606632" y="1229768"/>
                    <a:pt x="8999621" y="1269872"/>
                  </a:cubicBezTo>
                  <a:cubicBezTo>
                    <a:pt x="10392610" y="1309976"/>
                    <a:pt x="11902573" y="745162"/>
                    <a:pt x="12240125" y="531935"/>
                  </a:cubicBezTo>
                </a:path>
              </a:pathLst>
            </a:custGeom>
            <a:ln w="12700">
              <a:solidFill>
                <a:srgbClr val="25B190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flipH="false" flipV="false" rot="0">
              <a:off x="928632" y="3288571"/>
              <a:ext cx="2351512" cy="2724423"/>
              <a:chOff x="628024" y="3288571"/>
              <a:chExt cx="2351512" cy="2724423"/>
            </a:xfrm>
          </p:grpSpPr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1529959" y="3288571"/>
                <a:ext cx="547642" cy="547716"/>
              </a:xfrm>
              <a:prstGeom prst="ellipse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628024" y="4584729"/>
                <a:ext cx="2351512" cy="14282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企业微信于2016年推出，是腾讯微信团队为企业打造的沟通与办公工具。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628024" y="3936729"/>
                <a:ext cx="2351512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创立时间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flipH="false" flipV="false" rot="0">
              <a:off x="3585474" y="3288571"/>
              <a:ext cx="2351512" cy="2717937"/>
              <a:chOff x="2770959" y="3288571"/>
              <a:chExt cx="2351512" cy="2717937"/>
            </a:xfrm>
          </p:grpSpPr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672894" y="3288571"/>
                <a:ext cx="547642" cy="547716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2770959" y="4578243"/>
                <a:ext cx="2351512" cy="14282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与企业微信不断融合，打通微信生态，成为企业内外沟通的重要桥梁。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2770959" y="3930243"/>
                <a:ext cx="2351512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发展历程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6242316" y="2454698"/>
              <a:ext cx="2351512" cy="2728101"/>
              <a:chOff x="4913894" y="2454698"/>
              <a:chExt cx="2351512" cy="2728101"/>
            </a:xfrm>
          </p:grpSpPr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5815829" y="2454698"/>
                <a:ext cx="547642" cy="547716"/>
              </a:xfrm>
              <a:prstGeom prst="ellipse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4913894" y="3754534"/>
                <a:ext cx="2351512" cy="14282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连接微信生态，助力企业构建私域流量，提升客户服务质量。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4913894" y="3106534"/>
                <a:ext cx="2351512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核心理念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flipH="false" flipV="false" rot="0">
              <a:off x="8899156" y="2276906"/>
              <a:ext cx="2351512" cy="2727543"/>
              <a:chOff x="7056828" y="2340701"/>
              <a:chExt cx="2351512" cy="2727543"/>
            </a:xfrm>
          </p:grpSpPr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7958763" y="2340701"/>
                <a:ext cx="547642" cy="547716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7056828" y="3639979"/>
                <a:ext cx="2351512" cy="14282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针对有微信生态需求的企业，如销售、客服等团队。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7056828" y="2991979"/>
                <a:ext cx="2351512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市场目标</a:t>
                </a:r>
                <a:endParaRPr lang="en-US" sz="1100"/>
              </a:p>
            </p:txBody>
          </p:sp>
        </p:grpSp>
        <p:sp>
          <p:nvSpPr>
            <p:cNvPr id="22" name="TextBox 22"/>
            <p:cNvSpPr txBox="true"/>
            <p:nvPr/>
          </p:nvSpPr>
          <p:spPr>
            <a:xfrm flipH="false" flipV="false" rot="0">
              <a:off x="660400" y="1130300"/>
              <a:ext cx="10858500" cy="7920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微信生态的办公延伸</a:t>
              </a:r>
              <a:endParaRPr lang="en-US" sz="1100"/>
            </a:p>
          </p:txBody>
        </p:sp>
      </p:grpSp>
      <p:sp>
        <p:nvSpPr>
          <p:cNvPr id="23" name="TextBox 23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企业微信发展背景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b711443-9925-435f-a49f-ba21d69c84bd"/>
          <p:cNvGrpSpPr/>
          <p:nvPr/>
        </p:nvGrpSpPr>
        <p:grpSpPr>
          <a:xfrm flipH="false" flipV="false" rot="0">
            <a:off x="660400" y="1130300"/>
            <a:ext cx="11531601" cy="5727701"/>
            <a:chOff x="660399" y="1130299"/>
            <a:chExt cx="11531601" cy="5727701"/>
          </a:xfrm>
        </p:grpSpPr>
        <p:grpSp>
          <p:nvGrpSpPr>
            <p:cNvPr id="3" name="Group 3"/>
            <p:cNvGrpSpPr/>
            <p:nvPr/>
          </p:nvGrpSpPr>
          <p:grpSpPr>
            <a:xfrm flipH="false" flipV="false" rot="0">
              <a:off x="669977" y="2328530"/>
              <a:ext cx="6508751" cy="812643"/>
              <a:chOff x="660399" y="2951246"/>
              <a:chExt cx="7560000" cy="900000"/>
            </a:xfrm>
          </p:grpSpPr>
          <p:sp>
            <p:nvSpPr>
              <p:cNvPr id="4" name="AutoShape 4"/>
              <p:cNvSpPr/>
              <p:nvPr/>
            </p:nvSpPr>
            <p:spPr>
              <a:xfrm flipH="false" flipV="false" rot="0">
                <a:off x="660399" y="2951246"/>
                <a:ext cx="7560000" cy="900000"/>
              </a:xfrm>
              <a:prstGeom prst="roundRect">
                <a:avLst/>
              </a:pr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" name="TextBox 5"/>
              <p:cNvSpPr txBox="true"/>
              <p:nvPr/>
            </p:nvSpPr>
            <p:spPr>
              <a:xfrm flipH="false" flipV="false" rot="0">
                <a:off x="952837" y="2987246"/>
                <a:ext cx="270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目标客群</a:t>
                </a:r>
                <a:endParaRPr lang="en-US" sz="1100"/>
              </a:p>
            </p:txBody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3714392" y="2987246"/>
                <a:ext cx="4142229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trike="noStrike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主要面向互联网、科技等知识型企业，以及追求创新的团队。</a:t>
                </a:r>
                <a:endParaRPr lang="en-US" sz="110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flipH="false" flipV="false" rot="0">
              <a:off x="669977" y="3326172"/>
              <a:ext cx="6508751" cy="812643"/>
              <a:chOff x="660399" y="4092673"/>
              <a:chExt cx="7560000" cy="900000"/>
            </a:xfrm>
          </p:grpSpPr>
          <p:sp>
            <p:nvSpPr>
              <p:cNvPr id="8" name="AutoShape 8"/>
              <p:cNvSpPr/>
              <p:nvPr/>
            </p:nvSpPr>
            <p:spPr>
              <a:xfrm flipH="false" flipV="false" rot="0">
                <a:off x="660399" y="4092673"/>
                <a:ext cx="7560000" cy="900000"/>
              </a:xfrm>
              <a:prstGeom prst="roundRect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952837" y="4128673"/>
                <a:ext cx="2700000" cy="8280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功能特色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3714392" y="4128673"/>
                <a:ext cx="4142229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强大的文档协作、视频会议和开放平台功能，支持深度定制。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669978" y="4323814"/>
              <a:ext cx="6508750" cy="812643"/>
              <a:chOff x="660400" y="5234100"/>
              <a:chExt cx="7559999" cy="900000"/>
            </a:xfrm>
          </p:grpSpPr>
          <p:sp>
            <p:nvSpPr>
              <p:cNvPr id="12" name="AutoShape 12"/>
              <p:cNvSpPr/>
              <p:nvPr/>
            </p:nvSpPr>
            <p:spPr>
              <a:xfrm flipH="false" flipV="false" rot="0">
                <a:off x="660400" y="5234100"/>
                <a:ext cx="7559999" cy="900000"/>
              </a:xfrm>
              <a:prstGeom prst="roundRect">
                <a:avLst/>
              </a:pr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952837" y="5270100"/>
                <a:ext cx="270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市场策略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3714393" y="5270100"/>
                <a:ext cx="4142228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trike="noStrike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通过免费版吸引用户，提供增值服务满足企业个性化需求。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flipH="false" flipV="false" rot="0">
              <a:off x="660399" y="5321457"/>
              <a:ext cx="6508751" cy="812643"/>
              <a:chOff x="660399" y="4092673"/>
              <a:chExt cx="7560000" cy="900000"/>
            </a:xfrm>
          </p:grpSpPr>
          <p:sp>
            <p:nvSpPr>
              <p:cNvPr id="16" name="AutoShape 16"/>
              <p:cNvSpPr/>
              <p:nvPr/>
            </p:nvSpPr>
            <p:spPr>
              <a:xfrm flipH="false" flipV="false" rot="0">
                <a:off x="660399" y="4092673"/>
                <a:ext cx="7560000" cy="900000"/>
              </a:xfrm>
              <a:prstGeom prst="roundRect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952837" y="4128673"/>
                <a:ext cx="2700000" cy="8280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竞争优势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3714392" y="4128673"/>
                <a:ext cx="4142229" cy="8280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界面简洁易用，协作效率高，开放平台功能强大。</a:t>
                </a:r>
                <a:endParaRPr lang="en-US" sz="1100"/>
              </a:p>
            </p:txBody>
          </p:sp>
        </p:grpSp>
        <p:sp>
          <p:nvSpPr>
            <p:cNvPr id="19" name="TextBox 19"/>
            <p:cNvSpPr txBox="true"/>
            <p:nvPr/>
          </p:nvSpPr>
          <p:spPr>
            <a:xfrm flipH="false" flipV="false" rot="0">
              <a:off x="673100" y="1130299"/>
              <a:ext cx="6300000" cy="104573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追求高效协作与创新</a:t>
              </a:r>
              <a:endParaRPr lang="en-US" sz="1100"/>
            </a:p>
          </p:txBody>
        </p:sp>
        <p:grpSp>
          <p:nvGrpSpPr>
            <p:cNvPr id="20" name="Group 20"/>
            <p:cNvGrpSpPr/>
            <p:nvPr/>
          </p:nvGrpSpPr>
          <p:grpSpPr>
            <a:xfrm flipH="false" flipV="false" rot="0">
              <a:off x="7407511" y="1130300"/>
              <a:ext cx="4784489" cy="5727700"/>
              <a:chOff x="7407511" y="1130300"/>
              <a:chExt cx="4784489" cy="5727700"/>
            </a:xfrm>
          </p:grpSpPr>
          <p:sp>
            <p:nvSpPr>
              <p:cNvPr id="21" name="AutoShape 21"/>
              <p:cNvSpPr/>
              <p:nvPr/>
            </p:nvSpPr>
            <p:spPr>
              <a:xfrm flipH="false" flipV="false" rot="0">
                <a:off x="7407511" y="2176036"/>
                <a:ext cx="432000" cy="432000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 flipH="false" flipV="false" rot="0">
                <a:off x="10062633" y="4876800"/>
                <a:ext cx="2129367" cy="1981200"/>
              </a:xfrm>
              <a:custGeom>
                <a:rect b="b" l="l" r="r" t="t"/>
                <a:pathLst>
                  <a:path h="1981200" w="2129367">
                    <a:moveTo>
                      <a:pt x="1456267" y="0"/>
                    </a:moveTo>
                    <a:cubicBezTo>
                      <a:pt x="1657335" y="0"/>
                      <a:pt x="1848886" y="40750"/>
                      <a:pt x="2023112" y="114441"/>
                    </a:cubicBezTo>
                    <a:lnTo>
                      <a:pt x="2129367" y="165627"/>
                    </a:lnTo>
                    <a:lnTo>
                      <a:pt x="2129367" y="1981200"/>
                    </a:lnTo>
                    <a:lnTo>
                      <a:pt x="99101" y="1981200"/>
                    </a:lnTo>
                    <a:lnTo>
                      <a:pt x="65471" y="1889316"/>
                    </a:lnTo>
                    <a:cubicBezTo>
                      <a:pt x="22922" y="1752516"/>
                      <a:pt x="0" y="1607069"/>
                      <a:pt x="0" y="1456267"/>
                    </a:cubicBezTo>
                    <a:cubicBezTo>
                      <a:pt x="0" y="651993"/>
                      <a:pt x="651993" y="0"/>
                      <a:pt x="145626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 flipH="false" flipV="false" rot="0">
                <a:off x="7636622" y="1130300"/>
                <a:ext cx="3894979" cy="5003800"/>
              </a:xfrm>
              <a:prstGeom prst="roundRect">
                <a:avLst>
                  <a:gd fmla="val 6396" name="adj"/>
                </a:avLst>
              </a:prstGeom>
              <a:blipFill rotWithShape="true">
                <a:blip r:embed="rId2">
                  <a:alphaModFix amt="100000"/>
                  <a:alphaModFix amt="100000"/>
                </a:blip>
                <a:stretch>
                  <a:fillRect b="0" l="-38010" r="-38010" t="0"/>
                </a:stretch>
              </a:blip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24" name="TextBox 24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飞书战略定位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84269b-5071-4c60-a5b0-af6c5a6b3654"/>
          <p:cNvGrpSpPr/>
          <p:nvPr/>
        </p:nvGrpSpPr>
        <p:grpSpPr>
          <a:xfrm flipH="false" flipV="false" rot="0">
            <a:off x="660400" y="1130300"/>
            <a:ext cx="11531600" cy="4952999"/>
            <a:chOff x="660400" y="1130300"/>
            <a:chExt cx="11531600" cy="4952999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3455300" y="1130300"/>
              <a:ext cx="8736700" cy="2700000"/>
            </a:xfrm>
            <a:prstGeom prst="roundRect">
              <a:avLst>
                <a:gd fmla="val 6184" name="adj"/>
              </a:avLst>
            </a:prstGeom>
            <a:blipFill rotWithShape="true">
              <a:blip r:embed="rId2">
                <a:alphaModFix amt="100000"/>
                <a:alphaModFix amt="100000"/>
              </a:blip>
              <a:stretch>
                <a:fillRect b="-63200" l="0" r="0" t="-18815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660400" y="3935628"/>
              <a:ext cx="2473800" cy="2147671"/>
              <a:chOff x="660400" y="4166635"/>
              <a:chExt cx="2473800" cy="2147671"/>
            </a:xfrm>
          </p:grpSpPr>
          <p:sp>
            <p:nvSpPr>
              <p:cNvPr id="5" name="AutoShape 5"/>
              <p:cNvSpPr/>
              <p:nvPr/>
            </p:nvSpPr>
            <p:spPr>
              <a:xfrm flipH="false" flipV="false" rot="0">
                <a:off x="660400" y="4435699"/>
                <a:ext cx="2473800" cy="1878607"/>
              </a:xfrm>
              <a:prstGeom prst="roundRect">
                <a:avLst>
                  <a:gd fmla="val 11973" name="adj"/>
                </a:avLst>
              </a:pr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728451" y="4688962"/>
                <a:ext cx="23377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目标客群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true" flipV="false" rot="0">
                <a:off x="728449" y="5354228"/>
                <a:ext cx="2337702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涵盖各类企业，尤其是传统行业和需要严格管理的组织。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41151" y="4166635"/>
                <a:ext cx="519800" cy="522326"/>
              </a:xfrm>
              <a:prstGeom prst="ellipse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3455300" y="3935628"/>
              <a:ext cx="2473800" cy="2147671"/>
              <a:chOff x="3455300" y="4166635"/>
              <a:chExt cx="2473800" cy="2147671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3455300" y="4435699"/>
                <a:ext cx="2473800" cy="1878607"/>
              </a:xfrm>
              <a:prstGeom prst="roundRect">
                <a:avLst>
                  <a:gd fmla="val 11973" name="adj"/>
                </a:avLst>
              </a:pr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523351" y="4688961"/>
                <a:ext cx="23377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功能特色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true" flipV="false" rot="0">
                <a:off x="3523349" y="5354228"/>
                <a:ext cx="2337702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丰富的办公应用，如考勤、审批等，支持低代码开发。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3536051" y="4166635"/>
                <a:ext cx="519800" cy="522326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6250200" y="3935628"/>
              <a:ext cx="2473800" cy="2147671"/>
              <a:chOff x="6250200" y="4166635"/>
              <a:chExt cx="2473800" cy="2147671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6250200" y="4435699"/>
                <a:ext cx="2473800" cy="1878607"/>
              </a:xfrm>
              <a:prstGeom prst="roundRect">
                <a:avLst>
                  <a:gd fmla="val 11973" name="adj"/>
                </a:avLst>
              </a:pr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6318251" y="4688962"/>
                <a:ext cx="23377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市场策略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true" flipV="false" rot="0">
                <a:off x="6318249" y="5354228"/>
                <a:ext cx="2337702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提供免费版和付费版，针对不同规模企业推出定制化解决方案。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6330951" y="4166635"/>
                <a:ext cx="519800" cy="522326"/>
              </a:xfrm>
              <a:prstGeom prst="ellipse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flipH="false" flipV="false" rot="0">
              <a:off x="9045100" y="3935628"/>
              <a:ext cx="2473800" cy="2147671"/>
              <a:chOff x="9045100" y="4166635"/>
              <a:chExt cx="2473800" cy="2147671"/>
            </a:xfrm>
          </p:grpSpPr>
          <p:sp>
            <p:nvSpPr>
              <p:cNvPr id="20" name="AutoShape 20"/>
              <p:cNvSpPr/>
              <p:nvPr/>
            </p:nvSpPr>
            <p:spPr>
              <a:xfrm flipH="false" flipV="false" rot="0">
                <a:off x="9045100" y="4435699"/>
                <a:ext cx="2473800" cy="1878607"/>
              </a:xfrm>
              <a:prstGeom prst="roundRect">
                <a:avLst>
                  <a:gd fmla="val 11973" name="adj"/>
                </a:avLst>
              </a:prstGeom>
              <a:solidFill>
                <a:srgbClr val="FFFFFF">
                  <a:alpha val="60000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9113151" y="4688962"/>
                <a:ext cx="23377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竞争优势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true" flipV="false" rot="0">
                <a:off x="9113149" y="5354228"/>
                <a:ext cx="2337702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功能全面，生态完善，在传统行业有广泛用户基础。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9125851" y="4166635"/>
                <a:ext cx="519800" cy="522326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sp>
          <p:nvSpPr>
            <p:cNvPr id="24" name="TextBox 24"/>
            <p:cNvSpPr txBox="true"/>
            <p:nvPr/>
          </p:nvSpPr>
          <p:spPr>
            <a:xfrm flipH="false" flipV="false" rot="0">
              <a:off x="660400" y="1130300"/>
              <a:ext cx="2659743" cy="26831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深耕企业数字化管理</a:t>
              </a:r>
              <a:endParaRPr lang="en-US" sz="1100"/>
            </a:p>
          </p:txBody>
        </p:sp>
      </p:grpSp>
      <p:sp>
        <p:nvSpPr>
          <p:cNvPr id="25" name="TextBox 25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钉钉战略定位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8f67bd3-a0cd-42df-9c43-752d24e3ddec"/>
          <p:cNvGrpSpPr/>
          <p:nvPr/>
        </p:nvGrpSpPr>
        <p:grpSpPr>
          <a:xfrm flipH="false" flipV="false" rot="0">
            <a:off x="340060" y="1003925"/>
            <a:ext cx="11325669" cy="5414170"/>
            <a:chOff x="340060" y="1003925"/>
            <a:chExt cx="11325669" cy="541417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660400" y="3820774"/>
              <a:ext cx="10858500" cy="2313326"/>
            </a:xfrm>
            <a:prstGeom prst="roundRect">
              <a:avLst>
                <a:gd fmla="val 8317" name="adj"/>
              </a:avLst>
            </a:prstGeom>
            <a:solidFill>
              <a:srgbClr val="FFFFFF">
                <a:alpha val="60000"/>
              </a:srgbClr>
            </a:solidFill>
            <a:ln w="190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true"/>
            <p:nvPr/>
          </p:nvSpPr>
          <p:spPr>
            <a:xfrm flipH="false" flipV="false" rot="0">
              <a:off x="660400" y="1130300"/>
              <a:ext cx="4418833" cy="121539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连接微信生态，服务企业内外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flipH="false" flipV="false" rot="0">
              <a:off x="340060" y="5850105"/>
              <a:ext cx="567990" cy="567990"/>
            </a:xfrm>
            <a:prstGeom prst="ellipse">
              <a:avLst/>
            </a:prstGeom>
            <a:gradFill>
              <a:gsLst>
                <a:gs pos="0">
                  <a:srgbClr val="25B190">
                    <a:alpha val="100000"/>
                    <a:lumMod val="60000"/>
                    <a:lumOff val="40000"/>
                  </a:srgbClr>
                </a:gs>
                <a:gs pos="60000">
                  <a:srgbClr val="25B190">
                    <a:alpha val="10000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flipH="false" flipV="false" rot="0">
              <a:off x="805894" y="3947150"/>
              <a:ext cx="2527436" cy="2060575"/>
              <a:chOff x="812244" y="4060675"/>
              <a:chExt cx="2373590" cy="1758128"/>
            </a:xfrm>
          </p:grpSpPr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812246" y="4060675"/>
                <a:ext cx="2373588" cy="6014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目标客群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812244" y="4662140"/>
                <a:ext cx="2373079" cy="11566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主要面向销售、客服、零售等需要直接触达微信用户的行业。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3478202" y="3947150"/>
              <a:ext cx="2527436" cy="2060575"/>
              <a:chOff x="812244" y="4060675"/>
              <a:chExt cx="2373590" cy="1758128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812246" y="4060675"/>
                <a:ext cx="2373588" cy="6014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功能特色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812244" y="4662140"/>
                <a:ext cx="2373079" cy="11566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与微信无缝衔接，支持客户管理、营销推广等功能。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flipH="false" flipV="false" rot="0">
              <a:off x="6150511" y="3947150"/>
              <a:ext cx="2527436" cy="2060575"/>
              <a:chOff x="812244" y="4060675"/>
              <a:chExt cx="2373590" cy="1758128"/>
            </a:xfrm>
          </p:grpSpPr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812246" y="4060675"/>
                <a:ext cx="2373588" cy="6014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市场策略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812244" y="4662140"/>
                <a:ext cx="2373079" cy="11566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借助微信生态优势，吸引企业用户，提供免费和付费服务。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flipH="false" flipV="false" rot="0">
              <a:off x="8822819" y="3947150"/>
              <a:ext cx="2527436" cy="2060575"/>
              <a:chOff x="812244" y="4060675"/>
              <a:chExt cx="2373590" cy="1758128"/>
            </a:xfrm>
          </p:grpSpPr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812246" y="4060675"/>
                <a:ext cx="2373588" cy="6014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竞争优势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812244" y="4662140"/>
                <a:ext cx="2373079" cy="11566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客户关系管理能力强，能直接触达微信用户，提升客户信任。</a:t>
                </a:r>
                <a:endParaRPr lang="en-US" sz="1100"/>
              </a:p>
            </p:txBody>
          </p:sp>
        </p:grpSp>
        <p:sp>
          <p:nvSpPr>
            <p:cNvPr id="18" name="AutoShape 18"/>
            <p:cNvSpPr/>
            <p:nvPr/>
          </p:nvSpPr>
          <p:spPr>
            <a:xfrm flipH="false" flipV="false" rot="0">
              <a:off x="11224114" y="1003925"/>
              <a:ext cx="441615" cy="441615"/>
            </a:xfrm>
            <a:prstGeom prst="ellipse">
              <a:avLst/>
            </a:prstGeom>
            <a:gradFill>
              <a:gsLst>
                <a:gs pos="0">
                  <a:srgbClr val="FBB430">
                    <a:alpha val="100000"/>
                    <a:lumMod val="60000"/>
                    <a:lumOff val="40000"/>
                  </a:srgbClr>
                </a:gs>
                <a:gs pos="60000">
                  <a:srgbClr val="FBB430">
                    <a:alpha val="10000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 flipH="false" flipV="false" rot="0">
              <a:off x="5608674" y="1130300"/>
              <a:ext cx="5910226" cy="2468894"/>
            </a:xfrm>
            <a:prstGeom prst="roundRect">
              <a:avLst>
                <a:gd fmla="val 4261" name="adj"/>
              </a:avLst>
            </a:prstGeom>
            <a:blipFill rotWithShape="true">
              <a:blip r:embed="rId2">
                <a:alphaModFix amt="100000"/>
                <a:alphaModFix amt="100000"/>
              </a:blip>
              <a:stretch>
                <a:fillRect b="-13182" l="0" r="0" t="-13182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 flipH="false" flipV="false" rot="0">
              <a:off x="744975" y="2472070"/>
              <a:ext cx="4334258" cy="0"/>
            </a:xfrm>
            <a:prstGeom prst="line">
              <a:avLst/>
            </a:prstGeom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21" name="TextBox 21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企业微信战略定位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215361" y="1754325"/>
            <a:ext cx="9748578" cy="207970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核心功能对比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1215361" y="3913252"/>
            <a:ext cx="9748578" cy="159073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三大平台基础功能的详细对比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cf6e195-3415-4727-bd7d-7185b5701b37"/>
          <p:cNvGrpSpPr/>
          <p:nvPr/>
        </p:nvGrpSpPr>
        <p:grpSpPr>
          <a:xfrm flipH="false" flipV="false" rot="0">
            <a:off x="684713" y="1130300"/>
            <a:ext cx="10834187" cy="5003800"/>
            <a:chOff x="684713" y="1130300"/>
            <a:chExt cx="10834187" cy="500380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7156450" y="3472079"/>
              <a:ext cx="1886648" cy="2662020"/>
            </a:xfrm>
            <a:prstGeom prst="roundRect">
              <a:avLst>
                <a:gd fmla="val 12482" name="adj"/>
              </a:avLst>
            </a:prstGeom>
            <a:blipFill rotWithShape="true">
              <a:blip r:embed="rId2">
                <a:alphaModFix amt="100000"/>
                <a:alphaModFix amt="100000"/>
              </a:blip>
              <a:stretch>
                <a:fillRect b="0" l="-124355" r="-24355" t="0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9168452" y="1130300"/>
              <a:ext cx="2350448" cy="5003800"/>
            </a:xfrm>
            <a:prstGeom prst="roundRect">
              <a:avLst>
                <a:gd fmla="val 10775" name="adj"/>
              </a:avLst>
            </a:prstGeom>
            <a:blipFill rotWithShape="true">
              <a:blip r:embed="rId3">
                <a:alphaModFix amt="100000"/>
                <a:alphaModFix amt="100000"/>
              </a:blip>
              <a:stretch>
                <a:fillRect b="0" l="-173780" r="-106240" t="0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true"/>
            <p:nvPr/>
          </p:nvSpPr>
          <p:spPr>
            <a:xfrm flipH="false" flipV="false" rot="0">
              <a:off x="7156450" y="1130876"/>
              <a:ext cx="1886648" cy="2208162"/>
            </a:xfrm>
            <a:prstGeom prst="roundRect">
              <a:avLst>
                <a:gd fmla="val 11476" name="adj"/>
              </a:avLst>
            </a:prstGeom>
            <a:gradFill>
              <a:gsLst>
                <a:gs pos="0">
                  <a:srgbClr val="25B190">
                    <a:alpha val="100000"/>
                    <a:lumMod val="60000"/>
                    <a:lumOff val="40000"/>
                  </a:srgbClr>
                </a:gs>
                <a:gs pos="60000">
                  <a:srgbClr val="25B190">
                    <a:alpha val="10000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沟通效率的比拼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flipH="false" flipV="false" rot="0">
              <a:off x="791123" y="1562100"/>
              <a:ext cx="2798017" cy="1852338"/>
              <a:chOff x="791123" y="1562100"/>
              <a:chExt cx="2798017" cy="1852338"/>
            </a:xfrm>
          </p:grpSpPr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791123" y="1562100"/>
                <a:ext cx="2798017" cy="8913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群聊人数限制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91123" y="2453438"/>
                <a:ext cx="2798017" cy="961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飞书群聊人数上限较高，适合大型团队沟通；钉钉支持2000人同时在线；企业微信根据版本不同有不同限制。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3859443" y="1562100"/>
              <a:ext cx="2798017" cy="1852338"/>
              <a:chOff x="791123" y="1562100"/>
              <a:chExt cx="2798017" cy="1852338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791123" y="1562100"/>
                <a:ext cx="2798017" cy="8913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消息管理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791123" y="2453438"/>
                <a:ext cx="2798017" cy="961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飞书支持话题式讨论，便于整理；钉钉有已读未读功能，便于管理；企业微信消息可同步至微信。</a:t>
                </a:r>
                <a:endParaRPr lang="en-US" sz="1100"/>
              </a:p>
            </p:txBody>
          </p:sp>
        </p:grpSp>
        <p:sp>
          <p:nvSpPr>
            <p:cNvPr id="12" name="AutoShape 12"/>
            <p:cNvSpPr/>
            <p:nvPr/>
          </p:nvSpPr>
          <p:spPr>
            <a:xfrm flipH="false" flipV="false" rot="0">
              <a:off x="684713" y="4209436"/>
              <a:ext cx="2953837" cy="1924664"/>
            </a:xfrm>
            <a:prstGeom prst="roundRect">
              <a:avLst>
                <a:gd fmla="val 12954" name="adj"/>
              </a:avLst>
            </a:prstGeom>
            <a:solidFill>
              <a:srgbClr val="FFFFFF">
                <a:alpha val="60000"/>
              </a:srgbClr>
            </a:solidFill>
            <a:ln w="190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3" name="Group 13"/>
            <p:cNvGrpSpPr/>
            <p:nvPr/>
          </p:nvGrpSpPr>
          <p:grpSpPr>
            <a:xfrm flipH="false" flipV="false" rot="0">
              <a:off x="791123" y="4305775"/>
              <a:ext cx="2798017" cy="1579452"/>
              <a:chOff x="791123" y="4305775"/>
              <a:chExt cx="2798017" cy="1579452"/>
            </a:xfrm>
          </p:grpSpPr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791123" y="4305775"/>
                <a:ext cx="2798017" cy="6184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消息撤回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791123" y="4924227"/>
                <a:ext cx="2798017" cy="961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飞书、钉钉、企业微信都支持消息撤回，但具体时间限制有所不同。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flipH="false" flipV="false" rot="0">
              <a:off x="3859443" y="4305775"/>
              <a:ext cx="2798017" cy="1579452"/>
              <a:chOff x="791123" y="4305775"/>
              <a:chExt cx="2798017" cy="1579452"/>
            </a:xfrm>
          </p:grpSpPr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791123" y="4305775"/>
                <a:ext cx="2798017" cy="6184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消息提醒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791123" y="4924227"/>
                <a:ext cx="2798017" cy="961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飞书、钉钉可根据消息重要性设置提醒；企业微信与微信消息提醒同步。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即时通讯功能对比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ed8226e-3135-4912-9a45-0e2ad73cac06"/>
          <p:cNvGrpSpPr/>
          <p:nvPr/>
        </p:nvGrpSpPr>
        <p:grpSpPr>
          <a:xfrm flipH="false" flipV="false"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30300"/>
              <a:ext cx="10858500" cy="59330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协作效率的关键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660400" y="1894520"/>
              <a:ext cx="5301194" cy="2075500"/>
              <a:chOff x="886103" y="3551437"/>
              <a:chExt cx="3420000" cy="2148309"/>
            </a:xfrm>
          </p:grpSpPr>
          <p:sp>
            <p:nvSpPr>
              <p:cNvPr id="5" name="AutoShape 5"/>
              <p:cNvSpPr/>
              <p:nvPr/>
            </p:nvSpPr>
            <p:spPr>
              <a:xfrm flipH="false" flipV="false" rot="0">
                <a:off x="886103" y="3793646"/>
                <a:ext cx="3420000" cy="1906100"/>
              </a:xfrm>
              <a:prstGeom prst="rect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066103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协同编辑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1078804" y="4598142"/>
                <a:ext cx="3060000" cy="9315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飞书云文档支持多人实时协同编辑，能看到光标位置；钉钉文档协同稍弱；企业微信整合腾讯文档。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3586103" y="3551437"/>
                <a:ext cx="301924" cy="484417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6217706" y="1894520"/>
              <a:ext cx="5301194" cy="2075500"/>
              <a:chOff x="4541650" y="3551437"/>
              <a:chExt cx="3420000" cy="2148309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4541650" y="3793646"/>
                <a:ext cx="3420000" cy="1906100"/>
              </a:xfrm>
              <a:prstGeom prst="rect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4721650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版本管理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4734351" y="4598143"/>
                <a:ext cx="3060000" cy="9315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飞书版本管理功能强大，可追溯历史版本；钉钉版本管理一般；企业微信版本管理较弱。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7241650" y="3551437"/>
                <a:ext cx="301924" cy="484417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660400" y="4058600"/>
              <a:ext cx="5301194" cy="2075500"/>
              <a:chOff x="886103" y="3551437"/>
              <a:chExt cx="3420000" cy="2148309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886103" y="3793646"/>
                <a:ext cx="3420000" cy="1906100"/>
              </a:xfrm>
              <a:prstGeom prst="rect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1066103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文档模板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1078804" y="4598142"/>
                <a:ext cx="3060000" cy="9315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钉钉有丰富的审批流模板；飞书有常用的办公模板；企业微信模板较少。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3586103" y="3551437"/>
                <a:ext cx="301924" cy="484417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flipH="false" flipV="false" rot="0">
              <a:off x="6217706" y="4058600"/>
              <a:ext cx="5301194" cy="2075500"/>
              <a:chOff x="4541650" y="3551437"/>
              <a:chExt cx="3420000" cy="2148309"/>
            </a:xfrm>
          </p:grpSpPr>
          <p:sp>
            <p:nvSpPr>
              <p:cNvPr id="20" name="AutoShape 20"/>
              <p:cNvSpPr/>
              <p:nvPr/>
            </p:nvSpPr>
            <p:spPr>
              <a:xfrm flipH="false" flipV="false" rot="0">
                <a:off x="4541650" y="3793646"/>
                <a:ext cx="3420000" cy="1906100"/>
              </a:xfrm>
              <a:prstGeom prst="rect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4721650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文档权限设置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4734351" y="4598143"/>
                <a:ext cx="3060000" cy="9315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飞书、钉钉、企业微信都能灵活设置文档权限，保障信息安全。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7241650" y="3551437"/>
                <a:ext cx="301924" cy="484417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文档协作功能对比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5c09ba8-3d2f-4b9d-806b-842eeb0ff0f1"/>
          <p:cNvGrpSpPr/>
          <p:nvPr/>
        </p:nvGrpSpPr>
        <p:grpSpPr>
          <a:xfrm flipH="false" flipV="false" rot="0">
            <a:off x="660400" y="1130300"/>
            <a:ext cx="10858500" cy="5035405"/>
            <a:chOff x="660400" y="1130300"/>
            <a:chExt cx="10858500" cy="5035405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30300"/>
              <a:ext cx="10858500" cy="66133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远程沟通的利器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1016002" y="2094580"/>
              <a:ext cx="10121896" cy="4071125"/>
              <a:chOff x="1016002" y="2094580"/>
              <a:chExt cx="10121896" cy="4071125"/>
            </a:xfrm>
          </p:grpSpPr>
          <p:grpSp>
            <p:nvGrpSpPr>
              <p:cNvPr id="5" name="Group 5"/>
              <p:cNvGrpSpPr/>
              <p:nvPr/>
            </p:nvGrpSpPr>
            <p:grpSpPr>
              <a:xfrm flipH="false" flipV="false" rot="0">
                <a:off x="1016002" y="2094580"/>
                <a:ext cx="10121896" cy="878569"/>
                <a:chOff x="1016002" y="2094580"/>
                <a:chExt cx="10121896" cy="878569"/>
              </a:xfrm>
            </p:grpSpPr>
            <p:grpSp>
              <p:nvGrpSpPr>
                <p:cNvPr id="6" name="Group 6"/>
                <p:cNvGrpSpPr/>
                <p:nvPr/>
              </p:nvGrpSpPr>
              <p:grpSpPr>
                <a:xfrm flipH="false" flipV="false" rot="0">
                  <a:off x="1016002" y="2094580"/>
                  <a:ext cx="6093512" cy="878569"/>
                  <a:chOff x="1016002" y="2094580"/>
                  <a:chExt cx="6093512" cy="878569"/>
                </a:xfrm>
              </p:grpSpPr>
              <p:sp>
                <p:nvSpPr>
                  <p:cNvPr id="7" name="TextBox 7"/>
                  <p:cNvSpPr txBox="true"/>
                  <p:nvPr/>
                </p:nvSpPr>
                <p:spPr>
                  <a:xfrm flipH="false" flipV="false" rot="0">
                    <a:off x="1016002" y="2094580"/>
                    <a:ext cx="5898485" cy="87856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77849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anchor="ctr" anchorCtr="false" bIns="45720" lIns="972000" rIns="18000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飞书支持千人会议，适合大型会议；钉钉会议人数上限也较高；企业微信根据版本不同有不同限制。</a:t>
                    </a:r>
                    <a:endParaRPr lang="en-US" sz="1100"/>
                  </a:p>
                </p:txBody>
              </p:sp>
              <p:sp>
                <p:nvSpPr>
                  <p:cNvPr id="8" name="TextBox 8"/>
                  <p:cNvSpPr txBox="true"/>
                  <p:nvPr/>
                </p:nvSpPr>
                <p:spPr>
                  <a:xfrm flipH="false" flipV="false" rot="0">
                    <a:off x="1114655" y="2180193"/>
                    <a:ext cx="707343" cy="707343"/>
                  </a:xfrm>
                  <a:prstGeom prst="ellipse">
                    <a:avLst/>
                  </a:prstGeom>
                  <a:ln w="12700">
                    <a:solidFill>
                      <a:srgbClr val="FFFFFF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ctr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01</a:t>
                    </a:r>
                    <a:endParaRPr lang="en-US" sz="1100"/>
                  </a:p>
                </p:txBody>
              </p:sp>
              <p:sp>
                <p:nvSpPr>
                  <p:cNvPr id="9" name="AutoShape 9"/>
                  <p:cNvSpPr/>
                  <p:nvPr/>
                </p:nvSpPr>
                <p:spPr>
                  <a:xfrm flipH="false" flipV="false" rot="5400000">
                    <a:off x="6844162" y="2411016"/>
                    <a:ext cx="285007" cy="245696"/>
                  </a:xfrm>
                  <a:prstGeom prst="triangle">
                    <a:avLst/>
                  </a:prstGeom>
                  <a:solidFill>
                    <a:srgbClr val="77849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10" name="AutoShape 10"/>
                <p:cNvSpPr/>
                <p:nvPr/>
              </p:nvSpPr>
              <p:spPr>
                <a:xfrm flipH="false" flipV="false" rot="0">
                  <a:off x="7798107" y="2094580"/>
                  <a:ext cx="0" cy="878569"/>
                </a:xfrm>
                <a:prstGeom prst="line">
                  <a:avLst/>
                </a:prstGeom>
                <a:ln w="15875">
                  <a:solidFill>
                    <a:srgbClr val="778495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TextBox 11"/>
                <p:cNvSpPr txBox="true"/>
                <p:nvPr/>
              </p:nvSpPr>
              <p:spPr>
                <a:xfrm flipH="false" flipV="false" rot="0">
                  <a:off x="8569649" y="2204075"/>
                  <a:ext cx="2568249" cy="729568"/>
                </a:xfrm>
                <a:prstGeom prst="roundRect">
                  <a:avLst/>
                </a:prstGeom>
                <a:solidFill>
                  <a:srgbClr val="778495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50400" lIns="108000" rIns="108000" rtlCol="false" tIns="54000" vert="horz" wrap="squar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会议人数</a:t>
                  </a:r>
                  <a:endParaRPr lang="en-US" sz="1100"/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 flipH="false" flipV="false" rot="0">
                <a:off x="1016002" y="3158765"/>
                <a:ext cx="10121896" cy="878569"/>
                <a:chOff x="1016002" y="3158765"/>
                <a:chExt cx="10121896" cy="878569"/>
              </a:xfrm>
            </p:grpSpPr>
            <p:grpSp>
              <p:nvGrpSpPr>
                <p:cNvPr id="13" name="Group 13"/>
                <p:cNvGrpSpPr/>
                <p:nvPr/>
              </p:nvGrpSpPr>
              <p:grpSpPr>
                <a:xfrm flipH="false" flipV="false" rot="0">
                  <a:off x="1016002" y="3158765"/>
                  <a:ext cx="6093512" cy="878569"/>
                  <a:chOff x="1016002" y="3158765"/>
                  <a:chExt cx="6093512" cy="878569"/>
                </a:xfrm>
              </p:grpSpPr>
              <p:sp>
                <p:nvSpPr>
                  <p:cNvPr id="14" name="TextBox 14"/>
                  <p:cNvSpPr txBox="true"/>
                  <p:nvPr/>
                </p:nvSpPr>
                <p:spPr>
                  <a:xfrm flipH="false" flipV="false" rot="0">
                    <a:off x="1016002" y="3158765"/>
                    <a:ext cx="5898485" cy="87856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25B19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anchor="ctr" anchorCtr="false" bIns="45720" lIns="972000" rIns="18000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飞书音视频清晰稳定，降噪效果好；钉钉语音转写准确；企业微信音视频质量较好。</a:t>
                    </a:r>
                    <a:endParaRPr lang="en-US" sz="1100"/>
                  </a:p>
                </p:txBody>
              </p:sp>
              <p:sp>
                <p:nvSpPr>
                  <p:cNvPr id="15" name="TextBox 15"/>
                  <p:cNvSpPr txBox="true"/>
                  <p:nvPr/>
                </p:nvSpPr>
                <p:spPr>
                  <a:xfrm flipH="false" flipV="false" rot="0">
                    <a:off x="1114655" y="3244378"/>
                    <a:ext cx="707343" cy="707343"/>
                  </a:xfrm>
                  <a:prstGeom prst="ellipse">
                    <a:avLst/>
                  </a:prstGeom>
                  <a:ln w="12700">
                    <a:solidFill>
                      <a:srgbClr val="FFFFFF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ctr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02</a:t>
                    </a:r>
                    <a:endParaRPr lang="en-US" sz="1100"/>
                  </a:p>
                </p:txBody>
              </p:sp>
              <p:sp>
                <p:nvSpPr>
                  <p:cNvPr id="16" name="AutoShape 16"/>
                  <p:cNvSpPr/>
                  <p:nvPr/>
                </p:nvSpPr>
                <p:spPr>
                  <a:xfrm flipH="false" flipV="false" rot="5400000">
                    <a:off x="6844162" y="3475201"/>
                    <a:ext cx="285007" cy="245696"/>
                  </a:xfrm>
                  <a:prstGeom prst="triangle">
                    <a:avLst/>
                  </a:prstGeom>
                  <a:solidFill>
                    <a:srgbClr val="25B19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17" name="AutoShape 17"/>
                <p:cNvSpPr/>
                <p:nvPr/>
              </p:nvSpPr>
              <p:spPr>
                <a:xfrm flipH="false" flipV="false" rot="0">
                  <a:off x="7798107" y="3158765"/>
                  <a:ext cx="0" cy="878569"/>
                </a:xfrm>
                <a:prstGeom prst="line">
                  <a:avLst/>
                </a:prstGeom>
                <a:ln w="15875">
                  <a:solidFill>
                    <a:srgbClr val="778495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TextBox 18"/>
                <p:cNvSpPr txBox="true"/>
                <p:nvPr/>
              </p:nvSpPr>
              <p:spPr>
                <a:xfrm flipH="false" flipV="false" rot="0">
                  <a:off x="8569649" y="3268260"/>
                  <a:ext cx="2568249" cy="729568"/>
                </a:xfrm>
                <a:prstGeom prst="roundRect">
                  <a:avLst/>
                </a:prstGeom>
                <a:solidFill>
                  <a:srgbClr val="778495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50400" lIns="108000" rIns="108000" rtlCol="false" tIns="54000" vert="horz" wrap="squar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音视频质量</a:t>
                  </a:r>
                  <a:endParaRPr lang="en-US" sz="1100"/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 flipH="false" flipV="false" rot="0">
                <a:off x="1016002" y="4222950"/>
                <a:ext cx="10121896" cy="878569"/>
                <a:chOff x="1016002" y="4222950"/>
                <a:chExt cx="10121896" cy="878569"/>
              </a:xfrm>
            </p:grpSpPr>
            <p:grpSp>
              <p:nvGrpSpPr>
                <p:cNvPr id="20" name="Group 20"/>
                <p:cNvGrpSpPr/>
                <p:nvPr/>
              </p:nvGrpSpPr>
              <p:grpSpPr>
                <a:xfrm flipH="false" flipV="false" rot="0">
                  <a:off x="1016002" y="4222950"/>
                  <a:ext cx="6093512" cy="878569"/>
                  <a:chOff x="1016002" y="4222950"/>
                  <a:chExt cx="6093512" cy="878569"/>
                </a:xfrm>
              </p:grpSpPr>
              <p:sp>
                <p:nvSpPr>
                  <p:cNvPr id="21" name="TextBox 21"/>
                  <p:cNvSpPr txBox="true"/>
                  <p:nvPr/>
                </p:nvSpPr>
                <p:spPr>
                  <a:xfrm flipH="false" flipV="false" rot="0">
                    <a:off x="1016002" y="4222950"/>
                    <a:ext cx="5898485" cy="87856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77849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anchor="ctr" anchorCtr="false" bIns="45720" lIns="972000" rIns="18000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飞书、钉钉、企业微信都支持会议录制，方便后续查看。</a:t>
                    </a:r>
                    <a:endParaRPr lang="en-US" sz="1100"/>
                  </a:p>
                </p:txBody>
              </p:sp>
              <p:sp>
                <p:nvSpPr>
                  <p:cNvPr id="22" name="TextBox 22"/>
                  <p:cNvSpPr txBox="true"/>
                  <p:nvPr/>
                </p:nvSpPr>
                <p:spPr>
                  <a:xfrm flipH="false" flipV="false" rot="0">
                    <a:off x="1114655" y="4308563"/>
                    <a:ext cx="707343" cy="707343"/>
                  </a:xfrm>
                  <a:prstGeom prst="ellipse">
                    <a:avLst/>
                  </a:prstGeom>
                  <a:ln w="12700">
                    <a:solidFill>
                      <a:srgbClr val="FFFFFF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ctr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03</a:t>
                    </a:r>
                    <a:endParaRPr lang="en-US" sz="1100"/>
                  </a:p>
                </p:txBody>
              </p:sp>
              <p:sp>
                <p:nvSpPr>
                  <p:cNvPr id="23" name="AutoShape 23"/>
                  <p:cNvSpPr/>
                  <p:nvPr/>
                </p:nvSpPr>
                <p:spPr>
                  <a:xfrm flipH="false" flipV="false" rot="5400000">
                    <a:off x="6844162" y="4539386"/>
                    <a:ext cx="285007" cy="245696"/>
                  </a:xfrm>
                  <a:prstGeom prst="triangle">
                    <a:avLst/>
                  </a:prstGeom>
                  <a:solidFill>
                    <a:srgbClr val="77849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24" name="AutoShape 24"/>
                <p:cNvSpPr/>
                <p:nvPr/>
              </p:nvSpPr>
              <p:spPr>
                <a:xfrm flipH="false" flipV="false" rot="0">
                  <a:off x="7798107" y="4222950"/>
                  <a:ext cx="0" cy="878569"/>
                </a:xfrm>
                <a:prstGeom prst="line">
                  <a:avLst/>
                </a:prstGeom>
                <a:ln w="15875">
                  <a:solidFill>
                    <a:srgbClr val="778495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5" name="TextBox 25"/>
                <p:cNvSpPr txBox="true"/>
                <p:nvPr/>
              </p:nvSpPr>
              <p:spPr>
                <a:xfrm flipH="false" flipV="false" rot="0">
                  <a:off x="8569649" y="4332445"/>
                  <a:ext cx="2568249" cy="729568"/>
                </a:xfrm>
                <a:prstGeom prst="roundRect">
                  <a:avLst/>
                </a:prstGeom>
                <a:solidFill>
                  <a:srgbClr val="778495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50400" lIns="108000" rIns="108000" rtlCol="false" tIns="54000" vert="horz" wrap="squar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会议录制</a:t>
                  </a:r>
                  <a:endParaRPr lang="en-US" sz="1100"/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 flipH="false" flipV="false" rot="0">
                <a:off x="1016002" y="5287136"/>
                <a:ext cx="10121896" cy="878569"/>
                <a:chOff x="1016002" y="5287136"/>
                <a:chExt cx="10121896" cy="878569"/>
              </a:xfrm>
            </p:grpSpPr>
            <p:grpSp>
              <p:nvGrpSpPr>
                <p:cNvPr id="27" name="Group 27"/>
                <p:cNvGrpSpPr/>
                <p:nvPr/>
              </p:nvGrpSpPr>
              <p:grpSpPr>
                <a:xfrm flipH="false" flipV="false" rot="0">
                  <a:off x="1016002" y="5287136"/>
                  <a:ext cx="6093512" cy="878569"/>
                  <a:chOff x="1016002" y="5287136"/>
                  <a:chExt cx="6093512" cy="878569"/>
                </a:xfrm>
              </p:grpSpPr>
              <p:sp>
                <p:nvSpPr>
                  <p:cNvPr id="28" name="TextBox 28"/>
                  <p:cNvSpPr txBox="true"/>
                  <p:nvPr/>
                </p:nvSpPr>
                <p:spPr>
                  <a:xfrm flipH="false" flipV="false" rot="0">
                    <a:off x="1016002" y="5287136"/>
                    <a:ext cx="5898485" cy="87856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77849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anchor="ctr" anchorCtr="false" bIns="45720" lIns="972000" rIns="18000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飞书有虚拟背景、美颜等功能；钉钉语音转写准确；企业微信会议室预约系统完善。</a:t>
                    </a:r>
                    <a:endParaRPr lang="en-US" sz="1100"/>
                  </a:p>
                </p:txBody>
              </p:sp>
              <p:sp>
                <p:nvSpPr>
                  <p:cNvPr id="29" name="TextBox 29"/>
                  <p:cNvSpPr txBox="true"/>
                  <p:nvPr/>
                </p:nvSpPr>
                <p:spPr>
                  <a:xfrm flipH="false" flipV="false" rot="0">
                    <a:off x="1114655" y="5372749"/>
                    <a:ext cx="707343" cy="707343"/>
                  </a:xfrm>
                  <a:prstGeom prst="ellipse">
                    <a:avLst/>
                  </a:prstGeom>
                  <a:ln w="12700">
                    <a:solidFill>
                      <a:srgbClr val="FFFFFF">
                        <a:alpha val="100000"/>
                      </a:srgbClr>
                    </a:solidFill>
                    <a:prstDash val="solid"/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ctr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04</a:t>
                    </a:r>
                    <a:endParaRPr lang="en-US" sz="1100"/>
                  </a:p>
                </p:txBody>
              </p:sp>
              <p:sp>
                <p:nvSpPr>
                  <p:cNvPr id="30" name="AutoShape 30"/>
                  <p:cNvSpPr/>
                  <p:nvPr/>
                </p:nvSpPr>
                <p:spPr>
                  <a:xfrm flipH="false" flipV="false" rot="5400000">
                    <a:off x="6844162" y="5603572"/>
                    <a:ext cx="285007" cy="245696"/>
                  </a:xfrm>
                  <a:prstGeom prst="triangle">
                    <a:avLst/>
                  </a:prstGeom>
                  <a:solidFill>
                    <a:srgbClr val="77849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31" name="AutoShape 31"/>
                <p:cNvSpPr/>
                <p:nvPr/>
              </p:nvSpPr>
              <p:spPr>
                <a:xfrm flipH="false" flipV="false" rot="0">
                  <a:off x="7798107" y="5287136"/>
                  <a:ext cx="0" cy="878569"/>
                </a:xfrm>
                <a:prstGeom prst="line">
                  <a:avLst/>
                </a:prstGeom>
                <a:ln w="15875">
                  <a:solidFill>
                    <a:srgbClr val="778495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32" name="TextBox 32"/>
                <p:cNvSpPr txBox="true"/>
                <p:nvPr/>
              </p:nvSpPr>
              <p:spPr>
                <a:xfrm flipH="false" flipV="false" rot="0">
                  <a:off x="8569649" y="5396631"/>
                  <a:ext cx="2568249" cy="729568"/>
                </a:xfrm>
                <a:prstGeom prst="roundRect">
                  <a:avLst/>
                </a:prstGeom>
                <a:solidFill>
                  <a:srgbClr val="778495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50400" lIns="108000" rIns="108000" rtlCol="false" tIns="54000" vert="horz" wrap="squar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会议管理</a:t>
                  </a:r>
                  <a:endParaRPr lang="en-US" sz="1100"/>
                </a:p>
              </p:txBody>
            </p:sp>
          </p:grpSp>
        </p:grpSp>
      </p:grpSp>
      <p:sp>
        <p:nvSpPr>
          <p:cNvPr id="33" name="TextBox 33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视频会议功能对比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f55749d-58bc-43fa-9c5e-7c2ac3c9bf15"/>
          <p:cNvGrpSpPr/>
          <p:nvPr/>
        </p:nvGrpSpPr>
        <p:grpSpPr>
          <a:xfrm flipH="false" flipV="false" rot="0">
            <a:off x="660400" y="1130300"/>
            <a:ext cx="10858502" cy="5003800"/>
            <a:chOff x="660400" y="1130300"/>
            <a:chExt cx="10858502" cy="5003800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30300"/>
              <a:ext cx="10858500" cy="5494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true" i="false" lang="en-US" strike="noStrike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企业管理的助手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 flipH="true" flipV="false" rot="0">
              <a:off x="660400" y="3478971"/>
              <a:ext cx="10858500" cy="0"/>
            </a:xfrm>
            <a:prstGeom prst="line">
              <a:avLst/>
            </a:prstGeom>
            <a:ln w="12700">
              <a:solidFill>
                <a:srgbClr val="3436A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660400" y="1959941"/>
              <a:ext cx="2636129" cy="4174159"/>
              <a:chOff x="660400" y="1959941"/>
              <a:chExt cx="2636129" cy="4174159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660400" y="3683966"/>
                <a:ext cx="26361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审批模板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660400" y="4331966"/>
                <a:ext cx="2636129" cy="180213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钉钉审批流模板库丰富，涵盖多种场景；飞书有常用审批模板；企业微信模板较少。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660400" y="1959941"/>
                <a:ext cx="2636129" cy="1311651"/>
              </a:xfrm>
              <a:prstGeom prst="round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4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3401189" y="1959941"/>
              <a:ext cx="2636130" cy="4174159"/>
              <a:chOff x="3401189" y="1959941"/>
              <a:chExt cx="2636130" cy="4174159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3401190" y="3683966"/>
                <a:ext cx="26361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审批速度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401190" y="4331966"/>
                <a:ext cx="2636129" cy="180213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飞书审批流程简洁高效；钉钉审批流程可配置复杂；企业微信审批速度一般。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3401189" y="1959941"/>
                <a:ext cx="2636130" cy="1311651"/>
              </a:xfrm>
              <a:prstGeom prst="round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4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6141980" y="1959941"/>
              <a:ext cx="2636129" cy="4174159"/>
              <a:chOff x="6141980" y="1959941"/>
              <a:chExt cx="2636129" cy="4174159"/>
            </a:xfrm>
          </p:grpSpPr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6141980" y="3683966"/>
                <a:ext cx="26361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审批提醒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6141980" y="4331966"/>
                <a:ext cx="2636129" cy="180213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飞书、钉钉、企业微信都有审批提醒功能，确保审批及时完成。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6141980" y="1959941"/>
                <a:ext cx="2636129" cy="1311651"/>
              </a:xfrm>
              <a:prstGeom prst="round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4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8882771" y="1959941"/>
              <a:ext cx="2636131" cy="4174159"/>
              <a:chOff x="8882771" y="1959941"/>
              <a:chExt cx="2636131" cy="4174159"/>
            </a:xfrm>
          </p:grpSpPr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8882773" y="3683966"/>
                <a:ext cx="26361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审批历史查看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8882773" y="4331966"/>
                <a:ext cx="2636129" cy="180213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飞书、钉钉、企业微信都能查看审批历史，方便追溯和管理。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8882771" y="1959941"/>
                <a:ext cx="2636131" cy="1311651"/>
              </a:xfrm>
              <a:prstGeom prst="round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4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审批流程功能对比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a723485-1ce4-4d94-8357-a54dcd75db17"/>
          <p:cNvGrpSpPr/>
          <p:nvPr/>
        </p:nvGrpSpPr>
        <p:grpSpPr>
          <a:xfrm flipH="false" flipV="false" rot="0"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399" y="1130300"/>
              <a:ext cx="10858500" cy="63644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扩展性的体现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660400" y="2290434"/>
              <a:ext cx="2579422" cy="3843666"/>
              <a:chOff x="660400" y="2290434"/>
              <a:chExt cx="3500644" cy="3843666"/>
            </a:xfrm>
          </p:grpSpPr>
          <p:grpSp>
            <p:nvGrpSpPr>
              <p:cNvPr id="5" name="Group 5"/>
              <p:cNvGrpSpPr/>
              <p:nvPr/>
            </p:nvGrpSpPr>
            <p:grpSpPr>
              <a:xfrm flipH="false" flipV="false" rot="0">
                <a:off x="926726" y="2290434"/>
                <a:ext cx="2967992" cy="3437266"/>
                <a:chOff x="926726" y="2290434"/>
                <a:chExt cx="2967992" cy="3437266"/>
              </a:xfrm>
            </p:grpSpPr>
            <p:sp>
              <p:nvSpPr>
                <p:cNvPr id="6" name="TextBox 6"/>
                <p:cNvSpPr txBox="true"/>
                <p:nvPr/>
              </p:nvSpPr>
              <p:spPr>
                <a:xfrm flipH="false" flipV="false" rot="0">
                  <a:off x="926726" y="2290434"/>
                  <a:ext cx="2967992" cy="1197834"/>
                </a:xfrm>
                <a:prstGeom prst="roundRect">
                  <a:avLst>
                    <a:gd fmla="val 0" name="adj"/>
                  </a:avLst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none"/>
                <a:lstStyle/>
                <a:p>
                  <a:pPr algn="l">
                    <a:defRPr/>
                  </a:pPr>
                  <a:r>
                    <a:rPr b="true" i="false" lang="en-US" sz="4800">
                      <a:ln/>
                      <a:solidFill>
                        <a:srgbClr val="25B19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  <p:sp>
              <p:nvSpPr>
                <p:cNvPr id="7" name="TextBox 7"/>
                <p:cNvSpPr txBox="true"/>
                <p:nvPr/>
              </p:nvSpPr>
              <p:spPr>
                <a:xfrm flipH="false" flipV="false" rot="0">
                  <a:off x="926727" y="3488268"/>
                  <a:ext cx="2967991" cy="81318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API数量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true"/>
                <p:nvPr/>
              </p:nvSpPr>
              <p:spPr>
                <a:xfrm flipH="false" flipV="false" rot="0">
                  <a:off x="926727" y="4309917"/>
                  <a:ext cx="2967991" cy="141778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飞书开放平台API数量最多，支持自建应用、机器人等；钉钉API数量也较多；企业微信API数量相对较少。</a:t>
                  </a:r>
                  <a:endParaRPr lang="en-US" sz="1100"/>
                </a:p>
              </p:txBody>
            </p:sp>
          </p:grpSp>
          <p:sp>
            <p:nvSpPr>
              <p:cNvPr id="9" name="AutoShape 9"/>
              <p:cNvSpPr/>
              <p:nvPr/>
            </p:nvSpPr>
            <p:spPr>
              <a:xfrm flipH="false" flipV="false" rot="0">
                <a:off x="660400" y="6134100"/>
                <a:ext cx="3500644" cy="0"/>
              </a:xfrm>
              <a:prstGeom prst="line">
                <a:avLst/>
              </a:prstGeom>
              <a:ln w="25400">
                <a:solidFill>
                  <a:srgbClr val="2663F7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0" name="Group 10"/>
            <p:cNvGrpSpPr/>
            <p:nvPr/>
          </p:nvGrpSpPr>
          <p:grpSpPr>
            <a:xfrm flipH="false" flipV="false" rot="0">
              <a:off x="3420093" y="2290434"/>
              <a:ext cx="2579422" cy="3843665"/>
              <a:chOff x="4339328" y="2290434"/>
              <a:chExt cx="3500644" cy="3843665"/>
            </a:xfrm>
          </p:grpSpPr>
          <p:grpSp>
            <p:nvGrpSpPr>
              <p:cNvPr id="11" name="Group 11"/>
              <p:cNvGrpSpPr/>
              <p:nvPr/>
            </p:nvGrpSpPr>
            <p:grpSpPr>
              <a:xfrm flipH="false" flipV="false" rot="0">
                <a:off x="4605654" y="2290434"/>
                <a:ext cx="2967992" cy="3437266"/>
                <a:chOff x="4605654" y="2290434"/>
                <a:chExt cx="2967992" cy="3437266"/>
              </a:xfrm>
            </p:grpSpPr>
            <p:sp>
              <p:nvSpPr>
                <p:cNvPr id="12" name="TextBox 12"/>
                <p:cNvSpPr txBox="true"/>
                <p:nvPr/>
              </p:nvSpPr>
              <p:spPr>
                <a:xfrm flipH="false" flipV="false" rot="0">
                  <a:off x="4605654" y="2290434"/>
                  <a:ext cx="2967992" cy="1197834"/>
                </a:xfrm>
                <a:prstGeom prst="roundRect">
                  <a:avLst>
                    <a:gd fmla="val 0" name="adj"/>
                  </a:avLst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none"/>
                <a:lstStyle/>
                <a:p>
                  <a:pPr algn="l">
                    <a:defRPr/>
                  </a:pPr>
                  <a:r>
                    <a:rPr b="true" i="false" lang="en-US" sz="4800">
                      <a:ln/>
                      <a:solidFill>
                        <a:srgbClr val="25B19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true"/>
                <p:nvPr/>
              </p:nvSpPr>
              <p:spPr>
                <a:xfrm flipH="false" flipV="false" rot="0">
                  <a:off x="4605655" y="3488268"/>
                  <a:ext cx="2967991" cy="81318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API文档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true"/>
                <p:nvPr/>
              </p:nvSpPr>
              <p:spPr>
                <a:xfrm flipH="false" flipV="false" rot="0">
                  <a:off x="4605655" y="4309917"/>
                  <a:ext cx="2967991" cy="141778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飞书API文档详细齐全，便于开发者使用；钉钉API文档较为完善；企业微信API文档一般。</a:t>
                  </a:r>
                  <a:endParaRPr lang="en-US" sz="1100"/>
                </a:p>
              </p:txBody>
            </p:sp>
          </p:grpSp>
          <p:sp>
            <p:nvSpPr>
              <p:cNvPr id="15" name="AutoShape 15"/>
              <p:cNvSpPr/>
              <p:nvPr/>
            </p:nvSpPr>
            <p:spPr>
              <a:xfrm flipH="false" flipV="false" rot="0">
                <a:off x="4339328" y="6134099"/>
                <a:ext cx="3500644" cy="0"/>
              </a:xfrm>
              <a:prstGeom prst="line">
                <a:avLst/>
              </a:prstGeom>
              <a:ln w="25400">
                <a:solidFill>
                  <a:srgbClr val="2663F7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 flipH="false" flipV="false" rot="0">
              <a:off x="6179786" y="2290434"/>
              <a:ext cx="2579422" cy="3843664"/>
              <a:chOff x="8018256" y="2290434"/>
              <a:chExt cx="3500644" cy="3843664"/>
            </a:xfrm>
          </p:grpSpPr>
          <p:grpSp>
            <p:nvGrpSpPr>
              <p:cNvPr id="17" name="Group 17"/>
              <p:cNvGrpSpPr/>
              <p:nvPr/>
            </p:nvGrpSpPr>
            <p:grpSpPr>
              <a:xfrm flipH="false" flipV="false" rot="0">
                <a:off x="8284582" y="2290434"/>
                <a:ext cx="2967992" cy="3437266"/>
                <a:chOff x="8284582" y="2290434"/>
                <a:chExt cx="2967992" cy="3437266"/>
              </a:xfrm>
            </p:grpSpPr>
            <p:sp>
              <p:nvSpPr>
                <p:cNvPr id="18" name="TextBox 18"/>
                <p:cNvSpPr txBox="true"/>
                <p:nvPr/>
              </p:nvSpPr>
              <p:spPr>
                <a:xfrm flipH="false" flipV="false" rot="0">
                  <a:off x="8284582" y="2290434"/>
                  <a:ext cx="2967992" cy="1197834"/>
                </a:xfrm>
                <a:prstGeom prst="roundRect">
                  <a:avLst>
                    <a:gd fmla="val 0" name="adj"/>
                  </a:avLst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none"/>
                <a:lstStyle/>
                <a:p>
                  <a:pPr algn="l">
                    <a:defRPr/>
                  </a:pPr>
                  <a:r>
                    <a:rPr b="true" i="false" lang="en-US" sz="4800">
                      <a:ln/>
                      <a:solidFill>
                        <a:srgbClr val="25B19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true"/>
                <p:nvPr/>
              </p:nvSpPr>
              <p:spPr>
                <a:xfrm flipH="false" flipV="false" rot="0">
                  <a:off x="8284583" y="3488268"/>
                  <a:ext cx="2967991" cy="81318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API调用限制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true"/>
                <p:nvPr/>
              </p:nvSpPr>
              <p:spPr>
                <a:xfrm flipH="false" flipV="false" rot="0">
                  <a:off x="8284583" y="4309917"/>
                  <a:ext cx="2967991" cy="141778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飞书API调用限制相对宽松；钉钉API调用限制根据版本不同有差异；企业微信API调用限制较严格。</a:t>
                  </a:r>
                  <a:endParaRPr lang="en-US" sz="1100"/>
                </a:p>
              </p:txBody>
            </p:sp>
          </p:grpSp>
          <p:sp>
            <p:nvSpPr>
              <p:cNvPr id="21" name="AutoShape 21"/>
              <p:cNvSpPr/>
              <p:nvPr/>
            </p:nvSpPr>
            <p:spPr>
              <a:xfrm flipH="false" flipV="false" rot="0">
                <a:off x="8018256" y="6134098"/>
                <a:ext cx="3500644" cy="0"/>
              </a:xfrm>
              <a:prstGeom prst="line">
                <a:avLst/>
              </a:prstGeom>
              <a:ln w="25400">
                <a:solidFill>
                  <a:srgbClr val="2663F7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 flipH="false" flipV="false" rot="0">
              <a:off x="8939478" y="2290434"/>
              <a:ext cx="2579422" cy="3843664"/>
              <a:chOff x="8018256" y="2290434"/>
              <a:chExt cx="3500644" cy="3843664"/>
            </a:xfrm>
          </p:grpSpPr>
          <p:grpSp>
            <p:nvGrpSpPr>
              <p:cNvPr id="23" name="Group 23"/>
              <p:cNvGrpSpPr/>
              <p:nvPr/>
            </p:nvGrpSpPr>
            <p:grpSpPr>
              <a:xfrm flipH="false" flipV="false" rot="0">
                <a:off x="8284582" y="2290434"/>
                <a:ext cx="2967992" cy="3437266"/>
                <a:chOff x="8284582" y="2290434"/>
                <a:chExt cx="2967992" cy="3437266"/>
              </a:xfrm>
            </p:grpSpPr>
            <p:sp>
              <p:nvSpPr>
                <p:cNvPr id="24" name="TextBox 24"/>
                <p:cNvSpPr txBox="true"/>
                <p:nvPr/>
              </p:nvSpPr>
              <p:spPr>
                <a:xfrm flipH="false" flipV="false" rot="0">
                  <a:off x="8284582" y="2290434"/>
                  <a:ext cx="2967992" cy="1197834"/>
                </a:xfrm>
                <a:prstGeom prst="roundRect">
                  <a:avLst>
                    <a:gd fmla="val 0" name="adj"/>
                  </a:avLst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none"/>
                <a:lstStyle/>
                <a:p>
                  <a:pPr algn="l">
                    <a:defRPr/>
                  </a:pPr>
                  <a:r>
                    <a:rPr b="true" i="false" lang="en-US" sz="4800">
                      <a:ln/>
                      <a:solidFill>
                        <a:srgbClr val="25B19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  <p:sp>
              <p:nvSpPr>
                <p:cNvPr id="25" name="TextBox 25"/>
                <p:cNvSpPr txBox="true"/>
                <p:nvPr/>
              </p:nvSpPr>
              <p:spPr>
                <a:xfrm flipH="false" flipV="false" rot="0">
                  <a:off x="8284583" y="3488268"/>
                  <a:ext cx="2967991" cy="81318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集成案例</a:t>
                  </a:r>
                  <a:endParaRPr lang="en-US" sz="1100"/>
                </a:p>
              </p:txBody>
            </p:sp>
            <p:sp>
              <p:nvSpPr>
                <p:cNvPr id="26" name="TextBox 26"/>
                <p:cNvSpPr txBox="true"/>
                <p:nvPr/>
              </p:nvSpPr>
              <p:spPr>
                <a:xfrm flipH="false" flipV="false" rot="0">
                  <a:off x="8284583" y="4309917"/>
                  <a:ext cx="2967991" cy="141778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飞书有众多集成案例，如与GitHub等集成；钉钉也有丰富的集成案例；企业微信集成案例相对较少。</a:t>
                  </a:r>
                  <a:endParaRPr lang="en-US" sz="1100"/>
                </a:p>
              </p:txBody>
            </p:sp>
          </p:grpSp>
          <p:sp>
            <p:nvSpPr>
              <p:cNvPr id="27" name="AutoShape 27"/>
              <p:cNvSpPr/>
              <p:nvPr/>
            </p:nvSpPr>
            <p:spPr>
              <a:xfrm flipH="false" flipV="false" rot="0">
                <a:off x="8018256" y="6134098"/>
                <a:ext cx="3500644" cy="0"/>
              </a:xfrm>
              <a:prstGeom prst="line">
                <a:avLst/>
              </a:prstGeom>
              <a:ln w="25400">
                <a:solidFill>
                  <a:srgbClr val="2663F7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</p:grpSp>
      <p:sp>
        <p:nvSpPr>
          <p:cNvPr id="28" name="TextBox 28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开放平台与API集成能力对比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215361" y="1754325"/>
            <a:ext cx="9748578" cy="207970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用户体验与生态体系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1215361" y="3913252"/>
            <a:ext cx="9748578" cy="159073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从用户视角和生态层面分析平台优劣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966b2d0-3c44-48da-82a0-ac7b371eba0f"/>
          <p:cNvGrpSpPr/>
          <p:nvPr/>
        </p:nvGrpSpPr>
        <p:grpSpPr>
          <a:xfrm flipH="false" flipV="false" rot="0">
            <a:off x="673099" y="1123952"/>
            <a:ext cx="10845800" cy="4743484"/>
            <a:chOff x="673099" y="1123952"/>
            <a:chExt cx="10845800" cy="4743484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73099" y="1123952"/>
              <a:ext cx="10845800" cy="64272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true" i="false" lang="en-US" strike="noStrike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视觉与操作的体验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1013188" y="3182692"/>
              <a:ext cx="3365080" cy="2684744"/>
              <a:chOff x="2334553" y="2959783"/>
              <a:chExt cx="3365080" cy="2684744"/>
            </a:xfrm>
          </p:grpSpPr>
          <p:sp>
            <p:nvSpPr>
              <p:cNvPr id="5" name="AutoShape 5"/>
              <p:cNvSpPr/>
              <p:nvPr/>
            </p:nvSpPr>
            <p:spPr>
              <a:xfrm flipH="true" flipV="false" rot="0">
                <a:off x="2334553" y="2982209"/>
                <a:ext cx="3365080" cy="2662318"/>
              </a:xfrm>
              <a:prstGeom prst="roundRect">
                <a:avLst>
                  <a:gd fmla="val 19200" name="adj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2739476" y="3206091"/>
                <a:ext cx="2639244" cy="7274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gradFill>
                      <a:gsLst>
                        <a:gs pos="0">
                          <a:srgbClr val="25B19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25B190">
                            <a:alpha val="100000"/>
                          </a:srgbClr>
                        </a:gs>
                      </a:gsLst>
                      <a:lin ang="2700000"/>
                    </a:gradFill>
                    <a:latin typeface="微软雅黑"/>
                    <a:ea typeface="微软雅黑"/>
                    <a:cs typeface="微软雅黑"/>
                  </a:rPr>
                  <a:t>界面风格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2750876" y="3933573"/>
                <a:ext cx="2627844" cy="1287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飞书界面简洁现代，符合年轻用户审美；钉钉界面功能丰富，略显复杂；企业微信界面与微信相似。</a:t>
                </a:r>
                <a:endParaRPr lang="en-US" sz="1100"/>
              </a:p>
            </p:txBody>
          </p:sp>
          <p:sp>
            <p:nvSpPr>
              <p:cNvPr id="8" name="AutoShape 8"/>
              <p:cNvSpPr/>
              <p:nvPr/>
            </p:nvSpPr>
            <p:spPr>
              <a:xfrm flipH="false" flipV="false" rot="0">
                <a:off x="2334553" y="2959783"/>
                <a:ext cx="297924" cy="297924"/>
              </a:xfrm>
              <a:prstGeom prst="ellipse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4489313" y="3182692"/>
              <a:ext cx="3365079" cy="2684744"/>
              <a:chOff x="4861392" y="2959783"/>
              <a:chExt cx="3365079" cy="2684744"/>
            </a:xfrm>
          </p:grpSpPr>
          <p:sp>
            <p:nvSpPr>
              <p:cNvPr id="10" name="AutoShape 10"/>
              <p:cNvSpPr/>
              <p:nvPr/>
            </p:nvSpPr>
            <p:spPr>
              <a:xfrm flipH="true" flipV="false" rot="0">
                <a:off x="4861392" y="2982209"/>
                <a:ext cx="3365079" cy="2662318"/>
              </a:xfrm>
              <a:prstGeom prst="roundRect">
                <a:avLst>
                  <a:gd fmla="val 19200" name="adj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5278079" y="3206091"/>
                <a:ext cx="2478364" cy="7274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gradFill>
                      <a:gsLst>
                        <a:gs pos="0">
                          <a:srgbClr val="3AAC5D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3AAC5D">
                            <a:alpha val="100000"/>
                          </a:srgbClr>
                        </a:gs>
                      </a:gsLst>
                      <a:lin ang="2700000"/>
                    </a:gradFill>
                    <a:latin typeface="微软雅黑"/>
                    <a:ea typeface="微软雅黑"/>
                    <a:cs typeface="微软雅黑"/>
                  </a:rPr>
                  <a:t>操作便捷性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5287440" y="3933573"/>
                <a:ext cx="2469003" cy="1287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飞书操作简单易上手，功能布局合理；钉钉功能多，操作路径较长；企业微信操作与微信类似，用户习惯易迁移。</a:t>
                </a:r>
                <a:endParaRPr lang="en-US" sz="1100"/>
              </a:p>
            </p:txBody>
          </p:sp>
          <p:sp>
            <p:nvSpPr>
              <p:cNvPr id="13" name="AutoShape 13"/>
              <p:cNvSpPr/>
              <p:nvPr/>
            </p:nvSpPr>
            <p:spPr>
              <a:xfrm flipH="false" flipV="false" rot="0">
                <a:off x="4861393" y="2959783"/>
                <a:ext cx="297924" cy="297924"/>
              </a:xfrm>
              <a:prstGeom prst="ellipse">
                <a:avLst/>
              </a:prstGeom>
              <a:gradFill>
                <a:gsLst>
                  <a:gs pos="0">
                    <a:srgbClr val="3AAC5D">
                      <a:alpha val="100000"/>
                      <a:lumMod val="60000"/>
                      <a:lumOff val="40000"/>
                    </a:srgbClr>
                  </a:gs>
                  <a:gs pos="60000">
                    <a:srgbClr val="3AAC5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7965437" y="3182692"/>
              <a:ext cx="3365079" cy="2684744"/>
              <a:chOff x="7388232" y="2959783"/>
              <a:chExt cx="3365079" cy="2684744"/>
            </a:xfrm>
          </p:grpSpPr>
          <p:sp>
            <p:nvSpPr>
              <p:cNvPr id="15" name="AutoShape 15"/>
              <p:cNvSpPr/>
              <p:nvPr/>
            </p:nvSpPr>
            <p:spPr>
              <a:xfrm flipH="true" flipV="false" rot="0">
                <a:off x="7388232" y="2982209"/>
                <a:ext cx="3365079" cy="2662318"/>
              </a:xfrm>
              <a:prstGeom prst="roundRect">
                <a:avLst>
                  <a:gd fmla="val 19200" name="adj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7884846" y="3206090"/>
                <a:ext cx="2461508" cy="7274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个性化设置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7884846" y="3933573"/>
                <a:ext cx="2461508" cy="1287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飞书支持一定程度的个性化设置，如主题颜色；钉钉个性化设置较少；企业微信个性化设置与微信同步。</a:t>
                </a:r>
                <a:endParaRPr lang="en-US" sz="1100"/>
              </a:p>
            </p:txBody>
          </p:sp>
          <p:sp>
            <p:nvSpPr>
              <p:cNvPr id="18" name="AutoShape 18"/>
              <p:cNvSpPr/>
              <p:nvPr/>
            </p:nvSpPr>
            <p:spPr>
              <a:xfrm flipH="true" flipV="false" rot="0">
                <a:off x="7495230" y="2959783"/>
                <a:ext cx="297923" cy="297923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19" name="TextBox 19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界面设计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10a6d17-2007-4c71-a808-80bbbe3a74f8"/>
          <p:cNvGrpSpPr/>
          <p:nvPr/>
        </p:nvGrpSpPr>
        <p:grpSpPr>
          <a:xfrm flipH="false" flipV="false" rot="0">
            <a:off x="660400" y="1130299"/>
            <a:ext cx="10858500" cy="4597402"/>
            <a:chOff x="660400" y="1130299"/>
            <a:chExt cx="10858500" cy="4597402"/>
          </a:xfrm>
        </p:grpSpPr>
        <p:grpSp>
          <p:nvGrpSpPr>
            <p:cNvPr id="3" name="Group 3"/>
            <p:cNvGrpSpPr/>
            <p:nvPr/>
          </p:nvGrpSpPr>
          <p:grpSpPr>
            <a:xfrm flipH="false" flipV="false" rot="0">
              <a:off x="660400" y="2220338"/>
              <a:ext cx="3538127" cy="3507363"/>
              <a:chOff x="660400" y="1887377"/>
              <a:chExt cx="2646159" cy="3507363"/>
            </a:xfrm>
          </p:grpSpPr>
          <p:sp>
            <p:nvSpPr>
              <p:cNvPr id="4" name="AutoShape 4"/>
              <p:cNvSpPr/>
              <p:nvPr/>
            </p:nvSpPr>
            <p:spPr>
              <a:xfrm flipH="false" flipV="false" rot="0">
                <a:off x="660400" y="2094457"/>
                <a:ext cx="2646159" cy="3300283"/>
              </a:xfrm>
              <a:prstGeom prst="roundRect">
                <a:avLst>
                  <a:gd fmla="val 10000" name="adj"/>
                </a:avLst>
              </a:prstGeom>
              <a:solidFill>
                <a:srgbClr val="25B19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TextBox 5"/>
              <p:cNvSpPr txBox="true"/>
              <p:nvPr/>
            </p:nvSpPr>
            <p:spPr>
              <a:xfrm flipH="false" flipV="false" rot="0">
                <a:off x="808493" y="1887377"/>
                <a:ext cx="366048" cy="475728"/>
              </a:xfrm>
              <a:prstGeom prst="round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719994" y="2886297"/>
                <a:ext cx="2526240" cy="23317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飞书组织架构搭建简单灵活，适合扁平化组织；钉钉支持复杂组织架构搭建；企业微信组织架构与微信同步。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719994" y="2438397"/>
                <a:ext cx="2526240" cy="4478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组织架构搭建</a:t>
                </a:r>
                <a:endParaRPr lang="en-US" sz="1100"/>
              </a:p>
            </p:txBody>
          </p:sp>
        </p:grpSp>
        <p:sp>
          <p:nvSpPr>
            <p:cNvPr id="8" name="TextBox 8"/>
            <p:cNvSpPr txBox="true"/>
            <p:nvPr/>
          </p:nvSpPr>
          <p:spPr>
            <a:xfrm flipH="false" flipV="false" rot="0">
              <a:off x="660400" y="1130299"/>
              <a:ext cx="10858500" cy="56438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企业组织的架构搭建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flipH="false" flipV="false" rot="0">
              <a:off x="4320586" y="2220338"/>
              <a:ext cx="3538127" cy="3507363"/>
              <a:chOff x="660400" y="1887377"/>
              <a:chExt cx="2646159" cy="3507363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660400" y="2094457"/>
                <a:ext cx="2646159" cy="3300283"/>
              </a:xfrm>
              <a:prstGeom prst="roundRect">
                <a:avLst>
                  <a:gd fmla="val 10000" name="adj"/>
                </a:avLst>
              </a:prstGeom>
              <a:solidFill>
                <a:srgbClr val="FBB43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808493" y="1887377"/>
                <a:ext cx="366048" cy="475728"/>
              </a:xfrm>
              <a:prstGeom prst="roundRect">
                <a:avLst/>
              </a:prstGeom>
              <a:solidFill>
                <a:srgbClr val="FBB43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719994" y="2886297"/>
                <a:ext cx="2526240" cy="23317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飞书成员管理方便，支持批量导入导出；钉钉成员管理功能强大，可设置多种权限；企业微信成员管理与微信打通。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719994" y="2438397"/>
                <a:ext cx="2526240" cy="4478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成员管理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7980773" y="2220338"/>
              <a:ext cx="3538127" cy="3507363"/>
              <a:chOff x="660400" y="1887377"/>
              <a:chExt cx="2646159" cy="3507363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660400" y="2094457"/>
                <a:ext cx="2646159" cy="3300283"/>
              </a:xfrm>
              <a:prstGeom prst="roundRect">
                <a:avLst>
                  <a:gd fmla="val 10000" name="adj"/>
                </a:avLst>
              </a:prstGeom>
              <a:solidFill>
                <a:srgbClr val="25B19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808493" y="1887377"/>
                <a:ext cx="366048" cy="475728"/>
              </a:xfrm>
              <a:prstGeom prst="round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719994" y="2886297"/>
                <a:ext cx="2526240" cy="23317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飞书部门管理清晰，便于协作；钉钉部门管理可设置多层级；企业微信部门管理与微信企业号类似。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719994" y="2438397"/>
                <a:ext cx="2526240" cy="4478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部门管理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组织管理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b194fd9-beca-4084-a7ad-e1bde95d0479"/>
          <p:cNvGrpSpPr/>
          <p:nvPr/>
        </p:nvGrpSpPr>
        <p:grpSpPr>
          <a:xfrm flipH="false" flipV="false" rot="0">
            <a:off x="660399" y="1243979"/>
            <a:ext cx="10858500" cy="4370041"/>
            <a:chOff x="660399" y="1243979"/>
            <a:chExt cx="10858500" cy="4370041"/>
          </a:xfrm>
        </p:grpSpPr>
        <p:grpSp>
          <p:nvGrpSpPr>
            <p:cNvPr id="3" name="Group 3"/>
            <p:cNvGrpSpPr/>
            <p:nvPr/>
          </p:nvGrpSpPr>
          <p:grpSpPr>
            <a:xfrm flipH="false" flipV="false" rot="0">
              <a:off x="660399" y="2200108"/>
              <a:ext cx="10858500" cy="3413912"/>
              <a:chOff x="732759" y="2200108"/>
              <a:chExt cx="8607369" cy="3413912"/>
            </a:xfrm>
          </p:grpSpPr>
          <p:grpSp>
            <p:nvGrpSpPr>
              <p:cNvPr id="4" name="Group 4"/>
              <p:cNvGrpSpPr/>
              <p:nvPr/>
            </p:nvGrpSpPr>
            <p:grpSpPr>
              <a:xfrm flipH="false" flipV="false" rot="0">
                <a:off x="732759" y="2200108"/>
                <a:ext cx="2073146" cy="3413912"/>
                <a:chOff x="4763055" y="549649"/>
                <a:chExt cx="2574332" cy="4239230"/>
              </a:xfrm>
            </p:grpSpPr>
            <p:sp>
              <p:nvSpPr>
                <p:cNvPr id="5" name="AutoShape 5"/>
                <p:cNvSpPr/>
                <p:nvPr/>
              </p:nvSpPr>
              <p:spPr>
                <a:xfrm flipH="false" flipV="false" rot="0">
                  <a:off x="4841905" y="549649"/>
                  <a:ext cx="2495482" cy="4239230"/>
                </a:xfrm>
                <a:prstGeom prst="flowChartOffpageConnector">
                  <a:avLst/>
                </a:prstGeom>
                <a:solidFill>
                  <a:srgbClr val="25B190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6" name="TextBox 6"/>
                <p:cNvSpPr txBox="true"/>
                <p:nvPr/>
              </p:nvSpPr>
              <p:spPr>
                <a:xfrm flipH="false" flipV="false" rot="0">
                  <a:off x="4962201" y="1862929"/>
                  <a:ext cx="2254896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true" i="false" lang="en-US" strike="noStrike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移动端适配</a:t>
                  </a:r>
                  <a:endParaRPr lang="en-US" sz="1100"/>
                </a:p>
              </p:txBody>
            </p:sp>
            <p:sp>
              <p:nvSpPr>
                <p:cNvPr id="7" name="TextBox 7"/>
                <p:cNvSpPr txBox="true"/>
                <p:nvPr/>
              </p:nvSpPr>
              <p:spPr>
                <a:xfrm flipH="false" flipV="false" rot="0">
                  <a:off x="4962204" y="2975578"/>
                  <a:ext cx="2254897" cy="148762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false" i="false" lang="en-US" strike="noStrike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飞书、钉钉、企业微信在移动端适配良好，支持多种手机系统。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true"/>
                <p:nvPr/>
              </p:nvSpPr>
              <p:spPr>
                <a:xfrm flipH="false" flipV="false" rot="0">
                  <a:off x="4763055" y="759322"/>
                  <a:ext cx="2254901" cy="710913"/>
                </a:xfrm>
                <a:prstGeom prst="homePlate">
                  <a:avLst/>
                </a:prstGeom>
                <a:gradFill>
                  <a:gsLst>
                    <a:gs pos="0">
                      <a:srgbClr val="25B190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25B190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4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 flipH="false" flipV="false" rot="0">
                <a:off x="2896078" y="2200108"/>
                <a:ext cx="2088597" cy="3413912"/>
                <a:chOff x="4743868" y="549649"/>
                <a:chExt cx="2593519" cy="4239230"/>
              </a:xfrm>
            </p:grpSpPr>
            <p:sp>
              <p:nvSpPr>
                <p:cNvPr id="10" name="AutoShape 10"/>
                <p:cNvSpPr/>
                <p:nvPr/>
              </p:nvSpPr>
              <p:spPr>
                <a:xfrm flipH="false" flipV="false" rot="0">
                  <a:off x="4841905" y="549649"/>
                  <a:ext cx="2495482" cy="4239230"/>
                </a:xfrm>
                <a:prstGeom prst="flowChartOffpageConnector">
                  <a:avLst/>
                </a:prstGeom>
                <a:solidFill>
                  <a:srgbClr val="FBB430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TextBox 11"/>
                <p:cNvSpPr txBox="true"/>
                <p:nvPr/>
              </p:nvSpPr>
              <p:spPr>
                <a:xfrm flipH="false" flipV="false" rot="0">
                  <a:off x="4962204" y="1862929"/>
                  <a:ext cx="2254897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true" i="false" lang="en-US" strike="noStrike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桌面端适配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true"/>
                <p:nvPr/>
              </p:nvSpPr>
              <p:spPr>
                <a:xfrm flipH="false" flipV="false" rot="0">
                  <a:off x="4962204" y="2975578"/>
                  <a:ext cx="2254897" cy="148762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false" i="false" lang="en-US" strike="noStrike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飞书、钉钉、企业微信在桌面端都有客户端，提供稳定流畅的体验。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true"/>
                <p:nvPr/>
              </p:nvSpPr>
              <p:spPr>
                <a:xfrm flipH="false" flipV="false" rot="0">
                  <a:off x="4743868" y="759322"/>
                  <a:ext cx="2254900" cy="710913"/>
                </a:xfrm>
                <a:prstGeom prst="homePlate">
                  <a:avLst/>
                </a:prstGeom>
                <a:gradFill>
                  <a:gsLst>
                    <a:gs pos="0">
                      <a:srgbClr val="FBB430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FBB430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4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14" name="Group 14"/>
              <p:cNvGrpSpPr/>
              <p:nvPr/>
            </p:nvGrpSpPr>
            <p:grpSpPr>
              <a:xfrm flipH="false" flipV="false" rot="0">
                <a:off x="5074850" y="2200108"/>
                <a:ext cx="2088597" cy="3413912"/>
                <a:chOff x="4743868" y="549651"/>
                <a:chExt cx="2593519" cy="4239230"/>
              </a:xfrm>
            </p:grpSpPr>
            <p:sp>
              <p:nvSpPr>
                <p:cNvPr id="15" name="AutoShape 15"/>
                <p:cNvSpPr/>
                <p:nvPr/>
              </p:nvSpPr>
              <p:spPr>
                <a:xfrm flipH="false" flipV="false" rot="0">
                  <a:off x="4841905" y="549651"/>
                  <a:ext cx="2495482" cy="4239230"/>
                </a:xfrm>
                <a:prstGeom prst="flowChartOffpageConnector">
                  <a:avLst/>
                </a:prstGeom>
                <a:solidFill>
                  <a:srgbClr val="90BD47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TextBox 16"/>
                <p:cNvSpPr txBox="true"/>
                <p:nvPr/>
              </p:nvSpPr>
              <p:spPr>
                <a:xfrm flipH="false" flipV="false" rot="0">
                  <a:off x="4962204" y="1862929"/>
                  <a:ext cx="2254897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true" i="false" lang="en-US" strike="noStrike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平板端适配</a:t>
                  </a:r>
                  <a:endParaRPr lang="en-US" sz="1100"/>
                </a:p>
              </p:txBody>
            </p:sp>
            <p:sp>
              <p:nvSpPr>
                <p:cNvPr id="17" name="TextBox 17"/>
                <p:cNvSpPr txBox="true"/>
                <p:nvPr/>
              </p:nvSpPr>
              <p:spPr>
                <a:xfrm flipH="false" flipV="false" rot="0">
                  <a:off x="4962204" y="2975578"/>
                  <a:ext cx="2254897" cy="148762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false" i="false" lang="en-US" strike="noStrike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飞书、钉钉、企业微信在平板端适配较好，适合移动办公场景。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true"/>
                <p:nvPr/>
              </p:nvSpPr>
              <p:spPr>
                <a:xfrm flipH="false" flipV="false" rot="0">
                  <a:off x="4743868" y="759322"/>
                  <a:ext cx="2254900" cy="710913"/>
                </a:xfrm>
                <a:prstGeom prst="homePlate">
                  <a:avLst/>
                </a:prstGeom>
                <a:gradFill>
                  <a:gsLst>
                    <a:gs pos="0">
                      <a:srgbClr val="90BD47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90BD47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4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 flipH="false" flipV="false" rot="0">
                <a:off x="7253620" y="2200111"/>
                <a:ext cx="2086508" cy="3413909"/>
                <a:chOff x="4746462" y="549649"/>
                <a:chExt cx="2590925" cy="4239229"/>
              </a:xfrm>
            </p:grpSpPr>
            <p:sp>
              <p:nvSpPr>
                <p:cNvPr id="20" name="AutoShape 20"/>
                <p:cNvSpPr/>
                <p:nvPr/>
              </p:nvSpPr>
              <p:spPr>
                <a:xfrm flipH="false" flipV="false" rot="0">
                  <a:off x="4841905" y="549649"/>
                  <a:ext cx="2495482" cy="4239229"/>
                </a:xfrm>
                <a:prstGeom prst="flowChartOffpageConnector">
                  <a:avLst/>
                </a:prstGeom>
                <a:solidFill>
                  <a:srgbClr val="F97146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TextBox 21"/>
                <p:cNvSpPr txBox="true"/>
                <p:nvPr/>
              </p:nvSpPr>
              <p:spPr>
                <a:xfrm flipH="false" flipV="false" rot="0">
                  <a:off x="4962204" y="1862929"/>
                  <a:ext cx="2254897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true" i="false" lang="en-US" strike="noStrike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浏览器适配</a:t>
                  </a:r>
                  <a:endParaRPr lang="en-US" sz="1100"/>
                </a:p>
              </p:txBody>
            </p:sp>
            <p:sp>
              <p:nvSpPr>
                <p:cNvPr id="22" name="TextBox 22"/>
                <p:cNvSpPr txBox="true"/>
                <p:nvPr/>
              </p:nvSpPr>
              <p:spPr>
                <a:xfrm flipH="false" flipV="false" rot="0">
                  <a:off x="4962204" y="2975579"/>
                  <a:ext cx="2254897" cy="148762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false" i="false" lang="en-US" strike="noStrike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飞书、钉钉、企业微信都支持浏览器访问，方便临时使用。</a:t>
                  </a:r>
                  <a:endParaRPr lang="en-US" sz="1100"/>
                </a:p>
              </p:txBody>
            </p:sp>
            <p:sp>
              <p:nvSpPr>
                <p:cNvPr id="23" name="TextBox 23"/>
                <p:cNvSpPr txBox="true"/>
                <p:nvPr/>
              </p:nvSpPr>
              <p:spPr>
                <a:xfrm flipH="false" flipV="false" rot="0">
                  <a:off x="4746462" y="759318"/>
                  <a:ext cx="2249713" cy="710912"/>
                </a:xfrm>
                <a:prstGeom prst="homePlate">
                  <a:avLst/>
                </a:prstGeom>
                <a:gradFill>
                  <a:gsLst>
                    <a:gs pos="0">
                      <a:srgbClr val="F97146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F97146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4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</p:grpSp>
        </p:grpSp>
        <p:sp>
          <p:nvSpPr>
            <p:cNvPr id="24" name="TextBox 24"/>
            <p:cNvSpPr txBox="true"/>
            <p:nvPr/>
          </p:nvSpPr>
          <p:spPr>
            <a:xfrm flipH="false" flipV="false" rot="0">
              <a:off x="660399" y="1243979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跨设备的办公体验</a:t>
              </a:r>
              <a:endParaRPr lang="en-US" sz="1100"/>
            </a:p>
          </p:txBody>
        </p:sp>
      </p:grpSp>
      <p:sp>
        <p:nvSpPr>
          <p:cNvPr id="25" name="TextBox 25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多端协同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bb69770-032a-4438-84a1-f24019439dfe"/>
          <p:cNvGrpSpPr/>
          <p:nvPr/>
        </p:nvGrpSpPr>
        <p:grpSpPr>
          <a:xfrm flipH="false" flipV="false" rot="0">
            <a:off x="660400" y="1130300"/>
            <a:ext cx="10858500" cy="5003799"/>
            <a:chOff x="660400" y="1130300"/>
            <a:chExt cx="10858500" cy="5003799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4204907" y="2138123"/>
              <a:ext cx="3769488" cy="3769488"/>
            </a:xfrm>
            <a:prstGeom prst="ellipse">
              <a:avLst/>
            </a:prstGeom>
            <a:ln w="254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4699917" y="2633134"/>
              <a:ext cx="2779470" cy="2779468"/>
            </a:xfrm>
            <a:prstGeom prst="ellipse">
              <a:avLst/>
            </a:prstGeom>
            <a:solidFill>
              <a:srgbClr val="25B190">
                <a:alpha val="100000"/>
              </a:srgbClr>
            </a:solidFill>
            <a:ln>
              <a:prstDash val="dash"/>
              <a:headEnd type="none"/>
              <a:tailEnd type="none"/>
            </a:ln>
          </p:spPr>
        </p:sp>
        <p:sp>
          <p:nvSpPr>
            <p:cNvPr id="5" name="TextBox 5"/>
            <p:cNvSpPr txBox="true"/>
            <p:nvPr/>
          </p:nvSpPr>
          <p:spPr>
            <a:xfrm flipH="false" flipV="false" rot="0">
              <a:off x="660400" y="1130300"/>
              <a:ext cx="10858500" cy="5760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保障企业信息安全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flipH="false" flipV="false" rot="0">
              <a:off x="660401" y="2053343"/>
              <a:ext cx="5993265" cy="2447730"/>
              <a:chOff x="660401" y="2053343"/>
              <a:chExt cx="5993265" cy="2447730"/>
            </a:xfrm>
          </p:grpSpPr>
          <p:sp>
            <p:nvSpPr>
              <p:cNvPr id="7" name="AutoShape 7"/>
              <p:cNvSpPr/>
              <p:nvPr/>
            </p:nvSpPr>
            <p:spPr>
              <a:xfrm flipH="false" flipV="false" rot="0">
                <a:off x="5510476" y="3544655"/>
                <a:ext cx="1143190" cy="956418"/>
              </a:xfrm>
              <a:custGeom>
                <a:rect b="b" l="l" r="r" t="t"/>
                <a:pathLst>
                  <a:path h="507154" w="606192">
                    <a:moveTo>
                      <a:pt x="457862" y="267655"/>
                    </a:moveTo>
                    <a:lnTo>
                      <a:pt x="457862" y="443575"/>
                    </a:lnTo>
                    <a:cubicBezTo>
                      <a:pt x="450833" y="440222"/>
                      <a:pt x="443175" y="434459"/>
                      <a:pt x="435621" y="426706"/>
                    </a:cubicBezTo>
                    <a:cubicBezTo>
                      <a:pt x="424605" y="415495"/>
                      <a:pt x="414009" y="400512"/>
                      <a:pt x="404148" y="382176"/>
                    </a:cubicBezTo>
                    <a:cubicBezTo>
                      <a:pt x="395440" y="366145"/>
                      <a:pt x="388096" y="348752"/>
                      <a:pt x="382851" y="331988"/>
                    </a:cubicBezTo>
                    <a:cubicBezTo>
                      <a:pt x="378864" y="319415"/>
                      <a:pt x="376136" y="307156"/>
                      <a:pt x="374877" y="296364"/>
                    </a:cubicBezTo>
                    <a:cubicBezTo>
                      <a:pt x="411911" y="288401"/>
                      <a:pt x="443384" y="274570"/>
                      <a:pt x="457862" y="267655"/>
                    </a:cubicBezTo>
                    <a:close/>
                    <a:moveTo>
                      <a:pt x="452418" y="240010"/>
                    </a:moveTo>
                    <a:cubicBezTo>
                      <a:pt x="442031" y="245353"/>
                      <a:pt x="404783" y="263477"/>
                      <a:pt x="360296" y="271544"/>
                    </a:cubicBezTo>
                    <a:cubicBezTo>
                      <a:pt x="352216" y="273010"/>
                      <a:pt x="346446" y="280344"/>
                      <a:pt x="346865" y="288515"/>
                    </a:cubicBezTo>
                    <a:cubicBezTo>
                      <a:pt x="348334" y="319525"/>
                      <a:pt x="360820" y="359334"/>
                      <a:pt x="380126" y="395058"/>
                    </a:cubicBezTo>
                    <a:cubicBezTo>
                      <a:pt x="402580" y="436440"/>
                      <a:pt x="429230" y="463678"/>
                      <a:pt x="455146" y="471535"/>
                    </a:cubicBezTo>
                    <a:cubicBezTo>
                      <a:pt x="456720" y="472059"/>
                      <a:pt x="458294" y="472268"/>
                      <a:pt x="459973" y="472268"/>
                    </a:cubicBezTo>
                    <a:cubicBezTo>
                      <a:pt x="461547" y="472268"/>
                      <a:pt x="463225" y="472059"/>
                      <a:pt x="464799" y="471535"/>
                    </a:cubicBezTo>
                    <a:cubicBezTo>
                      <a:pt x="490715" y="463678"/>
                      <a:pt x="517366" y="436440"/>
                      <a:pt x="539715" y="395058"/>
                    </a:cubicBezTo>
                    <a:cubicBezTo>
                      <a:pt x="559125" y="359334"/>
                      <a:pt x="571506" y="319525"/>
                      <a:pt x="573080" y="288515"/>
                    </a:cubicBezTo>
                    <a:cubicBezTo>
                      <a:pt x="573500" y="280344"/>
                      <a:pt x="567729" y="273010"/>
                      <a:pt x="559650" y="271544"/>
                    </a:cubicBezTo>
                    <a:cubicBezTo>
                      <a:pt x="515058" y="263477"/>
                      <a:pt x="477915" y="245353"/>
                      <a:pt x="467527" y="240010"/>
                    </a:cubicBezTo>
                    <a:cubicBezTo>
                      <a:pt x="462911" y="237601"/>
                      <a:pt x="457035" y="237601"/>
                      <a:pt x="452418" y="240010"/>
                    </a:cubicBezTo>
                    <a:close/>
                    <a:moveTo>
                      <a:pt x="342144" y="42324"/>
                    </a:moveTo>
                    <a:cubicBezTo>
                      <a:pt x="321894" y="42324"/>
                      <a:pt x="313290" y="49238"/>
                      <a:pt x="301329" y="58667"/>
                    </a:cubicBezTo>
                    <a:cubicBezTo>
                      <a:pt x="288318" y="69038"/>
                      <a:pt x="272160" y="81819"/>
                      <a:pt x="243306" y="81819"/>
                    </a:cubicBezTo>
                    <a:lnTo>
                      <a:pt x="91062" y="81819"/>
                    </a:lnTo>
                    <a:cubicBezTo>
                      <a:pt x="83507" y="81819"/>
                      <a:pt x="75638" y="87057"/>
                      <a:pt x="75638" y="95753"/>
                    </a:cubicBezTo>
                    <a:lnTo>
                      <a:pt x="75638" y="137972"/>
                    </a:lnTo>
                    <a:lnTo>
                      <a:pt x="469941" y="137972"/>
                    </a:lnTo>
                    <a:lnTo>
                      <a:pt x="469941" y="64743"/>
                    </a:lnTo>
                    <a:cubicBezTo>
                      <a:pt x="469941" y="52381"/>
                      <a:pt x="459868" y="42324"/>
                      <a:pt x="447487" y="42324"/>
                    </a:cubicBezTo>
                    <a:close/>
                    <a:moveTo>
                      <a:pt x="342144" y="0"/>
                    </a:moveTo>
                    <a:lnTo>
                      <a:pt x="447487" y="0"/>
                    </a:lnTo>
                    <a:cubicBezTo>
                      <a:pt x="483266" y="0"/>
                      <a:pt x="512330" y="29019"/>
                      <a:pt x="512330" y="64743"/>
                    </a:cubicBezTo>
                    <a:lnTo>
                      <a:pt x="512330" y="138077"/>
                    </a:lnTo>
                    <a:cubicBezTo>
                      <a:pt x="521878" y="138600"/>
                      <a:pt x="530796" y="143000"/>
                      <a:pt x="537092" y="150229"/>
                    </a:cubicBezTo>
                    <a:cubicBezTo>
                      <a:pt x="543702" y="157981"/>
                      <a:pt x="546744" y="168248"/>
                      <a:pt x="545171" y="178305"/>
                    </a:cubicBezTo>
                    <a:lnTo>
                      <a:pt x="537406" y="230896"/>
                    </a:lnTo>
                    <a:cubicBezTo>
                      <a:pt x="545800" y="233306"/>
                      <a:pt x="554719" y="235506"/>
                      <a:pt x="564057" y="237182"/>
                    </a:cubicBezTo>
                    <a:cubicBezTo>
                      <a:pt x="589238" y="241791"/>
                      <a:pt x="607390" y="264629"/>
                      <a:pt x="606131" y="290191"/>
                    </a:cubicBezTo>
                    <a:cubicBezTo>
                      <a:pt x="604347" y="326649"/>
                      <a:pt x="590707" y="370963"/>
                      <a:pt x="568673" y="411716"/>
                    </a:cubicBezTo>
                    <a:cubicBezTo>
                      <a:pt x="541393" y="461897"/>
                      <a:pt x="508447" y="494163"/>
                      <a:pt x="473088" y="504954"/>
                    </a:cubicBezTo>
                    <a:cubicBezTo>
                      <a:pt x="468157" y="506421"/>
                      <a:pt x="463120" y="507154"/>
                      <a:pt x="458084" y="507154"/>
                    </a:cubicBezTo>
                    <a:cubicBezTo>
                      <a:pt x="453048" y="507154"/>
                      <a:pt x="448012" y="506421"/>
                      <a:pt x="443185" y="504954"/>
                    </a:cubicBezTo>
                    <a:cubicBezTo>
                      <a:pt x="434371" y="502335"/>
                      <a:pt x="425663" y="498249"/>
                      <a:pt x="417269" y="493011"/>
                    </a:cubicBezTo>
                    <a:lnTo>
                      <a:pt x="77422" y="493011"/>
                    </a:lnTo>
                    <a:cubicBezTo>
                      <a:pt x="60005" y="493011"/>
                      <a:pt x="45210" y="480230"/>
                      <a:pt x="42587" y="462944"/>
                    </a:cubicBezTo>
                    <a:lnTo>
                      <a:pt x="408" y="178305"/>
                    </a:lnTo>
                    <a:cubicBezTo>
                      <a:pt x="-1166" y="168248"/>
                      <a:pt x="1877" y="157981"/>
                      <a:pt x="8487" y="150229"/>
                    </a:cubicBezTo>
                    <a:cubicBezTo>
                      <a:pt x="14783" y="143000"/>
                      <a:pt x="23701" y="138600"/>
                      <a:pt x="33249" y="138077"/>
                    </a:cubicBezTo>
                    <a:lnTo>
                      <a:pt x="33249" y="95753"/>
                    </a:lnTo>
                    <a:cubicBezTo>
                      <a:pt x="33249" y="64743"/>
                      <a:pt x="59165" y="39495"/>
                      <a:pt x="91062" y="39495"/>
                    </a:cubicBezTo>
                    <a:lnTo>
                      <a:pt x="243306" y="39495"/>
                    </a:lnTo>
                    <a:cubicBezTo>
                      <a:pt x="257366" y="39495"/>
                      <a:pt x="263976" y="34257"/>
                      <a:pt x="274888" y="25562"/>
                    </a:cubicBezTo>
                    <a:cubicBezTo>
                      <a:pt x="288528" y="14771"/>
                      <a:pt x="307099" y="0"/>
                      <a:pt x="342144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4158246" y="2517308"/>
                <a:ext cx="656200" cy="656749"/>
              </a:xfrm>
              <a:prstGeom prst="ellipse">
                <a:avLst/>
              </a:prstGeom>
              <a:solidFill>
                <a:srgbClr val="FBB43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660401" y="2701342"/>
                <a:ext cx="3059999" cy="11039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飞书、钉钉、企业微信都采用多重加密技术，保障数据传输和存储安全。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660401" y="2053343"/>
                <a:ext cx="305999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数据加密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7386017" y="2053345"/>
              <a:ext cx="4108725" cy="1751992"/>
              <a:chOff x="7386017" y="2053345"/>
              <a:chExt cx="4108725" cy="1751992"/>
            </a:xfrm>
          </p:grpSpPr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7386017" y="2502272"/>
                <a:ext cx="656200" cy="656749"/>
              </a:xfrm>
              <a:prstGeom prst="ellipse">
                <a:avLst/>
              </a:prstGeom>
              <a:solidFill>
                <a:srgbClr val="FBB43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8349154" y="2053345"/>
                <a:ext cx="3145588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权限控制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8349152" y="2701344"/>
                <a:ext cx="3145588" cy="11039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飞书、钉钉、企业微信都能灵活设置权限，控制不同用户对数据的访问。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flipH="false" flipV="false" rot="0">
              <a:off x="660400" y="4382107"/>
              <a:ext cx="4154046" cy="1751992"/>
              <a:chOff x="660400" y="4382107"/>
              <a:chExt cx="4154046" cy="1751992"/>
            </a:xfrm>
          </p:grpSpPr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4158246" y="4715631"/>
                <a:ext cx="656200" cy="656749"/>
              </a:xfrm>
              <a:prstGeom prst="ellipse">
                <a:avLst/>
              </a:prstGeom>
              <a:solidFill>
                <a:srgbClr val="FBB43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660400" y="4382107"/>
                <a:ext cx="30600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合规认证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660401" y="5030106"/>
                <a:ext cx="3060000" cy="11039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钉钉在安全合规方面有众多认证，如等保三级等；飞书和企业微信也有相关认证。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flipH="false" flipV="false" rot="0">
              <a:off x="7386017" y="4382107"/>
              <a:ext cx="4132883" cy="1751992"/>
              <a:chOff x="7386017" y="4382107"/>
              <a:chExt cx="4132883" cy="1751992"/>
            </a:xfrm>
          </p:grpSpPr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8458899" y="5030106"/>
                <a:ext cx="3060000" cy="11039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飞书、钉钉、企业微信都支持安全审计，记录用户操作行为，便于追溯。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7386017" y="4715631"/>
                <a:ext cx="656200" cy="656749"/>
              </a:xfrm>
              <a:prstGeom prst="ellipse">
                <a:avLst/>
              </a:prstGeom>
              <a:solidFill>
                <a:srgbClr val="FBB43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8458900" y="4382107"/>
                <a:ext cx="30600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安全审计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安全合规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9209653-1d21-4064-b517-e4f645aec119"/>
          <p:cNvGrpSpPr/>
          <p:nvPr/>
        </p:nvGrpSpPr>
        <p:grpSpPr>
          <a:xfrm flipH="false" flipV="false" rot="0">
            <a:off x="0" y="1035235"/>
            <a:ext cx="12192000" cy="5200465"/>
            <a:chOff x="0" y="1035235"/>
            <a:chExt cx="12192000" cy="5200465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0" y="2996554"/>
              <a:ext cx="12192000" cy="3239146"/>
            </a:xfrm>
            <a:prstGeom prst="rect">
              <a:avLst/>
            </a:prstGeom>
            <a:solidFill>
              <a:srgbClr val="E1E6D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true"/>
            <p:nvPr/>
          </p:nvSpPr>
          <p:spPr>
            <a:xfrm flipH="false" flipV="false" rot="0">
              <a:off x="3594100" y="1035235"/>
              <a:ext cx="5003800" cy="91875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周边应用的丰富程度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2252152" y="2366290"/>
              <a:ext cx="2376675" cy="3678623"/>
              <a:chOff x="2252152" y="2366290"/>
              <a:chExt cx="2376675" cy="3678623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2774196" y="2366290"/>
                <a:ext cx="918752" cy="630264"/>
              </a:xfrm>
              <a:prstGeom prst="round2Same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2252153" y="3129660"/>
                <a:ext cx="2376674" cy="6302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应用市场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2252152" y="3759924"/>
                <a:ext cx="2376673" cy="2284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钉钉应用市场应用数量众多，涵盖多种场景；飞书应用市场在发展中；企业微信应用市场与微信小程序打通。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5697188" y="2366290"/>
              <a:ext cx="2376675" cy="3678623"/>
              <a:chOff x="2252152" y="2366290"/>
              <a:chExt cx="2376675" cy="3678623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2774196" y="2366290"/>
                <a:ext cx="918752" cy="630264"/>
              </a:xfrm>
              <a:prstGeom prst="round2Same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2252153" y="3129660"/>
                <a:ext cx="2376674" cy="6302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合作伙伴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2252152" y="3759924"/>
                <a:ext cx="2376673" cy="2284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飞书、钉钉、企业微信都有众多合作伙伴，共同为企业提供解决方案。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9142224" y="2366290"/>
              <a:ext cx="2376675" cy="3678623"/>
              <a:chOff x="2252152" y="2366290"/>
              <a:chExt cx="2376675" cy="3678623"/>
            </a:xfrm>
          </p:grpSpPr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2774196" y="2366290"/>
                <a:ext cx="918752" cy="630264"/>
              </a:xfrm>
              <a:prstGeom prst="round2Same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2252153" y="3129660"/>
                <a:ext cx="2376674" cy="6302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生态系统完善度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2252152" y="3759924"/>
                <a:ext cx="2376673" cy="2284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钉钉生态系统最为完善，涵盖办公、管理、业务等多方面；飞书和企业微信生态系统在不断完善。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生态体系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215361" y="1754325"/>
            <a:ext cx="9748578" cy="207970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目标客群与商业化策略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1215361" y="3913252"/>
            <a:ext cx="9748578" cy="159073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明确平台服务对象与盈利方式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081a2e2-6d0f-4219-b172-6e13d5f98058"/>
          <p:cNvGrpSpPr/>
          <p:nvPr/>
        </p:nvGrpSpPr>
        <p:grpSpPr>
          <a:xfrm flipH="false" flipV="false" rot="0">
            <a:off x="660400" y="1150137"/>
            <a:ext cx="10858500" cy="4513493"/>
            <a:chOff x="660400" y="1150137"/>
            <a:chExt cx="10858500" cy="4513493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50137"/>
              <a:ext cx="10858500" cy="66737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true" i="false" lang="en-US" strike="noStrike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灵活协作的需求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1002894" y="2376829"/>
              <a:ext cx="3120417" cy="3286801"/>
              <a:chOff x="660399" y="2376829"/>
              <a:chExt cx="1942591" cy="3286801"/>
            </a:xfrm>
          </p:grpSpPr>
          <p:sp>
            <p:nvSpPr>
              <p:cNvPr id="5" name="AutoShape 5"/>
              <p:cNvSpPr/>
              <p:nvPr/>
            </p:nvSpPr>
            <p:spPr>
              <a:xfrm flipH="false" flipV="false" rot="0">
                <a:off x="660399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25B190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013045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6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726658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5B19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需求特点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26658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中小企业注重效率、成本控制和灵活性，希望快速实现数字化办公。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4529441" y="2376829"/>
              <a:ext cx="3120417" cy="3286801"/>
              <a:chOff x="2889377" y="2376829"/>
              <a:chExt cx="1942591" cy="3286801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2889377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FBB430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242023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60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2955636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BB43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服务优势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2955636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飞书免费版功能强大，适合中小企业；钉钉提供丰富的模板和工具；企业微信与微信生态结合。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8055990" y="2376829"/>
              <a:ext cx="3120417" cy="3286801"/>
              <a:chOff x="5118355" y="2376829"/>
              <a:chExt cx="1942591" cy="3286801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5118355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90BD47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5471001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90BD47">
                      <a:alpha val="100000"/>
                      <a:lumMod val="60000"/>
                      <a:lumOff val="40000"/>
                    </a:srgbClr>
                  </a:gs>
                  <a:gs pos="60000">
                    <a:srgbClr val="90BD4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5184614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90BD47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成功案例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5184614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某电商公司使用飞书提升协作效率；某制造企业用钉钉实现数字化管理；某教育机构用企业微信开展营销。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中小企业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592e89-b1f7-4d52-b6b1-3a66f710108b"/>
          <p:cNvGrpSpPr/>
          <p:nvPr/>
        </p:nvGrpSpPr>
        <p:grpSpPr>
          <a:xfrm flipH="false" flipV="false" rot="0">
            <a:off x="660400" y="1243980"/>
            <a:ext cx="10858500" cy="4370041"/>
            <a:chOff x="660400" y="1243980"/>
            <a:chExt cx="10858500" cy="4370041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767621" y="2200109"/>
              <a:ext cx="3393377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660400" y="2368962"/>
              <a:ext cx="3337032" cy="2982789"/>
              <a:chOff x="660400" y="2368962"/>
              <a:chExt cx="3337032" cy="2982789"/>
            </a:xfrm>
          </p:grpSpPr>
          <p:sp>
            <p:nvSpPr>
              <p:cNvPr id="5" name="TextBox 5"/>
              <p:cNvSpPr txBox="true"/>
              <p:nvPr/>
            </p:nvSpPr>
            <p:spPr>
              <a:xfrm flipH="false" flipV="false" rot="0">
                <a:off x="931200" y="3257712"/>
                <a:ext cx="3066226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24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需求特点</a:t>
                </a:r>
                <a:endParaRPr lang="en-US" sz="1100"/>
              </a:p>
            </p:txBody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931204" y="4153744"/>
                <a:ext cx="3066228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大型集团需要复杂组织架构管理、多部门协同和数据安全。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660400" y="2368962"/>
                <a:ext cx="3066233" cy="572508"/>
              </a:xfrm>
              <a:prstGeom prst="homePlate">
                <a:avLst/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75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8" name="AutoShape 8"/>
            <p:cNvSpPr/>
            <p:nvPr/>
          </p:nvSpPr>
          <p:spPr>
            <a:xfrm flipH="false" flipV="false" rot="0">
              <a:off x="4446571" y="2200109"/>
              <a:ext cx="339337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flipH="false" flipV="false" rot="0">
              <a:off x="4313259" y="2368962"/>
              <a:ext cx="3363122" cy="2982789"/>
              <a:chOff x="4313259" y="2368962"/>
              <a:chExt cx="3363122" cy="2982789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4610154" y="3257712"/>
                <a:ext cx="3066227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24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服务优势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4610154" y="4153744"/>
                <a:ext cx="3066227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钉钉支持复杂组织架构搭建和低代码开发；企业微信有分级管理员权限；飞书提供一站式协作解决方案。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4313259" y="2368962"/>
                <a:ext cx="3066231" cy="572508"/>
              </a:xfrm>
              <a:prstGeom prst="homePlate">
                <a:avLst/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75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3" name="AutoShape 13"/>
            <p:cNvSpPr/>
            <p:nvPr/>
          </p:nvSpPr>
          <p:spPr>
            <a:xfrm flipH="false" flipV="false" rot="0">
              <a:off x="8125524" y="2200109"/>
              <a:ext cx="339337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 flipH="false" flipV="false" rot="0">
              <a:off x="7992212" y="2368960"/>
              <a:ext cx="3363122" cy="2982789"/>
              <a:chOff x="7992212" y="2368960"/>
              <a:chExt cx="3363122" cy="2982789"/>
            </a:xfrm>
          </p:grpSpPr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8289107" y="3257710"/>
                <a:ext cx="3066227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24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成功案例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8289107" y="4153742"/>
                <a:ext cx="3066227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某500强子公司使用企业微信实现组织同步；某大型制造企业用钉钉实现数字化转型。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7992212" y="2368960"/>
                <a:ext cx="3066231" cy="572508"/>
              </a:xfrm>
              <a:prstGeom prst="homePlate">
                <a:avLst/>
              </a:prstGeom>
              <a:gradFill>
                <a:gsLst>
                  <a:gs pos="0">
                    <a:srgbClr val="90BD47">
                      <a:alpha val="100000"/>
                      <a:lumMod val="60000"/>
                      <a:lumOff val="40000"/>
                    </a:srgbClr>
                  </a:gs>
                  <a:gs pos="75000">
                    <a:srgbClr val="90BD4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8" name="TextBox 18"/>
            <p:cNvSpPr txBox="true"/>
            <p:nvPr/>
          </p:nvSpPr>
          <p:spPr>
            <a:xfrm flipH="false" flipV="false" rot="0">
              <a:off x="660400" y="1243980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复杂管理的挑战</a:t>
              </a:r>
              <a:endParaRPr lang="en-US" sz="1100"/>
            </a:p>
          </p:txBody>
        </p:sp>
      </p:grpSp>
      <p:sp>
        <p:nvSpPr>
          <p:cNvPr id="19" name="TextBox 19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大型集团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7acb6fa-ee14-42fa-9860-5394903819bc"/>
          <p:cNvGrpSpPr/>
          <p:nvPr/>
        </p:nvGrpSpPr>
        <p:grpSpPr>
          <a:xfrm flipH="false" flipV="false" rot="0">
            <a:off x="673101" y="1130300"/>
            <a:ext cx="10861600" cy="5013325"/>
            <a:chOff x="673101" y="1130300"/>
            <a:chExt cx="10861600" cy="5013325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7986000" y="4869000"/>
              <a:ext cx="0" cy="1274625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4193850" y="4869000"/>
              <a:ext cx="0" cy="1274625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true"/>
            <p:nvPr/>
          </p:nvSpPr>
          <p:spPr>
            <a:xfrm flipH="false" flipV="false" rot="0">
              <a:off x="673101" y="1130300"/>
              <a:ext cx="10845798" cy="6549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远程协作的难题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flipH="false" flipV="false" rot="0">
              <a:off x="695238" y="1821181"/>
              <a:ext cx="3333640" cy="4312919"/>
              <a:chOff x="695238" y="1821181"/>
              <a:chExt cx="3333640" cy="4312919"/>
            </a:xfrm>
          </p:grpSpPr>
          <p:grpSp>
            <p:nvGrpSpPr>
              <p:cNvPr id="7" name="Group 7"/>
              <p:cNvGrpSpPr/>
              <p:nvPr/>
            </p:nvGrpSpPr>
            <p:grpSpPr>
              <a:xfrm flipH="false" flipV="false" rot="0">
                <a:off x="695238" y="4526279"/>
                <a:ext cx="3333640" cy="1607821"/>
                <a:chOff x="695238" y="4526279"/>
                <a:chExt cx="3333640" cy="1607821"/>
              </a:xfrm>
            </p:grpSpPr>
            <p:sp>
              <p:nvSpPr>
                <p:cNvPr id="8" name="TextBox 8"/>
                <p:cNvSpPr txBox="true"/>
                <p:nvPr/>
              </p:nvSpPr>
              <p:spPr>
                <a:xfrm flipH="false" flipV="false" rot="0">
                  <a:off x="695238" y="5210663"/>
                  <a:ext cx="3333640" cy="92343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tru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跨地域组织需要高效的远程沟通和协作，保障信息及时传达。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true"/>
                <p:nvPr/>
              </p:nvSpPr>
              <p:spPr>
                <a:xfrm flipH="false" flipV="false" rot="0">
                  <a:off x="695238" y="4526279"/>
                  <a:ext cx="3333640" cy="68438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true" bIns="45720" lIns="91440" rIns="91440" rtlCol="false" tIns="45720" vert="horz" wrap="square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需求特点</a:t>
                  </a:r>
                  <a:endParaRPr lang="en-US" sz="1100"/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 flipH="false" flipV="false" rot="0">
                <a:off x="1706893" y="1821181"/>
                <a:ext cx="1310331" cy="2623958"/>
                <a:chOff x="1706893" y="1821181"/>
                <a:chExt cx="1310331" cy="2623958"/>
              </a:xfrm>
            </p:grpSpPr>
            <p:sp>
              <p:nvSpPr>
                <p:cNvPr id="11" name="TextBox 11"/>
                <p:cNvSpPr txBox="true"/>
                <p:nvPr/>
              </p:nvSpPr>
              <p:spPr>
                <a:xfrm flipH="false" flipV="false" rot="0">
                  <a:off x="1857519" y="1821181"/>
                  <a:ext cx="982370" cy="60734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4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  <p:grpSp>
              <p:nvGrpSpPr>
                <p:cNvPr id="12" name="Group 12"/>
                <p:cNvGrpSpPr/>
                <p:nvPr/>
              </p:nvGrpSpPr>
              <p:grpSpPr>
                <a:xfrm flipH="false" flipV="false" rot="0">
                  <a:off x="1706893" y="2477994"/>
                  <a:ext cx="1310331" cy="1967145"/>
                  <a:chOff x="1706893" y="2477994"/>
                  <a:chExt cx="1310331" cy="1967145"/>
                </a:xfrm>
              </p:grpSpPr>
              <p:sp>
                <p:nvSpPr>
                  <p:cNvPr id="13" name="AutoShape 13"/>
                  <p:cNvSpPr/>
                  <p:nvPr/>
                </p:nvSpPr>
                <p:spPr>
                  <a:xfrm flipH="false" flipV="false" rot="0">
                    <a:off x="1753609" y="3922253"/>
                    <a:ext cx="1216897" cy="522886"/>
                  </a:xfrm>
                  <a:prstGeom prst="ellipse">
                    <a:avLst/>
                  </a:prstGeom>
                  <a:solidFill>
                    <a:srgbClr val="778495">
                      <a:alpha val="14901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4" name="Group 14"/>
                  <p:cNvGrpSpPr/>
                  <p:nvPr/>
                </p:nvGrpSpPr>
                <p:grpSpPr>
                  <a:xfrm flipH="false" flipV="false" rot="0">
                    <a:off x="1706893" y="2477994"/>
                    <a:ext cx="1310331" cy="1581710"/>
                    <a:chOff x="1706893" y="2477994"/>
                    <a:chExt cx="1310331" cy="1581710"/>
                  </a:xfrm>
                </p:grpSpPr>
                <p:sp>
                  <p:nvSpPr>
                    <p:cNvPr id="15" name="AutoShape 15"/>
                    <p:cNvSpPr/>
                    <p:nvPr/>
                  </p:nvSpPr>
                  <p:spPr>
                    <a:xfrm flipH="false" flipV="false" rot="0">
                      <a:off x="1706893" y="2477994"/>
                      <a:ext cx="1310331" cy="1581710"/>
                    </a:xfrm>
                    <a:custGeom>
                      <a:rect b="b" l="l" r="r" t="t"/>
                      <a:pathLst>
                        <a:path h="1581710" w="1310331">
                          <a:moveTo>
                            <a:pt x="655167" y="1"/>
                          </a:moveTo>
                          <a:cubicBezTo>
                            <a:pt x="822838" y="0"/>
                            <a:pt x="990509" y="63965"/>
                            <a:pt x="1118438" y="191894"/>
                          </a:cubicBezTo>
                          <a:cubicBezTo>
                            <a:pt x="1374297" y="447752"/>
                            <a:pt x="1374296" y="862580"/>
                            <a:pt x="1118438" y="1118438"/>
                          </a:cubicBezTo>
                          <a:lnTo>
                            <a:pt x="655165" y="1581710"/>
                          </a:lnTo>
                          <a:lnTo>
                            <a:pt x="191894" y="1118438"/>
                          </a:lnTo>
                          <a:cubicBezTo>
                            <a:pt x="-63964" y="862580"/>
                            <a:pt x="-63964" y="447753"/>
                            <a:pt x="191894" y="191895"/>
                          </a:cubicBezTo>
                          <a:cubicBezTo>
                            <a:pt x="319824" y="63966"/>
                            <a:pt x="487495" y="1"/>
                            <a:pt x="655167" y="1"/>
                          </a:cubicBezTo>
                          <a:close/>
                        </a:path>
                      </a:pathLst>
                    </a:custGeom>
                    <a:solidFill>
                      <a:srgbClr val="25B190">
                        <a:alpha val="100000"/>
                      </a:srgbClr>
                    </a:solidFill>
                    <a:ln w="6350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6" name="AutoShape 16"/>
                    <p:cNvSpPr/>
                    <p:nvPr/>
                  </p:nvSpPr>
                  <p:spPr>
                    <a:xfrm flipH="false" flipV="false" rot="0">
                      <a:off x="2127210" y="2957089"/>
                      <a:ext cx="469694" cy="380174"/>
                    </a:xfrm>
                    <a:custGeom>
                      <a:rect b="b" l="l" r="r" t="t"/>
                      <a:pathLst>
                        <a:path h="491771" w="607568">
                          <a:moveTo>
                            <a:pt x="355420" y="250307"/>
                          </a:moveTo>
                          <a:cubicBezTo>
                            <a:pt x="354290" y="250307"/>
                            <a:pt x="353160" y="250871"/>
                            <a:pt x="352312" y="251812"/>
                          </a:cubicBezTo>
                          <a:lnTo>
                            <a:pt x="321042" y="289814"/>
                          </a:lnTo>
                          <a:cubicBezTo>
                            <a:pt x="319723" y="291507"/>
                            <a:pt x="319912" y="293953"/>
                            <a:pt x="321513" y="295364"/>
                          </a:cubicBezTo>
                          <a:lnTo>
                            <a:pt x="369736" y="338257"/>
                          </a:lnTo>
                          <a:cubicBezTo>
                            <a:pt x="370396" y="338822"/>
                            <a:pt x="371149" y="339104"/>
                            <a:pt x="371997" y="339104"/>
                          </a:cubicBezTo>
                          <a:cubicBezTo>
                            <a:pt x="372374" y="339104"/>
                            <a:pt x="372750" y="339010"/>
                            <a:pt x="373127" y="338916"/>
                          </a:cubicBezTo>
                          <a:cubicBezTo>
                            <a:pt x="374257" y="338539"/>
                            <a:pt x="375105" y="337505"/>
                            <a:pt x="375293" y="336282"/>
                          </a:cubicBezTo>
                          <a:lnTo>
                            <a:pt x="383676" y="279467"/>
                          </a:lnTo>
                          <a:cubicBezTo>
                            <a:pt x="384618" y="273164"/>
                            <a:pt x="381792" y="266768"/>
                            <a:pt x="376424" y="263287"/>
                          </a:cubicBezTo>
                          <a:lnTo>
                            <a:pt x="357681" y="250965"/>
                          </a:lnTo>
                          <a:cubicBezTo>
                            <a:pt x="357021" y="250495"/>
                            <a:pt x="356174" y="250307"/>
                            <a:pt x="355420" y="250307"/>
                          </a:cubicBezTo>
                          <a:close/>
                          <a:moveTo>
                            <a:pt x="258879" y="250307"/>
                          </a:moveTo>
                          <a:cubicBezTo>
                            <a:pt x="258125" y="250307"/>
                            <a:pt x="257372" y="250495"/>
                            <a:pt x="256712" y="250965"/>
                          </a:cubicBezTo>
                          <a:lnTo>
                            <a:pt x="237969" y="263287"/>
                          </a:lnTo>
                          <a:cubicBezTo>
                            <a:pt x="232601" y="266768"/>
                            <a:pt x="229775" y="273164"/>
                            <a:pt x="230717" y="279467"/>
                          </a:cubicBezTo>
                          <a:lnTo>
                            <a:pt x="239100" y="336282"/>
                          </a:lnTo>
                          <a:cubicBezTo>
                            <a:pt x="239288" y="337505"/>
                            <a:pt x="240136" y="338539"/>
                            <a:pt x="241266" y="338916"/>
                          </a:cubicBezTo>
                          <a:cubicBezTo>
                            <a:pt x="241643" y="339010"/>
                            <a:pt x="242019" y="339104"/>
                            <a:pt x="242396" y="339104"/>
                          </a:cubicBezTo>
                          <a:cubicBezTo>
                            <a:pt x="243244" y="339104"/>
                            <a:pt x="243997" y="338822"/>
                            <a:pt x="244657" y="338257"/>
                          </a:cubicBezTo>
                          <a:lnTo>
                            <a:pt x="292880" y="295364"/>
                          </a:lnTo>
                          <a:cubicBezTo>
                            <a:pt x="294481" y="293953"/>
                            <a:pt x="294670" y="291507"/>
                            <a:pt x="293351" y="289814"/>
                          </a:cubicBezTo>
                          <a:lnTo>
                            <a:pt x="261987" y="251812"/>
                          </a:lnTo>
                          <a:cubicBezTo>
                            <a:pt x="261233" y="250871"/>
                            <a:pt x="260103" y="250307"/>
                            <a:pt x="258879" y="250307"/>
                          </a:cubicBezTo>
                          <a:close/>
                          <a:moveTo>
                            <a:pt x="500465" y="66049"/>
                          </a:moveTo>
                          <a:cubicBezTo>
                            <a:pt x="548129" y="66049"/>
                            <a:pt x="562447" y="93516"/>
                            <a:pt x="565743" y="130673"/>
                          </a:cubicBezTo>
                          <a:cubicBezTo>
                            <a:pt x="565932" y="130673"/>
                            <a:pt x="566026" y="130673"/>
                            <a:pt x="566120" y="130673"/>
                          </a:cubicBezTo>
                          <a:cubicBezTo>
                            <a:pt x="577141" y="133118"/>
                            <a:pt x="583358" y="146664"/>
                            <a:pt x="580250" y="160962"/>
                          </a:cubicBezTo>
                          <a:cubicBezTo>
                            <a:pt x="577706" y="172532"/>
                            <a:pt x="569700" y="180904"/>
                            <a:pt x="560939" y="182503"/>
                          </a:cubicBezTo>
                          <a:cubicBezTo>
                            <a:pt x="554628" y="199529"/>
                            <a:pt x="543796" y="214016"/>
                            <a:pt x="531927" y="223799"/>
                          </a:cubicBezTo>
                          <a:cubicBezTo>
                            <a:pt x="528913" y="226338"/>
                            <a:pt x="527500" y="230383"/>
                            <a:pt x="528253" y="234240"/>
                          </a:cubicBezTo>
                          <a:lnTo>
                            <a:pt x="530797" y="246281"/>
                          </a:lnTo>
                          <a:cubicBezTo>
                            <a:pt x="532304" y="253806"/>
                            <a:pt x="538238" y="259732"/>
                            <a:pt x="545868" y="261143"/>
                          </a:cubicBezTo>
                          <a:lnTo>
                            <a:pt x="558961" y="263777"/>
                          </a:lnTo>
                          <a:cubicBezTo>
                            <a:pt x="578366" y="267634"/>
                            <a:pt x="593437" y="282684"/>
                            <a:pt x="597299" y="301968"/>
                          </a:cubicBezTo>
                          <a:lnTo>
                            <a:pt x="607002" y="350788"/>
                          </a:lnTo>
                          <a:cubicBezTo>
                            <a:pt x="608697" y="358972"/>
                            <a:pt x="606531" y="367438"/>
                            <a:pt x="601256" y="373835"/>
                          </a:cubicBezTo>
                          <a:cubicBezTo>
                            <a:pt x="595981" y="380325"/>
                            <a:pt x="588068" y="384088"/>
                            <a:pt x="579685" y="384088"/>
                          </a:cubicBezTo>
                          <a:lnTo>
                            <a:pt x="490386" y="384088"/>
                          </a:lnTo>
                          <a:lnTo>
                            <a:pt x="467685" y="310058"/>
                          </a:lnTo>
                          <a:cubicBezTo>
                            <a:pt x="461845" y="291150"/>
                            <a:pt x="448563" y="276194"/>
                            <a:pt x="431702" y="267445"/>
                          </a:cubicBezTo>
                          <a:cubicBezTo>
                            <a:pt x="434999" y="265940"/>
                            <a:pt x="438295" y="264529"/>
                            <a:pt x="441969" y="263777"/>
                          </a:cubicBezTo>
                          <a:lnTo>
                            <a:pt x="455157" y="261237"/>
                          </a:lnTo>
                          <a:cubicBezTo>
                            <a:pt x="462692" y="259732"/>
                            <a:pt x="468627" y="253806"/>
                            <a:pt x="470228" y="246281"/>
                          </a:cubicBezTo>
                          <a:lnTo>
                            <a:pt x="472677" y="234240"/>
                          </a:lnTo>
                          <a:cubicBezTo>
                            <a:pt x="473525" y="230383"/>
                            <a:pt x="472112" y="226338"/>
                            <a:pt x="469098" y="223893"/>
                          </a:cubicBezTo>
                          <a:cubicBezTo>
                            <a:pt x="457229" y="214016"/>
                            <a:pt x="446302" y="199529"/>
                            <a:pt x="439991" y="182503"/>
                          </a:cubicBezTo>
                          <a:cubicBezTo>
                            <a:pt x="434716" y="181563"/>
                            <a:pt x="429818" y="177894"/>
                            <a:pt x="426144" y="172720"/>
                          </a:cubicBezTo>
                          <a:cubicBezTo>
                            <a:pt x="433303" y="164725"/>
                            <a:pt x="438861" y="154754"/>
                            <a:pt x="441404" y="143278"/>
                          </a:cubicBezTo>
                          <a:cubicBezTo>
                            <a:pt x="444324" y="130485"/>
                            <a:pt x="443476" y="118068"/>
                            <a:pt x="439708" y="107438"/>
                          </a:cubicBezTo>
                          <a:cubicBezTo>
                            <a:pt x="447244" y="82699"/>
                            <a:pt x="464200" y="66049"/>
                            <a:pt x="500465" y="66049"/>
                          </a:cubicBezTo>
                          <a:close/>
                          <a:moveTo>
                            <a:pt x="107100" y="66049"/>
                          </a:moveTo>
                          <a:cubicBezTo>
                            <a:pt x="151561" y="66049"/>
                            <a:pt x="166820" y="90130"/>
                            <a:pt x="171341" y="123618"/>
                          </a:cubicBezTo>
                          <a:cubicBezTo>
                            <a:pt x="170965" y="129920"/>
                            <a:pt x="171436" y="136505"/>
                            <a:pt x="172849" y="143278"/>
                          </a:cubicBezTo>
                          <a:cubicBezTo>
                            <a:pt x="174921" y="152590"/>
                            <a:pt x="178971" y="161056"/>
                            <a:pt x="184246" y="168205"/>
                          </a:cubicBezTo>
                          <a:cubicBezTo>
                            <a:pt x="180573" y="175919"/>
                            <a:pt x="174356" y="181281"/>
                            <a:pt x="167574" y="182503"/>
                          </a:cubicBezTo>
                          <a:cubicBezTo>
                            <a:pt x="161263" y="199529"/>
                            <a:pt x="150336" y="214016"/>
                            <a:pt x="138468" y="223799"/>
                          </a:cubicBezTo>
                          <a:cubicBezTo>
                            <a:pt x="135453" y="226338"/>
                            <a:pt x="134040" y="230383"/>
                            <a:pt x="134794" y="234240"/>
                          </a:cubicBezTo>
                          <a:lnTo>
                            <a:pt x="137337" y="246281"/>
                          </a:lnTo>
                          <a:cubicBezTo>
                            <a:pt x="138939" y="253806"/>
                            <a:pt x="144873" y="259732"/>
                            <a:pt x="152408" y="261143"/>
                          </a:cubicBezTo>
                          <a:lnTo>
                            <a:pt x="165596" y="263777"/>
                          </a:lnTo>
                          <a:cubicBezTo>
                            <a:pt x="170494" y="264812"/>
                            <a:pt x="175203" y="266505"/>
                            <a:pt x="179442" y="268856"/>
                          </a:cubicBezTo>
                          <a:cubicBezTo>
                            <a:pt x="164088" y="277793"/>
                            <a:pt x="152126" y="292279"/>
                            <a:pt x="146662" y="310058"/>
                          </a:cubicBezTo>
                          <a:lnTo>
                            <a:pt x="123867" y="384088"/>
                          </a:lnTo>
                          <a:lnTo>
                            <a:pt x="27883" y="384088"/>
                          </a:lnTo>
                          <a:cubicBezTo>
                            <a:pt x="19499" y="384088"/>
                            <a:pt x="11587" y="380325"/>
                            <a:pt x="6312" y="373835"/>
                          </a:cubicBezTo>
                          <a:cubicBezTo>
                            <a:pt x="1037" y="367438"/>
                            <a:pt x="-1129" y="358972"/>
                            <a:pt x="566" y="350788"/>
                          </a:cubicBezTo>
                          <a:lnTo>
                            <a:pt x="10268" y="301968"/>
                          </a:lnTo>
                          <a:cubicBezTo>
                            <a:pt x="14130" y="282684"/>
                            <a:pt x="29202" y="267634"/>
                            <a:pt x="48606" y="263777"/>
                          </a:cubicBezTo>
                          <a:lnTo>
                            <a:pt x="61699" y="261237"/>
                          </a:lnTo>
                          <a:cubicBezTo>
                            <a:pt x="69328" y="259732"/>
                            <a:pt x="75263" y="253806"/>
                            <a:pt x="76770" y="246281"/>
                          </a:cubicBezTo>
                          <a:lnTo>
                            <a:pt x="79313" y="234240"/>
                          </a:lnTo>
                          <a:cubicBezTo>
                            <a:pt x="80067" y="230383"/>
                            <a:pt x="78654" y="226338"/>
                            <a:pt x="75639" y="223893"/>
                          </a:cubicBezTo>
                          <a:cubicBezTo>
                            <a:pt x="63771" y="214016"/>
                            <a:pt x="52939" y="199623"/>
                            <a:pt x="46628" y="182503"/>
                          </a:cubicBezTo>
                          <a:cubicBezTo>
                            <a:pt x="37867" y="180904"/>
                            <a:pt x="29861" y="172532"/>
                            <a:pt x="27318" y="160962"/>
                          </a:cubicBezTo>
                          <a:cubicBezTo>
                            <a:pt x="24115" y="146664"/>
                            <a:pt x="30426" y="133118"/>
                            <a:pt x="41447" y="130673"/>
                          </a:cubicBezTo>
                          <a:cubicBezTo>
                            <a:pt x="41541" y="130673"/>
                            <a:pt x="41729" y="130673"/>
                            <a:pt x="41824" y="130673"/>
                          </a:cubicBezTo>
                          <a:cubicBezTo>
                            <a:pt x="45403" y="93516"/>
                            <a:pt x="60192" y="66049"/>
                            <a:pt x="107100" y="66049"/>
                          </a:cubicBezTo>
                          <a:close/>
                          <a:moveTo>
                            <a:pt x="298626" y="0"/>
                          </a:moveTo>
                          <a:lnTo>
                            <a:pt x="315956" y="0"/>
                          </a:lnTo>
                          <a:cubicBezTo>
                            <a:pt x="363426" y="0"/>
                            <a:pt x="401854" y="38378"/>
                            <a:pt x="401854" y="85787"/>
                          </a:cubicBezTo>
                          <a:lnTo>
                            <a:pt x="401854" y="95476"/>
                          </a:lnTo>
                          <a:cubicBezTo>
                            <a:pt x="417301" y="99238"/>
                            <a:pt x="426154" y="118522"/>
                            <a:pt x="421633" y="138840"/>
                          </a:cubicBezTo>
                          <a:cubicBezTo>
                            <a:pt x="420880" y="142602"/>
                            <a:pt x="419467" y="146083"/>
                            <a:pt x="417960" y="149281"/>
                          </a:cubicBezTo>
                          <a:cubicBezTo>
                            <a:pt x="417677" y="149939"/>
                            <a:pt x="417395" y="150504"/>
                            <a:pt x="417112" y="151068"/>
                          </a:cubicBezTo>
                          <a:cubicBezTo>
                            <a:pt x="415417" y="154172"/>
                            <a:pt x="413533" y="157088"/>
                            <a:pt x="411273" y="159534"/>
                          </a:cubicBezTo>
                          <a:cubicBezTo>
                            <a:pt x="411179" y="159628"/>
                            <a:pt x="410990" y="159816"/>
                            <a:pt x="410896" y="159910"/>
                          </a:cubicBezTo>
                          <a:cubicBezTo>
                            <a:pt x="406092" y="165084"/>
                            <a:pt x="400159" y="168658"/>
                            <a:pt x="394037" y="169787"/>
                          </a:cubicBezTo>
                          <a:cubicBezTo>
                            <a:pt x="391494" y="176654"/>
                            <a:pt x="388385" y="183332"/>
                            <a:pt x="384900" y="189541"/>
                          </a:cubicBezTo>
                          <a:cubicBezTo>
                            <a:pt x="384806" y="189635"/>
                            <a:pt x="384806" y="189729"/>
                            <a:pt x="384712" y="189823"/>
                          </a:cubicBezTo>
                          <a:cubicBezTo>
                            <a:pt x="381227" y="196031"/>
                            <a:pt x="377460" y="201769"/>
                            <a:pt x="373316" y="207131"/>
                          </a:cubicBezTo>
                          <a:cubicBezTo>
                            <a:pt x="373127" y="207413"/>
                            <a:pt x="372939" y="207601"/>
                            <a:pt x="372750" y="207789"/>
                          </a:cubicBezTo>
                          <a:cubicBezTo>
                            <a:pt x="368700" y="213057"/>
                            <a:pt x="364368" y="217948"/>
                            <a:pt x="359847" y="222275"/>
                          </a:cubicBezTo>
                          <a:cubicBezTo>
                            <a:pt x="359658" y="222463"/>
                            <a:pt x="359376" y="222651"/>
                            <a:pt x="359188" y="222934"/>
                          </a:cubicBezTo>
                          <a:cubicBezTo>
                            <a:pt x="354667" y="227261"/>
                            <a:pt x="349957" y="231211"/>
                            <a:pt x="345154" y="234598"/>
                          </a:cubicBezTo>
                          <a:lnTo>
                            <a:pt x="345625" y="236855"/>
                          </a:lnTo>
                          <a:cubicBezTo>
                            <a:pt x="346567" y="236385"/>
                            <a:pt x="347603" y="235915"/>
                            <a:pt x="348639" y="235538"/>
                          </a:cubicBezTo>
                          <a:cubicBezTo>
                            <a:pt x="350899" y="234786"/>
                            <a:pt x="353065" y="234033"/>
                            <a:pt x="355514" y="234033"/>
                          </a:cubicBezTo>
                          <a:cubicBezTo>
                            <a:pt x="359470" y="234033"/>
                            <a:pt x="363238" y="235162"/>
                            <a:pt x="366628" y="237326"/>
                          </a:cubicBezTo>
                          <a:cubicBezTo>
                            <a:pt x="366628" y="237326"/>
                            <a:pt x="380756" y="246450"/>
                            <a:pt x="385371" y="249648"/>
                          </a:cubicBezTo>
                          <a:cubicBezTo>
                            <a:pt x="401854" y="261030"/>
                            <a:pt x="399876" y="279373"/>
                            <a:pt x="399876" y="279373"/>
                          </a:cubicBezTo>
                          <a:cubicBezTo>
                            <a:pt x="410990" y="279655"/>
                            <a:pt x="421822" y="283041"/>
                            <a:pt x="430016" y="289814"/>
                          </a:cubicBezTo>
                          <a:cubicBezTo>
                            <a:pt x="445180" y="302324"/>
                            <a:pt x="447535" y="313330"/>
                            <a:pt x="448382" y="316058"/>
                          </a:cubicBezTo>
                          <a:lnTo>
                            <a:pt x="481630" y="424515"/>
                          </a:lnTo>
                          <a:cubicBezTo>
                            <a:pt x="482855" y="428371"/>
                            <a:pt x="483608" y="432416"/>
                            <a:pt x="483891" y="436461"/>
                          </a:cubicBezTo>
                          <a:cubicBezTo>
                            <a:pt x="484644" y="448595"/>
                            <a:pt x="481159" y="460730"/>
                            <a:pt x="473718" y="470700"/>
                          </a:cubicBezTo>
                          <a:cubicBezTo>
                            <a:pt x="466372" y="480671"/>
                            <a:pt x="455823" y="487538"/>
                            <a:pt x="443956" y="490360"/>
                          </a:cubicBezTo>
                          <a:cubicBezTo>
                            <a:pt x="440000" y="491301"/>
                            <a:pt x="435950" y="491771"/>
                            <a:pt x="431805" y="491771"/>
                          </a:cubicBezTo>
                          <a:lnTo>
                            <a:pt x="325375" y="491771"/>
                          </a:lnTo>
                          <a:lnTo>
                            <a:pt x="337430" y="415296"/>
                          </a:lnTo>
                          <a:cubicBezTo>
                            <a:pt x="338749" y="406454"/>
                            <a:pt x="337807" y="397424"/>
                            <a:pt x="334605" y="389052"/>
                          </a:cubicBezTo>
                          <a:lnTo>
                            <a:pt x="323962" y="360927"/>
                          </a:lnTo>
                          <a:lnTo>
                            <a:pt x="337430" y="347476"/>
                          </a:lnTo>
                          <a:lnTo>
                            <a:pt x="307196" y="317281"/>
                          </a:lnTo>
                          <a:lnTo>
                            <a:pt x="276868" y="347476"/>
                          </a:lnTo>
                          <a:lnTo>
                            <a:pt x="290337" y="360927"/>
                          </a:lnTo>
                          <a:lnTo>
                            <a:pt x="279694" y="389052"/>
                          </a:lnTo>
                          <a:cubicBezTo>
                            <a:pt x="276586" y="397424"/>
                            <a:pt x="275644" y="406454"/>
                            <a:pt x="276963" y="415296"/>
                          </a:cubicBezTo>
                          <a:lnTo>
                            <a:pt x="288736" y="491771"/>
                          </a:lnTo>
                          <a:lnTo>
                            <a:pt x="182493" y="491771"/>
                          </a:lnTo>
                          <a:cubicBezTo>
                            <a:pt x="178443" y="491771"/>
                            <a:pt x="174299" y="491301"/>
                            <a:pt x="170437" y="490360"/>
                          </a:cubicBezTo>
                          <a:cubicBezTo>
                            <a:pt x="158570" y="487538"/>
                            <a:pt x="148021" y="480671"/>
                            <a:pt x="140675" y="470700"/>
                          </a:cubicBezTo>
                          <a:cubicBezTo>
                            <a:pt x="130785" y="457343"/>
                            <a:pt x="127865" y="440223"/>
                            <a:pt x="132669" y="424515"/>
                          </a:cubicBezTo>
                          <a:lnTo>
                            <a:pt x="166011" y="316058"/>
                          </a:lnTo>
                          <a:cubicBezTo>
                            <a:pt x="166858" y="313330"/>
                            <a:pt x="170908" y="300631"/>
                            <a:pt x="184377" y="289814"/>
                          </a:cubicBezTo>
                          <a:cubicBezTo>
                            <a:pt x="192666" y="283229"/>
                            <a:pt x="203403" y="279655"/>
                            <a:pt x="214517" y="279373"/>
                          </a:cubicBezTo>
                          <a:lnTo>
                            <a:pt x="214517" y="279279"/>
                          </a:lnTo>
                          <a:cubicBezTo>
                            <a:pt x="214140" y="273447"/>
                            <a:pt x="211880" y="260654"/>
                            <a:pt x="229022" y="249648"/>
                          </a:cubicBezTo>
                          <a:cubicBezTo>
                            <a:pt x="233731" y="246638"/>
                            <a:pt x="247765" y="237326"/>
                            <a:pt x="247765" y="237326"/>
                          </a:cubicBezTo>
                          <a:cubicBezTo>
                            <a:pt x="251061" y="235162"/>
                            <a:pt x="254923" y="234033"/>
                            <a:pt x="258879" y="234033"/>
                          </a:cubicBezTo>
                          <a:cubicBezTo>
                            <a:pt x="261328" y="234033"/>
                            <a:pt x="263494" y="234786"/>
                            <a:pt x="265754" y="235538"/>
                          </a:cubicBezTo>
                          <a:cubicBezTo>
                            <a:pt x="266790" y="236009"/>
                            <a:pt x="267826" y="236385"/>
                            <a:pt x="268768" y="236855"/>
                          </a:cubicBezTo>
                          <a:lnTo>
                            <a:pt x="269239" y="234598"/>
                          </a:lnTo>
                          <a:cubicBezTo>
                            <a:pt x="264436" y="231211"/>
                            <a:pt x="259726" y="227261"/>
                            <a:pt x="255205" y="222934"/>
                          </a:cubicBezTo>
                          <a:cubicBezTo>
                            <a:pt x="254923" y="222651"/>
                            <a:pt x="254735" y="222463"/>
                            <a:pt x="254546" y="222275"/>
                          </a:cubicBezTo>
                          <a:cubicBezTo>
                            <a:pt x="250025" y="217948"/>
                            <a:pt x="245693" y="213057"/>
                            <a:pt x="241548" y="207789"/>
                          </a:cubicBezTo>
                          <a:cubicBezTo>
                            <a:pt x="241454" y="207601"/>
                            <a:pt x="241266" y="207413"/>
                            <a:pt x="241077" y="207225"/>
                          </a:cubicBezTo>
                          <a:cubicBezTo>
                            <a:pt x="236933" y="201769"/>
                            <a:pt x="233072" y="196031"/>
                            <a:pt x="229681" y="189823"/>
                          </a:cubicBezTo>
                          <a:cubicBezTo>
                            <a:pt x="229587" y="189729"/>
                            <a:pt x="229587" y="189635"/>
                            <a:pt x="229493" y="189635"/>
                          </a:cubicBezTo>
                          <a:cubicBezTo>
                            <a:pt x="226008" y="183332"/>
                            <a:pt x="222899" y="176654"/>
                            <a:pt x="220356" y="169787"/>
                          </a:cubicBezTo>
                          <a:cubicBezTo>
                            <a:pt x="214140" y="168658"/>
                            <a:pt x="208301" y="165084"/>
                            <a:pt x="203497" y="159910"/>
                          </a:cubicBezTo>
                          <a:cubicBezTo>
                            <a:pt x="203309" y="159722"/>
                            <a:pt x="203214" y="159628"/>
                            <a:pt x="203120" y="159534"/>
                          </a:cubicBezTo>
                          <a:cubicBezTo>
                            <a:pt x="200860" y="157088"/>
                            <a:pt x="198976" y="154172"/>
                            <a:pt x="197281" y="151068"/>
                          </a:cubicBezTo>
                          <a:cubicBezTo>
                            <a:pt x="196998" y="150504"/>
                            <a:pt x="196716" y="149939"/>
                            <a:pt x="196433" y="149281"/>
                          </a:cubicBezTo>
                          <a:cubicBezTo>
                            <a:pt x="194832" y="146083"/>
                            <a:pt x="193513" y="142602"/>
                            <a:pt x="192666" y="138840"/>
                          </a:cubicBezTo>
                          <a:cubicBezTo>
                            <a:pt x="188145" y="118428"/>
                            <a:pt x="197092" y="99050"/>
                            <a:pt x="212727" y="95476"/>
                          </a:cubicBezTo>
                          <a:lnTo>
                            <a:pt x="212727" y="85787"/>
                          </a:lnTo>
                          <a:cubicBezTo>
                            <a:pt x="212727" y="38378"/>
                            <a:pt x="251155" y="0"/>
                            <a:pt x="298626" y="0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headEnd type="none"/>
                      <a:tailEnd type="none"/>
                    </a:ln>
                  </p:spPr>
                </p:sp>
              </p:grpSp>
            </p:grpSp>
          </p:grp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4441472" y="1821181"/>
              <a:ext cx="3333640" cy="4312919"/>
              <a:chOff x="4441472" y="1821181"/>
              <a:chExt cx="3333640" cy="4312919"/>
            </a:xfrm>
          </p:grpSpPr>
          <p:grpSp>
            <p:nvGrpSpPr>
              <p:cNvPr id="18" name="Group 18"/>
              <p:cNvGrpSpPr/>
              <p:nvPr/>
            </p:nvGrpSpPr>
            <p:grpSpPr>
              <a:xfrm flipH="false" flipV="false" rot="0">
                <a:off x="4441472" y="4526279"/>
                <a:ext cx="3333640" cy="1607821"/>
                <a:chOff x="4441472" y="4526279"/>
                <a:chExt cx="3333640" cy="1607821"/>
              </a:xfrm>
            </p:grpSpPr>
            <p:sp>
              <p:nvSpPr>
                <p:cNvPr id="19" name="TextBox 19"/>
                <p:cNvSpPr txBox="true"/>
                <p:nvPr/>
              </p:nvSpPr>
              <p:spPr>
                <a:xfrm flipH="false" flipV="false" rot="0">
                  <a:off x="4441472" y="5210663"/>
                  <a:ext cx="3333640" cy="92343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tru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飞书视频会议和文档协作功能强大；钉钉支持多语言翻译；企业微信与微信生态结合，方便海外员工沟通。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true"/>
                <p:nvPr/>
              </p:nvSpPr>
              <p:spPr>
                <a:xfrm flipH="false" flipV="false" rot="0">
                  <a:off x="4441472" y="4526279"/>
                  <a:ext cx="3333640" cy="68438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true" bIns="45720" lIns="91440" rIns="91440" rtlCol="false" tIns="45720" vert="horz" wrap="square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服务优势</a:t>
                  </a:r>
                  <a:endParaRPr lang="en-US" sz="1100"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 flipH="false" flipV="false" rot="0">
                <a:off x="5440834" y="1821181"/>
                <a:ext cx="1310332" cy="2623958"/>
                <a:chOff x="5440834" y="1821181"/>
                <a:chExt cx="1310332" cy="2623958"/>
              </a:xfrm>
            </p:grpSpPr>
            <p:sp>
              <p:nvSpPr>
                <p:cNvPr id="22" name="TextBox 22"/>
                <p:cNvSpPr txBox="true"/>
                <p:nvPr/>
              </p:nvSpPr>
              <p:spPr>
                <a:xfrm flipH="false" flipV="false" rot="0">
                  <a:off x="5617107" y="1821181"/>
                  <a:ext cx="982370" cy="60734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4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  <p:grpSp>
              <p:nvGrpSpPr>
                <p:cNvPr id="23" name="Group 23"/>
                <p:cNvGrpSpPr/>
                <p:nvPr/>
              </p:nvGrpSpPr>
              <p:grpSpPr>
                <a:xfrm flipH="false" flipV="false" rot="0">
                  <a:off x="5440834" y="2477994"/>
                  <a:ext cx="1310332" cy="1967145"/>
                  <a:chOff x="5440834" y="2477994"/>
                  <a:chExt cx="1310332" cy="1967145"/>
                </a:xfrm>
              </p:grpSpPr>
              <p:sp>
                <p:nvSpPr>
                  <p:cNvPr id="24" name="AutoShape 24"/>
                  <p:cNvSpPr/>
                  <p:nvPr/>
                </p:nvSpPr>
                <p:spPr>
                  <a:xfrm flipH="false" flipV="false" rot="0">
                    <a:off x="5499844" y="3922253"/>
                    <a:ext cx="1216897" cy="522886"/>
                  </a:xfrm>
                  <a:prstGeom prst="ellipse">
                    <a:avLst/>
                  </a:prstGeom>
                  <a:solidFill>
                    <a:srgbClr val="778495">
                      <a:alpha val="14901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25" name="Group 25"/>
                  <p:cNvGrpSpPr/>
                  <p:nvPr/>
                </p:nvGrpSpPr>
                <p:grpSpPr>
                  <a:xfrm flipH="false" flipV="false" rot="0">
                    <a:off x="5440834" y="2477994"/>
                    <a:ext cx="1310332" cy="1581710"/>
                    <a:chOff x="5440834" y="2477994"/>
                    <a:chExt cx="1310332" cy="1581710"/>
                  </a:xfrm>
                </p:grpSpPr>
                <p:sp>
                  <p:nvSpPr>
                    <p:cNvPr id="26" name="AutoShape 26"/>
                    <p:cNvSpPr/>
                    <p:nvPr/>
                  </p:nvSpPr>
                  <p:spPr>
                    <a:xfrm flipH="false" flipV="false" rot="0">
                      <a:off x="5440834" y="2477994"/>
                      <a:ext cx="1310332" cy="1581710"/>
                    </a:xfrm>
                    <a:custGeom>
                      <a:rect b="b" l="l" r="r" t="t"/>
                      <a:pathLst>
                        <a:path h="1581710" w="1310332">
                          <a:moveTo>
                            <a:pt x="655167" y="1"/>
                          </a:moveTo>
                          <a:cubicBezTo>
                            <a:pt x="822838" y="0"/>
                            <a:pt x="990510" y="63965"/>
                            <a:pt x="1118439" y="191894"/>
                          </a:cubicBezTo>
                          <a:cubicBezTo>
                            <a:pt x="1374297" y="447752"/>
                            <a:pt x="1374296" y="862580"/>
                            <a:pt x="1118438" y="1118438"/>
                          </a:cubicBezTo>
                          <a:lnTo>
                            <a:pt x="655166" y="1581710"/>
                          </a:lnTo>
                          <a:lnTo>
                            <a:pt x="191894" y="1118438"/>
                          </a:lnTo>
                          <a:cubicBezTo>
                            <a:pt x="-63964" y="862580"/>
                            <a:pt x="-63963" y="447753"/>
                            <a:pt x="191895" y="191895"/>
                          </a:cubicBezTo>
                          <a:cubicBezTo>
                            <a:pt x="319824" y="63966"/>
                            <a:pt x="487495" y="1"/>
                            <a:pt x="655167" y="1"/>
                          </a:cubicBezTo>
                          <a:close/>
                        </a:path>
                      </a:pathLst>
                    </a:custGeom>
                    <a:solidFill>
                      <a:srgbClr val="FBB430">
                        <a:alpha val="100000"/>
                      </a:srgbClr>
                    </a:solidFill>
                    <a:ln w="6350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" name="AutoShape 27"/>
                    <p:cNvSpPr/>
                    <p:nvPr/>
                  </p:nvSpPr>
                  <p:spPr>
                    <a:xfrm flipH="false" flipV="false" rot="0">
                      <a:off x="5925320" y="2978088"/>
                      <a:ext cx="365944" cy="366028"/>
                    </a:xfrm>
                    <a:custGeom>
                      <a:rect b="b" l="l" r="r" t="t"/>
                      <a:pathLst>
                        <a:path h="6839" w="6827">
                          <a:moveTo>
                            <a:pt x="6827" y="3425"/>
                          </a:moveTo>
                          <a:cubicBezTo>
                            <a:pt x="6827" y="3321"/>
                            <a:pt x="6770" y="3225"/>
                            <a:pt x="6679" y="3176"/>
                          </a:cubicBezTo>
                          <a:lnTo>
                            <a:pt x="5833" y="2714"/>
                          </a:lnTo>
                          <a:lnTo>
                            <a:pt x="6679" y="2253"/>
                          </a:lnTo>
                          <a:cubicBezTo>
                            <a:pt x="6770" y="2203"/>
                            <a:pt x="6827" y="2107"/>
                            <a:pt x="6827" y="2003"/>
                          </a:cubicBezTo>
                          <a:cubicBezTo>
                            <a:pt x="6827" y="1899"/>
                            <a:pt x="6770" y="1803"/>
                            <a:pt x="6679" y="1753"/>
                          </a:cubicBezTo>
                          <a:lnTo>
                            <a:pt x="3550" y="47"/>
                          </a:lnTo>
                          <a:cubicBezTo>
                            <a:pt x="3465" y="0"/>
                            <a:pt x="3362" y="0"/>
                            <a:pt x="3277" y="47"/>
                          </a:cubicBezTo>
                          <a:lnTo>
                            <a:pt x="148" y="1753"/>
                          </a:lnTo>
                          <a:cubicBezTo>
                            <a:pt x="57" y="1803"/>
                            <a:pt x="0" y="1899"/>
                            <a:pt x="0" y="2003"/>
                          </a:cubicBezTo>
                          <a:cubicBezTo>
                            <a:pt x="0" y="2107"/>
                            <a:pt x="57" y="2203"/>
                            <a:pt x="148" y="2253"/>
                          </a:cubicBezTo>
                          <a:lnTo>
                            <a:pt x="994" y="2714"/>
                          </a:lnTo>
                          <a:lnTo>
                            <a:pt x="148" y="3176"/>
                          </a:lnTo>
                          <a:cubicBezTo>
                            <a:pt x="57" y="3225"/>
                            <a:pt x="0" y="3321"/>
                            <a:pt x="0" y="3425"/>
                          </a:cubicBezTo>
                          <a:cubicBezTo>
                            <a:pt x="0" y="3530"/>
                            <a:pt x="57" y="3625"/>
                            <a:pt x="148" y="3675"/>
                          </a:cubicBezTo>
                          <a:lnTo>
                            <a:pt x="994" y="4137"/>
                          </a:lnTo>
                          <a:lnTo>
                            <a:pt x="148" y="4598"/>
                          </a:lnTo>
                          <a:cubicBezTo>
                            <a:pt x="57" y="4648"/>
                            <a:pt x="0" y="4744"/>
                            <a:pt x="0" y="4848"/>
                          </a:cubicBezTo>
                          <a:cubicBezTo>
                            <a:pt x="0" y="4952"/>
                            <a:pt x="57" y="5047"/>
                            <a:pt x="148" y="5097"/>
                          </a:cubicBezTo>
                          <a:lnTo>
                            <a:pt x="3277" y="6804"/>
                          </a:lnTo>
                          <a:cubicBezTo>
                            <a:pt x="3320" y="6827"/>
                            <a:pt x="3366" y="6839"/>
                            <a:pt x="3413" y="6839"/>
                          </a:cubicBezTo>
                          <a:cubicBezTo>
                            <a:pt x="3460" y="6839"/>
                            <a:pt x="3507" y="6827"/>
                            <a:pt x="3550" y="6804"/>
                          </a:cubicBezTo>
                          <a:lnTo>
                            <a:pt x="6679" y="5097"/>
                          </a:lnTo>
                          <a:cubicBezTo>
                            <a:pt x="6770" y="5047"/>
                            <a:pt x="6827" y="4952"/>
                            <a:pt x="6827" y="4848"/>
                          </a:cubicBezTo>
                          <a:cubicBezTo>
                            <a:pt x="6827" y="4744"/>
                            <a:pt x="6770" y="4648"/>
                            <a:pt x="6679" y="4598"/>
                          </a:cubicBezTo>
                          <a:lnTo>
                            <a:pt x="5833" y="4137"/>
                          </a:lnTo>
                          <a:lnTo>
                            <a:pt x="6679" y="3675"/>
                          </a:lnTo>
                          <a:cubicBezTo>
                            <a:pt x="6770" y="3625"/>
                            <a:pt x="6827" y="3530"/>
                            <a:pt x="6827" y="3425"/>
                          </a:cubicBezTo>
                          <a:close/>
                          <a:moveTo>
                            <a:pt x="5948" y="4848"/>
                          </a:moveTo>
                          <a:lnTo>
                            <a:pt x="3413" y="6230"/>
                          </a:lnTo>
                          <a:lnTo>
                            <a:pt x="878" y="4848"/>
                          </a:lnTo>
                          <a:lnTo>
                            <a:pt x="1588" y="4460"/>
                          </a:lnTo>
                          <a:lnTo>
                            <a:pt x="3277" y="5382"/>
                          </a:lnTo>
                          <a:cubicBezTo>
                            <a:pt x="3362" y="5428"/>
                            <a:pt x="3465" y="5428"/>
                            <a:pt x="3550" y="5382"/>
                          </a:cubicBezTo>
                          <a:lnTo>
                            <a:pt x="5239" y="4460"/>
                          </a:lnTo>
                          <a:lnTo>
                            <a:pt x="5948" y="4848"/>
                          </a:lnTo>
                          <a:close/>
                          <a:moveTo>
                            <a:pt x="3413" y="3386"/>
                          </a:moveTo>
                          <a:lnTo>
                            <a:pt x="878" y="2003"/>
                          </a:lnTo>
                          <a:lnTo>
                            <a:pt x="3413" y="620"/>
                          </a:lnTo>
                          <a:lnTo>
                            <a:pt x="5948" y="2003"/>
                          </a:lnTo>
                          <a:lnTo>
                            <a:pt x="3413" y="3386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headEnd type="none"/>
                      <a:tailEnd type="none"/>
                    </a:ln>
                  </p:spPr>
                </p:sp>
              </p:grpSp>
            </p:grpSp>
          </p:grpSp>
        </p:grpSp>
        <p:grpSp>
          <p:nvGrpSpPr>
            <p:cNvPr id="28" name="Group 28"/>
            <p:cNvGrpSpPr/>
            <p:nvPr/>
          </p:nvGrpSpPr>
          <p:grpSpPr>
            <a:xfrm flipH="false" flipV="false" rot="0">
              <a:off x="8201061" y="1821181"/>
              <a:ext cx="3333640" cy="4312919"/>
              <a:chOff x="8201061" y="1821181"/>
              <a:chExt cx="3333640" cy="4312919"/>
            </a:xfrm>
          </p:grpSpPr>
          <p:grpSp>
            <p:nvGrpSpPr>
              <p:cNvPr id="29" name="Group 29"/>
              <p:cNvGrpSpPr/>
              <p:nvPr/>
            </p:nvGrpSpPr>
            <p:grpSpPr>
              <a:xfrm flipH="false" flipV="false" rot="0">
                <a:off x="8201061" y="4526279"/>
                <a:ext cx="3333640" cy="1607821"/>
                <a:chOff x="8201061" y="4526279"/>
                <a:chExt cx="3333640" cy="1607821"/>
              </a:xfrm>
            </p:grpSpPr>
            <p:sp>
              <p:nvSpPr>
                <p:cNvPr id="30" name="TextBox 30"/>
                <p:cNvSpPr txBox="true"/>
                <p:nvPr/>
              </p:nvSpPr>
              <p:spPr>
                <a:xfrm flipH="false" flipV="false" rot="0">
                  <a:off x="8201061" y="5210663"/>
                  <a:ext cx="3333640" cy="92343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tru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某跨国企业用飞书实现全球团队协作；某外贸公司用钉钉进行多语言沟通。</a:t>
                  </a:r>
                  <a:endParaRPr lang="en-US" sz="1100"/>
                </a:p>
              </p:txBody>
            </p:sp>
            <p:sp>
              <p:nvSpPr>
                <p:cNvPr id="31" name="TextBox 31"/>
                <p:cNvSpPr txBox="true"/>
                <p:nvPr/>
              </p:nvSpPr>
              <p:spPr>
                <a:xfrm flipH="false" flipV="false" rot="0">
                  <a:off x="8201061" y="4526279"/>
                  <a:ext cx="3333640" cy="68438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true" bIns="45720" lIns="91440" rIns="91440" rtlCol="false" tIns="45720" vert="horz" wrap="square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成功案例</a:t>
                  </a:r>
                  <a:endParaRPr lang="en-US" sz="1100"/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 flipH="false" flipV="false" rot="0">
                <a:off x="9212717" y="1821181"/>
                <a:ext cx="1310331" cy="2623958"/>
                <a:chOff x="9212717" y="1821181"/>
                <a:chExt cx="1310331" cy="2623958"/>
              </a:xfrm>
            </p:grpSpPr>
            <p:sp>
              <p:nvSpPr>
                <p:cNvPr id="33" name="TextBox 33"/>
                <p:cNvSpPr txBox="true"/>
                <p:nvPr/>
              </p:nvSpPr>
              <p:spPr>
                <a:xfrm flipH="false" flipV="false" rot="0">
                  <a:off x="9376696" y="1821181"/>
                  <a:ext cx="982370" cy="60734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24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  <p:grpSp>
              <p:nvGrpSpPr>
                <p:cNvPr id="34" name="Group 34"/>
                <p:cNvGrpSpPr/>
                <p:nvPr/>
              </p:nvGrpSpPr>
              <p:grpSpPr>
                <a:xfrm flipH="false" flipV="false" rot="0">
                  <a:off x="9212717" y="2477994"/>
                  <a:ext cx="1310331" cy="1967145"/>
                  <a:chOff x="9212717" y="2477994"/>
                  <a:chExt cx="1310331" cy="1967145"/>
                </a:xfrm>
              </p:grpSpPr>
              <p:sp>
                <p:nvSpPr>
                  <p:cNvPr id="35" name="AutoShape 35"/>
                  <p:cNvSpPr/>
                  <p:nvPr/>
                </p:nvSpPr>
                <p:spPr>
                  <a:xfrm flipH="false" flipV="false" rot="0">
                    <a:off x="9259433" y="3922253"/>
                    <a:ext cx="1216897" cy="522886"/>
                  </a:xfrm>
                  <a:prstGeom prst="ellipse">
                    <a:avLst/>
                  </a:prstGeom>
                  <a:solidFill>
                    <a:srgbClr val="778495">
                      <a:alpha val="14901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36" name="Group 36"/>
                  <p:cNvGrpSpPr/>
                  <p:nvPr/>
                </p:nvGrpSpPr>
                <p:grpSpPr>
                  <a:xfrm flipH="false" flipV="false" rot="0">
                    <a:off x="9212717" y="2477994"/>
                    <a:ext cx="1310331" cy="1581710"/>
                    <a:chOff x="9212717" y="2477994"/>
                    <a:chExt cx="1310331" cy="1581710"/>
                  </a:xfrm>
                </p:grpSpPr>
                <p:sp>
                  <p:nvSpPr>
                    <p:cNvPr id="37" name="AutoShape 37"/>
                    <p:cNvSpPr/>
                    <p:nvPr/>
                  </p:nvSpPr>
                  <p:spPr>
                    <a:xfrm flipH="false" flipV="false" rot="0">
                      <a:off x="9212717" y="2477994"/>
                      <a:ext cx="1310331" cy="1581710"/>
                    </a:xfrm>
                    <a:custGeom>
                      <a:rect b="b" l="l" r="r" t="t"/>
                      <a:pathLst>
                        <a:path h="1581710" w="1310331">
                          <a:moveTo>
                            <a:pt x="655166" y="1"/>
                          </a:moveTo>
                          <a:cubicBezTo>
                            <a:pt x="822838" y="0"/>
                            <a:pt x="990509" y="63965"/>
                            <a:pt x="1118438" y="191894"/>
                          </a:cubicBezTo>
                          <a:cubicBezTo>
                            <a:pt x="1374296" y="447752"/>
                            <a:pt x="1374296" y="862580"/>
                            <a:pt x="1118438" y="1118438"/>
                          </a:cubicBezTo>
                          <a:lnTo>
                            <a:pt x="655165" y="1581710"/>
                          </a:lnTo>
                          <a:lnTo>
                            <a:pt x="191894" y="1118438"/>
                          </a:lnTo>
                          <a:cubicBezTo>
                            <a:pt x="-63964" y="862580"/>
                            <a:pt x="-63964" y="447753"/>
                            <a:pt x="191894" y="191895"/>
                          </a:cubicBezTo>
                          <a:cubicBezTo>
                            <a:pt x="319823" y="63966"/>
                            <a:pt x="487495" y="1"/>
                            <a:pt x="655166" y="1"/>
                          </a:cubicBezTo>
                          <a:close/>
                        </a:path>
                      </a:pathLst>
                    </a:custGeom>
                    <a:solidFill>
                      <a:srgbClr val="90BD47">
                        <a:alpha val="100000"/>
                      </a:srgbClr>
                    </a:solidFill>
                    <a:ln w="6350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8" name="AutoShape 38"/>
                    <p:cNvSpPr/>
                    <p:nvPr/>
                  </p:nvSpPr>
                  <p:spPr>
                    <a:xfrm flipH="false" flipV="false" rot="0">
                      <a:off x="9670972" y="2959358"/>
                      <a:ext cx="393818" cy="434922"/>
                    </a:xfrm>
                    <a:custGeom>
                      <a:rect b="b" l="l" r="r" t="t"/>
                      <a:pathLst>
                        <a:path h="2641" w="2388">
                          <a:moveTo>
                            <a:pt x="2284" y="245"/>
                          </a:moveTo>
                          <a:cubicBezTo>
                            <a:pt x="2279" y="217"/>
                            <a:pt x="2258" y="195"/>
                            <a:pt x="2230" y="190"/>
                          </a:cubicBezTo>
                          <a:lnTo>
                            <a:pt x="1206" y="1"/>
                          </a:lnTo>
                          <a:cubicBezTo>
                            <a:pt x="1198" y="0"/>
                            <a:pt x="1190" y="0"/>
                            <a:pt x="1182" y="1"/>
                          </a:cubicBezTo>
                          <a:lnTo>
                            <a:pt x="159" y="190"/>
                          </a:lnTo>
                          <a:cubicBezTo>
                            <a:pt x="131" y="195"/>
                            <a:pt x="109" y="217"/>
                            <a:pt x="105" y="245"/>
                          </a:cubicBezTo>
                          <a:cubicBezTo>
                            <a:pt x="100" y="274"/>
                            <a:pt x="0" y="960"/>
                            <a:pt x="202" y="1554"/>
                          </a:cubicBezTo>
                          <a:cubicBezTo>
                            <a:pt x="405" y="2155"/>
                            <a:pt x="1128" y="2611"/>
                            <a:pt x="1159" y="2630"/>
                          </a:cubicBezTo>
                          <a:cubicBezTo>
                            <a:pt x="1170" y="2637"/>
                            <a:pt x="1182" y="2641"/>
                            <a:pt x="1194" y="2641"/>
                          </a:cubicBezTo>
                          <a:cubicBezTo>
                            <a:pt x="1206" y="2641"/>
                            <a:pt x="1219" y="2637"/>
                            <a:pt x="1230" y="2630"/>
                          </a:cubicBezTo>
                          <a:cubicBezTo>
                            <a:pt x="1260" y="2611"/>
                            <a:pt x="1983" y="2155"/>
                            <a:pt x="2187" y="1554"/>
                          </a:cubicBezTo>
                          <a:cubicBezTo>
                            <a:pt x="2388" y="960"/>
                            <a:pt x="2288" y="274"/>
                            <a:pt x="2284" y="245"/>
                          </a:cubicBezTo>
                          <a:close/>
                          <a:moveTo>
                            <a:pt x="1194" y="1299"/>
                          </a:moveTo>
                          <a:lnTo>
                            <a:pt x="344" y="1299"/>
                          </a:lnTo>
                          <a:cubicBezTo>
                            <a:pt x="243" y="854"/>
                            <a:pt x="313" y="400"/>
                            <a:pt x="313" y="400"/>
                          </a:cubicBezTo>
                          <a:lnTo>
                            <a:pt x="1194" y="241"/>
                          </a:lnTo>
                          <a:lnTo>
                            <a:pt x="1194" y="1299"/>
                          </a:lnTo>
                          <a:close/>
                          <a:moveTo>
                            <a:pt x="1994" y="1478"/>
                          </a:moveTo>
                          <a:cubicBezTo>
                            <a:pt x="1824" y="1972"/>
                            <a:pt x="1194" y="2357"/>
                            <a:pt x="1194" y="2357"/>
                          </a:cubicBezTo>
                          <a:lnTo>
                            <a:pt x="1194" y="1299"/>
                          </a:lnTo>
                          <a:lnTo>
                            <a:pt x="2045" y="1299"/>
                          </a:lnTo>
                          <a:cubicBezTo>
                            <a:pt x="2031" y="1359"/>
                            <a:pt x="2015" y="1420"/>
                            <a:pt x="1994" y="1478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headEnd type="none"/>
                      <a:tailEnd type="none"/>
                    </a:ln>
                  </p:spPr>
                </p:sp>
              </p:grpSp>
            </p:grpSp>
          </p:grpSp>
        </p:grpSp>
      </p:grpSp>
      <p:sp>
        <p:nvSpPr>
          <p:cNvPr id="39" name="TextBox 39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跨地域组织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43d071e-d2ea-409a-8cbc-d24c811d656e"/>
          <p:cNvGrpSpPr/>
          <p:nvPr/>
        </p:nvGrpSpPr>
        <p:grpSpPr>
          <a:xfrm flipH="false" flipV="false" rot="0">
            <a:off x="0" y="1130300"/>
            <a:ext cx="12192000" cy="5727699"/>
            <a:chOff x="0" y="1130300"/>
            <a:chExt cx="12192000" cy="5727699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0" y="1130300"/>
              <a:ext cx="12192000" cy="5727699"/>
            </a:xfrm>
            <a:prstGeom prst="rect">
              <a:avLst/>
            </a:prstGeom>
            <a:solidFill>
              <a:srgbClr val="25B19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660401" y="2324102"/>
              <a:ext cx="10871200" cy="38099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874713" y="6203012"/>
              <a:ext cx="10442575" cy="0"/>
            </a:xfrm>
            <a:prstGeom prst="line">
              <a:avLst/>
            </a:prstGeom>
            <a:ln w="28575">
              <a:solidFill>
                <a:srgbClr val="4E88E4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4348076" y="2668232"/>
              <a:ext cx="0" cy="3280747"/>
            </a:xfrm>
            <a:prstGeom prst="line">
              <a:avLst/>
            </a:prstGeom>
            <a:ln w="9525">
              <a:solidFill>
                <a:srgbClr val="25B190">
                  <a:alpha val="25098"/>
                  <a:lumMod val="5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7866065" y="2668232"/>
              <a:ext cx="0" cy="3280747"/>
            </a:xfrm>
            <a:prstGeom prst="line">
              <a:avLst/>
            </a:prstGeom>
            <a:ln w="9525">
              <a:solidFill>
                <a:srgbClr val="25B190">
                  <a:alpha val="25098"/>
                  <a:lumMod val="5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TextBox 8"/>
            <p:cNvSpPr txBox="true"/>
            <p:nvPr/>
          </p:nvSpPr>
          <p:spPr>
            <a:xfrm flipH="false" flipV="false" rot="0">
              <a:off x="660400" y="1244601"/>
              <a:ext cx="10858500" cy="9779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吸引用户的利器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flipH="false" flipV="false" rot="0">
              <a:off x="993404" y="2668232"/>
              <a:ext cx="3177363" cy="3280747"/>
              <a:chOff x="993404" y="2668232"/>
              <a:chExt cx="3177363" cy="3280747"/>
            </a:xfrm>
          </p:grpSpPr>
          <p:sp>
            <p:nvSpPr>
              <p:cNvPr id="10" name="TextBox 10"/>
              <p:cNvSpPr txBox="true"/>
              <p:nvPr/>
            </p:nvSpPr>
            <p:spPr>
              <a:xfrm flipH="true" flipV="false" rot="0">
                <a:off x="993404" y="3180846"/>
                <a:ext cx="3177363" cy="7239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免费功能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true" flipV="false" rot="0">
                <a:off x="993404" y="3904748"/>
                <a:ext cx="3177363" cy="20442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飞书免费版支持聊天、文档、视频会议等核心功能；钉钉和企业微信也提供免费版，功能各有侧重。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true" flipV="false" rot="0">
                <a:off x="993404" y="2668232"/>
                <a:ext cx="3177363" cy="51261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b="true" i="false" lang="en-US" sz="2400">
                    <a:ln/>
                    <a:solidFill>
                      <a:srgbClr val="25B19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4515161" y="2668232"/>
              <a:ext cx="3177363" cy="3280747"/>
              <a:chOff x="4515161" y="2668232"/>
              <a:chExt cx="3177363" cy="3280747"/>
            </a:xfrm>
          </p:grpSpPr>
          <p:sp>
            <p:nvSpPr>
              <p:cNvPr id="14" name="TextBox 14"/>
              <p:cNvSpPr txBox="true"/>
              <p:nvPr/>
            </p:nvSpPr>
            <p:spPr>
              <a:xfrm flipH="true" flipV="false" rot="0">
                <a:off x="4515161" y="3180846"/>
                <a:ext cx="3177363" cy="7239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免费期限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true" flipV="false" rot="0">
                <a:off x="4515161" y="3904748"/>
                <a:ext cx="3177363" cy="20442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飞书、钉钉、企业微信免费版长期有效，但部分高级功能有使用限制。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true" flipV="false" rot="0">
                <a:off x="4515161" y="2668232"/>
                <a:ext cx="3177363" cy="51261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b="true" i="false" lang="en-US" sz="2400">
                    <a:ln/>
                    <a:solidFill>
                      <a:srgbClr val="FBB43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8036918" y="2668232"/>
              <a:ext cx="3177364" cy="3280747"/>
              <a:chOff x="8036918" y="2668232"/>
              <a:chExt cx="3177364" cy="3280747"/>
            </a:xfrm>
          </p:grpSpPr>
          <p:sp>
            <p:nvSpPr>
              <p:cNvPr id="18" name="TextBox 18"/>
              <p:cNvSpPr txBox="true"/>
              <p:nvPr/>
            </p:nvSpPr>
            <p:spPr>
              <a:xfrm flipH="true" flipV="false" rot="0">
                <a:off x="8036919" y="3180846"/>
                <a:ext cx="3177363" cy="7239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免费用户限制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true" flipV="false" rot="0">
                <a:off x="8036919" y="3904748"/>
                <a:ext cx="3177363" cy="20442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飞书免费版支持500人以下团队；钉钉和企业微信免费版人数限制根据版本不同。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true" flipV="false" rot="0">
                <a:off x="8036918" y="2668232"/>
                <a:ext cx="3177363" cy="51261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b="true" i="false" lang="en-US" sz="2400">
                    <a:ln/>
                    <a:solidFill>
                      <a:srgbClr val="25B19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免费策略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ea1a814-e1e6-416c-8210-22090912dbed"/>
          <p:cNvGrpSpPr/>
          <p:nvPr/>
        </p:nvGrpSpPr>
        <p:grpSpPr>
          <a:xfrm flipH="false" flipV="false" rot="0">
            <a:off x="660399" y="1130300"/>
            <a:ext cx="10858501" cy="4696283"/>
            <a:chOff x="660399" y="1130300"/>
            <a:chExt cx="10858501" cy="4696283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399" y="1130300"/>
              <a:ext cx="10858500" cy="76410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满足个性化需求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660400" y="2314117"/>
              <a:ext cx="10858500" cy="3512466"/>
              <a:chOff x="660400" y="1901367"/>
              <a:chExt cx="10858500" cy="3512466"/>
            </a:xfrm>
          </p:grpSpPr>
          <p:grpSp>
            <p:nvGrpSpPr>
              <p:cNvPr id="5" name="Group 5"/>
              <p:cNvGrpSpPr/>
              <p:nvPr/>
            </p:nvGrpSpPr>
            <p:grpSpPr>
              <a:xfrm flipH="false" flipV="false" rot="0">
                <a:off x="660400" y="1901367"/>
                <a:ext cx="3240000" cy="1889714"/>
                <a:chOff x="660400" y="1901367"/>
                <a:chExt cx="3240000" cy="1889714"/>
              </a:xfrm>
            </p:grpSpPr>
            <p:sp>
              <p:nvSpPr>
                <p:cNvPr id="6" name="AutoShape 6"/>
                <p:cNvSpPr/>
                <p:nvPr/>
              </p:nvSpPr>
              <p:spPr>
                <a:xfrm flipH="false" flipV="false" rot="0">
                  <a:off x="660400" y="1901367"/>
                  <a:ext cx="3240000" cy="1889714"/>
                </a:xfrm>
                <a:custGeom>
                  <a:rect b="b" l="l" r="r" t="t"/>
                  <a:pathLst>
                    <a:path h="386" w="585">
                      <a:moveTo>
                        <a:pt x="549" y="0"/>
                      </a:move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16" y="0"/>
                        <a:pt x="0" y="16"/>
                        <a:pt x="0" y="36"/>
                      </a:cubicBezTo>
                      <a:cubicBezTo>
                        <a:pt x="0" y="283"/>
                        <a:pt x="0" y="283"/>
                        <a:pt x="0" y="283"/>
                      </a:cubicBezTo>
                      <a:cubicBezTo>
                        <a:pt x="0" y="302"/>
                        <a:pt x="16" y="319"/>
                        <a:pt x="36" y="319"/>
                      </a:cubicBezTo>
                      <a:cubicBezTo>
                        <a:pt x="418" y="319"/>
                        <a:pt x="418" y="319"/>
                        <a:pt x="418" y="319"/>
                      </a:cubicBezTo>
                      <a:cubicBezTo>
                        <a:pt x="405" y="363"/>
                        <a:pt x="405" y="363"/>
                        <a:pt x="405" y="363"/>
                      </a:cubicBezTo>
                      <a:cubicBezTo>
                        <a:pt x="401" y="376"/>
                        <a:pt x="415" y="386"/>
                        <a:pt x="426" y="378"/>
                      </a:cubicBezTo>
                      <a:cubicBezTo>
                        <a:pt x="500" y="323"/>
                        <a:pt x="500" y="323"/>
                        <a:pt x="500" y="323"/>
                      </a:cubicBezTo>
                      <a:cubicBezTo>
                        <a:pt x="502" y="322"/>
                        <a:pt x="503" y="320"/>
                        <a:pt x="504" y="319"/>
                      </a:cubicBezTo>
                      <a:cubicBezTo>
                        <a:pt x="549" y="319"/>
                        <a:pt x="549" y="319"/>
                        <a:pt x="549" y="319"/>
                      </a:cubicBezTo>
                      <a:cubicBezTo>
                        <a:pt x="569" y="319"/>
                        <a:pt x="585" y="302"/>
                        <a:pt x="585" y="283"/>
                      </a:cubicBezTo>
                      <a:cubicBezTo>
                        <a:pt x="585" y="36"/>
                        <a:pt x="585" y="36"/>
                        <a:pt x="585" y="36"/>
                      </a:cubicBezTo>
                      <a:cubicBezTo>
                        <a:pt x="585" y="16"/>
                        <a:pt x="569" y="0"/>
                        <a:pt x="549" y="0"/>
                      </a:cubicBezTo>
                      <a:close/>
                    </a:path>
                  </a:pathLst>
                </a:custGeom>
                <a:solidFill>
                  <a:srgbClr val="25B19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7" name="TextBox 7"/>
                <p:cNvSpPr txBox="true"/>
                <p:nvPr/>
              </p:nvSpPr>
              <p:spPr>
                <a:xfrm flipH="false" flipV="false" rot="0">
                  <a:off x="857076" y="2137081"/>
                  <a:ext cx="2864024" cy="44377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fals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01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true"/>
                <p:nvPr/>
              </p:nvSpPr>
              <p:spPr>
                <a:xfrm flipH="false" flipV="false" rot="0">
                  <a:off x="857076" y="2612459"/>
                  <a:ext cx="2864024" cy="68319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增值功能</a:t>
                  </a:r>
                  <a:endParaRPr lang="en-US" sz="1100"/>
                </a:p>
              </p:txBody>
            </p:sp>
          </p:grp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660400" y="3962196"/>
                <a:ext cx="3240000" cy="12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飞书提供音视频会议扩展、云空间扩容等增值服务；钉钉和企业微信也有多种增值功能。</a:t>
                </a:r>
                <a:endParaRPr lang="en-US" sz="1100"/>
              </a:p>
            </p:txBody>
          </p:sp>
          <p:sp>
            <p:nvSpPr>
              <p:cNvPr id="10" name="AutoShape 10"/>
              <p:cNvSpPr/>
              <p:nvPr/>
            </p:nvSpPr>
            <p:spPr>
              <a:xfrm flipH="false" flipV="false" rot="0">
                <a:off x="732400" y="5413833"/>
                <a:ext cx="3096000" cy="0"/>
              </a:xfrm>
              <a:prstGeom prst="line">
                <a:avLst/>
              </a:prstGeom>
              <a:ln w="6350">
                <a:solidFill>
                  <a:srgbClr val="51C1F9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 flipH="false" flipV="false" rot="0">
                <a:off x="4469650" y="1901367"/>
                <a:ext cx="3240000" cy="3512466"/>
                <a:chOff x="4469650" y="1901367"/>
                <a:chExt cx="3240000" cy="3512466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 flipH="false" flipV="false" rot="0">
                  <a:off x="4469650" y="1901367"/>
                  <a:ext cx="3240000" cy="1889714"/>
                  <a:chOff x="4469650" y="1901367"/>
                  <a:chExt cx="3240000" cy="1889714"/>
                </a:xfrm>
              </p:grpSpPr>
              <p:sp>
                <p:nvSpPr>
                  <p:cNvPr id="13" name="AutoShape 13"/>
                  <p:cNvSpPr/>
                  <p:nvPr/>
                </p:nvSpPr>
                <p:spPr>
                  <a:xfrm flipH="false" flipV="false" rot="0">
                    <a:off x="4469650" y="1901367"/>
                    <a:ext cx="3240000" cy="1889714"/>
                  </a:xfrm>
                  <a:custGeom>
                    <a:rect b="b" l="l" r="r" t="t"/>
                    <a:pathLst>
                      <a:path h="386" w="585">
                        <a:moveTo>
                          <a:pt x="549" y="0"/>
                        </a:moveTo>
                        <a:cubicBezTo>
                          <a:pt x="36" y="0"/>
                          <a:pt x="36" y="0"/>
                          <a:pt x="36" y="0"/>
                        </a:cubicBezTo>
                        <a:cubicBezTo>
                          <a:pt x="16" y="0"/>
                          <a:pt x="0" y="16"/>
                          <a:pt x="0" y="36"/>
                        </a:cubicBezTo>
                        <a:cubicBezTo>
                          <a:pt x="0" y="283"/>
                          <a:pt x="0" y="283"/>
                          <a:pt x="0" y="283"/>
                        </a:cubicBezTo>
                        <a:cubicBezTo>
                          <a:pt x="0" y="302"/>
                          <a:pt x="16" y="319"/>
                          <a:pt x="36" y="319"/>
                        </a:cubicBezTo>
                        <a:cubicBezTo>
                          <a:pt x="418" y="319"/>
                          <a:pt x="418" y="319"/>
                          <a:pt x="418" y="319"/>
                        </a:cubicBezTo>
                        <a:cubicBezTo>
                          <a:pt x="405" y="363"/>
                          <a:pt x="405" y="363"/>
                          <a:pt x="405" y="363"/>
                        </a:cubicBezTo>
                        <a:cubicBezTo>
                          <a:pt x="401" y="376"/>
                          <a:pt x="415" y="386"/>
                          <a:pt x="426" y="378"/>
                        </a:cubicBezTo>
                        <a:cubicBezTo>
                          <a:pt x="500" y="323"/>
                          <a:pt x="500" y="323"/>
                          <a:pt x="500" y="323"/>
                        </a:cubicBezTo>
                        <a:cubicBezTo>
                          <a:pt x="502" y="322"/>
                          <a:pt x="503" y="320"/>
                          <a:pt x="504" y="319"/>
                        </a:cubicBezTo>
                        <a:cubicBezTo>
                          <a:pt x="549" y="319"/>
                          <a:pt x="549" y="319"/>
                          <a:pt x="549" y="319"/>
                        </a:cubicBezTo>
                        <a:cubicBezTo>
                          <a:pt x="569" y="319"/>
                          <a:pt x="585" y="302"/>
                          <a:pt x="585" y="283"/>
                        </a:cubicBezTo>
                        <a:cubicBezTo>
                          <a:pt x="585" y="36"/>
                          <a:pt x="585" y="36"/>
                          <a:pt x="585" y="36"/>
                        </a:cubicBezTo>
                        <a:cubicBezTo>
                          <a:pt x="585" y="16"/>
                          <a:pt x="569" y="0"/>
                          <a:pt x="549" y="0"/>
                        </a:cubicBezTo>
                        <a:close/>
                      </a:path>
                    </a:pathLst>
                  </a:custGeom>
                  <a:solidFill>
                    <a:srgbClr val="FBB43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4" name="TextBox 14"/>
                  <p:cNvSpPr txBox="true"/>
                  <p:nvPr/>
                </p:nvSpPr>
                <p:spPr>
                  <a:xfrm flipH="false" flipV="false" rot="0">
                    <a:off x="4666326" y="2137081"/>
                    <a:ext cx="2864024" cy="443773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b" anchorCtr="false" bIns="45720" lIns="91440" rIns="91440" rtlCol="false" tIns="45720" vert="horz" wrap="square"/>
                  <a:lstStyle/>
                  <a:p>
                    <a:pPr algn="l">
                      <a:defRPr/>
                    </a:pPr>
                    <a:r>
                      <a:rPr b="fals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02</a:t>
                    </a:r>
                    <a:endParaRPr lang="en-US" sz="1100"/>
                  </a:p>
                </p:txBody>
              </p:sp>
              <p:sp>
                <p:nvSpPr>
                  <p:cNvPr id="15" name="TextBox 15"/>
                  <p:cNvSpPr txBox="true"/>
                  <p:nvPr/>
                </p:nvSpPr>
                <p:spPr>
                  <a:xfrm flipH="false" flipV="false" rot="0">
                    <a:off x="4666326" y="2612459"/>
                    <a:ext cx="2864024" cy="68319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t" anchorCtr="false" bIns="45720" lIns="91440" rIns="91440" rtlCol="false" tIns="45720" vert="horz" wrap="square"/>
                  <a:lstStyle/>
                  <a:p>
                    <a:pPr algn="l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服务价格</a:t>
                    </a:r>
                    <a:endParaRPr lang="en-US" sz="1100"/>
                  </a:p>
                </p:txBody>
              </p:sp>
            </p:grpSp>
            <p:sp>
              <p:nvSpPr>
                <p:cNvPr id="16" name="TextBox 16"/>
                <p:cNvSpPr txBox="true"/>
                <p:nvPr/>
              </p:nvSpPr>
              <p:spPr>
                <a:xfrm flipH="false" flipV="false" rot="0">
                  <a:off x="4469650" y="3962196"/>
                  <a:ext cx="3240000" cy="12600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飞书增值服务价格合理；钉钉和企业微信增值服务价格根据功能不同有所差异。</a:t>
                  </a:r>
                  <a:endParaRPr lang="en-US" sz="1100"/>
                </a:p>
              </p:txBody>
            </p:sp>
            <p:sp>
              <p:nvSpPr>
                <p:cNvPr id="17" name="AutoShape 17"/>
                <p:cNvSpPr/>
                <p:nvPr/>
              </p:nvSpPr>
              <p:spPr>
                <a:xfrm flipH="false" flipV="false" rot="0">
                  <a:off x="4541650" y="5413833"/>
                  <a:ext cx="3096000" cy="0"/>
                </a:xfrm>
                <a:prstGeom prst="line">
                  <a:avLst/>
                </a:prstGeom>
                <a:ln w="6350">
                  <a:solidFill>
                    <a:srgbClr val="FBB43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18" name="Group 18"/>
              <p:cNvGrpSpPr/>
              <p:nvPr/>
            </p:nvGrpSpPr>
            <p:grpSpPr>
              <a:xfrm flipH="false" flipV="false" rot="0">
                <a:off x="8278900" y="1901367"/>
                <a:ext cx="3240000" cy="3512466"/>
                <a:chOff x="8278900" y="1901367"/>
                <a:chExt cx="3240000" cy="3512466"/>
              </a:xfrm>
            </p:grpSpPr>
            <p:grpSp>
              <p:nvGrpSpPr>
                <p:cNvPr id="19" name="Group 19"/>
                <p:cNvGrpSpPr/>
                <p:nvPr/>
              </p:nvGrpSpPr>
              <p:grpSpPr>
                <a:xfrm flipH="false" flipV="false" rot="0">
                  <a:off x="8278900" y="1901367"/>
                  <a:ext cx="3240000" cy="1889714"/>
                  <a:chOff x="8278900" y="1901367"/>
                  <a:chExt cx="3240000" cy="1889714"/>
                </a:xfrm>
              </p:grpSpPr>
              <p:sp>
                <p:nvSpPr>
                  <p:cNvPr id="20" name="AutoShape 20"/>
                  <p:cNvSpPr/>
                  <p:nvPr/>
                </p:nvSpPr>
                <p:spPr>
                  <a:xfrm flipH="false" flipV="false" rot="0">
                    <a:off x="8278900" y="1901367"/>
                    <a:ext cx="3240000" cy="1889714"/>
                  </a:xfrm>
                  <a:custGeom>
                    <a:rect b="b" l="l" r="r" t="t"/>
                    <a:pathLst>
                      <a:path h="386" w="585">
                        <a:moveTo>
                          <a:pt x="549" y="0"/>
                        </a:moveTo>
                        <a:cubicBezTo>
                          <a:pt x="36" y="0"/>
                          <a:pt x="36" y="0"/>
                          <a:pt x="36" y="0"/>
                        </a:cubicBezTo>
                        <a:cubicBezTo>
                          <a:pt x="16" y="0"/>
                          <a:pt x="0" y="16"/>
                          <a:pt x="0" y="36"/>
                        </a:cubicBezTo>
                        <a:cubicBezTo>
                          <a:pt x="0" y="283"/>
                          <a:pt x="0" y="283"/>
                          <a:pt x="0" y="283"/>
                        </a:cubicBezTo>
                        <a:cubicBezTo>
                          <a:pt x="0" y="302"/>
                          <a:pt x="16" y="319"/>
                          <a:pt x="36" y="319"/>
                        </a:cubicBezTo>
                        <a:cubicBezTo>
                          <a:pt x="418" y="319"/>
                          <a:pt x="418" y="319"/>
                          <a:pt x="418" y="319"/>
                        </a:cubicBezTo>
                        <a:cubicBezTo>
                          <a:pt x="405" y="363"/>
                          <a:pt x="405" y="363"/>
                          <a:pt x="405" y="363"/>
                        </a:cubicBezTo>
                        <a:cubicBezTo>
                          <a:pt x="401" y="376"/>
                          <a:pt x="415" y="386"/>
                          <a:pt x="426" y="378"/>
                        </a:cubicBezTo>
                        <a:cubicBezTo>
                          <a:pt x="500" y="323"/>
                          <a:pt x="500" y="323"/>
                          <a:pt x="500" y="323"/>
                        </a:cubicBezTo>
                        <a:cubicBezTo>
                          <a:pt x="502" y="322"/>
                          <a:pt x="503" y="320"/>
                          <a:pt x="504" y="319"/>
                        </a:cubicBezTo>
                        <a:cubicBezTo>
                          <a:pt x="549" y="319"/>
                          <a:pt x="549" y="319"/>
                          <a:pt x="549" y="319"/>
                        </a:cubicBezTo>
                        <a:cubicBezTo>
                          <a:pt x="569" y="319"/>
                          <a:pt x="585" y="302"/>
                          <a:pt x="585" y="283"/>
                        </a:cubicBezTo>
                        <a:cubicBezTo>
                          <a:pt x="585" y="36"/>
                          <a:pt x="585" y="36"/>
                          <a:pt x="585" y="36"/>
                        </a:cubicBezTo>
                        <a:cubicBezTo>
                          <a:pt x="585" y="16"/>
                          <a:pt x="569" y="0"/>
                          <a:pt x="549" y="0"/>
                        </a:cubicBezTo>
                        <a:close/>
                      </a:path>
                    </a:pathLst>
                  </a:custGeom>
                  <a:solidFill>
                    <a:srgbClr val="25B19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1" name="TextBox 21"/>
                  <p:cNvSpPr txBox="true"/>
                  <p:nvPr/>
                </p:nvSpPr>
                <p:spPr>
                  <a:xfrm flipH="false" flipV="false" rot="0">
                    <a:off x="8475576" y="2137081"/>
                    <a:ext cx="2864024" cy="443773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b" anchorCtr="false" bIns="45720" lIns="91440" rIns="91440" rtlCol="false" tIns="45720" vert="horz" wrap="square"/>
                  <a:lstStyle/>
                  <a:p>
                    <a:pPr algn="l">
                      <a:defRPr/>
                    </a:pPr>
                    <a:r>
                      <a:rPr b="fals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03</a:t>
                    </a:r>
                    <a:endParaRPr lang="en-US" sz="1100"/>
                  </a:p>
                </p:txBody>
              </p:sp>
              <p:sp>
                <p:nvSpPr>
                  <p:cNvPr id="22" name="TextBox 22"/>
                  <p:cNvSpPr txBox="true"/>
                  <p:nvPr/>
                </p:nvSpPr>
                <p:spPr>
                  <a:xfrm flipH="false" flipV="false" rot="0">
                    <a:off x="8475576" y="2612459"/>
                    <a:ext cx="2864024" cy="68319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t" anchorCtr="false" bIns="45720" lIns="91440" rIns="91440" rtlCol="false" tIns="45720" vert="horz" wrap="square"/>
                  <a:lstStyle/>
                  <a:p>
                    <a:pPr algn="l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服务购买方式</a:t>
                    </a:r>
                    <a:endParaRPr lang="en-US" sz="1100"/>
                  </a:p>
                </p:txBody>
              </p:sp>
            </p:grpSp>
            <p:sp>
              <p:nvSpPr>
                <p:cNvPr id="23" name="TextBox 23"/>
                <p:cNvSpPr txBox="true"/>
                <p:nvPr/>
              </p:nvSpPr>
              <p:spPr>
                <a:xfrm flipH="false" flipV="false" rot="0">
                  <a:off x="8278900" y="3962196"/>
                  <a:ext cx="3240000" cy="12600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飞书、钉钉、企业微信都支持在线购买增值服务，提供多种支付方式。</a:t>
                  </a:r>
                  <a:endParaRPr lang="en-US" sz="1100"/>
                </a:p>
              </p:txBody>
            </p:sp>
            <p:sp>
              <p:nvSpPr>
                <p:cNvPr id="24" name="AutoShape 24"/>
                <p:cNvSpPr/>
                <p:nvPr/>
              </p:nvSpPr>
              <p:spPr>
                <a:xfrm flipH="false" flipV="false" rot="0">
                  <a:off x="8350900" y="5413833"/>
                  <a:ext cx="3096000" cy="0"/>
                </a:xfrm>
                <a:prstGeom prst="line">
                  <a:avLst/>
                </a:prstGeom>
                <a:ln w="6350">
                  <a:solidFill>
                    <a:srgbClr val="51C1F9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</p:grpSp>
      </p:grpSp>
      <p:sp>
        <p:nvSpPr>
          <p:cNvPr id="25" name="TextBox 25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增值服务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4bd6d5e-f686-474e-b2eb-a14342d49d25"/>
          <p:cNvGrpSpPr/>
          <p:nvPr/>
        </p:nvGrpSpPr>
        <p:grpSpPr>
          <a:xfrm flipH="false" flipV="false" rot="0">
            <a:off x="666750" y="647700"/>
            <a:ext cx="11525250" cy="5005468"/>
            <a:chOff x="666750" y="647700"/>
            <a:chExt cx="11525250" cy="5005468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11220000" y="772700"/>
              <a:ext cx="972000" cy="0"/>
            </a:xfrm>
            <a:prstGeom prst="line">
              <a:avLst/>
            </a:prstGeom>
            <a:ln w="12700">
              <a:solidFill>
                <a:srgbClr val="0219F5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10724531" y="647700"/>
              <a:ext cx="720000" cy="252000"/>
            </a:xfrm>
            <a:prstGeom prst="roundRect">
              <a:avLst>
                <a:gd fmla="val 50000" name="adj"/>
              </a:avLst>
            </a:prstGeom>
            <a:solidFill>
              <a:srgbClr val="25B190">
                <a:alpha val="100000"/>
              </a:srgbClr>
            </a:solidFill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10318831" y="647700"/>
              <a:ext cx="252000" cy="252000"/>
            </a:xfrm>
            <a:prstGeom prst="ellipse">
              <a:avLst/>
            </a:prstGeom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10202665" y="647700"/>
              <a:ext cx="252000" cy="252000"/>
            </a:xfrm>
            <a:prstGeom prst="ellipse">
              <a:avLst/>
            </a:prstGeom>
            <a:solidFill>
              <a:srgbClr val="25B190">
                <a:alpha val="100000"/>
              </a:srgbClr>
            </a:solidFill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1362328" y="2564818"/>
              <a:ext cx="3002467" cy="1888855"/>
            </a:xfrm>
            <a:custGeom>
              <a:rect b="b" l="l" r="r" t="t"/>
              <a:pathLst>
                <a:path h="1716070" w="2727813">
                  <a:moveTo>
                    <a:pt x="2716139" y="0"/>
                  </a:moveTo>
                  <a:lnTo>
                    <a:pt x="0" y="1035090"/>
                  </a:lnTo>
                  <a:lnTo>
                    <a:pt x="66152" y="1716071"/>
                  </a:lnTo>
                  <a:lnTo>
                    <a:pt x="2727813" y="688763"/>
                  </a:lnTo>
                  <a:cubicBezTo>
                    <a:pt x="2727813" y="688763"/>
                    <a:pt x="2718474" y="2335"/>
                    <a:pt x="2716139" y="0"/>
                  </a:cubicBez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1833471" y="3686995"/>
              <a:ext cx="2090162" cy="1888855"/>
            </a:xfrm>
            <a:custGeom>
              <a:rect b="b" l="l" r="r" t="t"/>
              <a:pathLst>
                <a:path h="1716070" w="1898962">
                  <a:moveTo>
                    <a:pt x="1890791" y="0"/>
                  </a:moveTo>
                  <a:lnTo>
                    <a:pt x="0" y="1035090"/>
                  </a:lnTo>
                  <a:lnTo>
                    <a:pt x="45918" y="1716071"/>
                  </a:lnTo>
                  <a:lnTo>
                    <a:pt x="1898963" y="688763"/>
                  </a:lnTo>
                  <a:cubicBezTo>
                    <a:pt x="1898963" y="688763"/>
                    <a:pt x="1892347" y="2335"/>
                    <a:pt x="1890791" y="0"/>
                  </a:cubicBez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false" flipV="true" rot="0">
              <a:off x="4690313" y="2926678"/>
              <a:ext cx="324967" cy="1"/>
            </a:xfrm>
            <a:prstGeom prst="line">
              <a:avLst/>
            </a:prstGeom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flipH="false" flipV="true" rot="0">
              <a:off x="4260716" y="4029909"/>
              <a:ext cx="754564" cy="1"/>
            </a:xfrm>
            <a:prstGeom prst="line">
              <a:avLst/>
            </a:prstGeom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false" flipV="true" rot="0">
              <a:off x="3831119" y="5133140"/>
              <a:ext cx="1184161" cy="1"/>
            </a:xfrm>
            <a:prstGeom prst="line">
              <a:avLst/>
            </a:prstGeom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TextBox 12"/>
            <p:cNvSpPr txBox="true"/>
            <p:nvPr/>
          </p:nvSpPr>
          <p:spPr>
            <a:xfrm flipH="false" flipV="false" rot="0">
              <a:off x="666750" y="1130299"/>
              <a:ext cx="10858500" cy="84295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true" i="false" lang="en-US" strike="noStrike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打造专属解决方案</a:t>
              </a:r>
              <a:endParaRPr lang="en-US" sz="1100"/>
            </a:p>
          </p:txBody>
        </p:sp>
        <p:grpSp>
          <p:nvGrpSpPr>
            <p:cNvPr id="13" name="Group 13"/>
            <p:cNvGrpSpPr/>
            <p:nvPr/>
          </p:nvGrpSpPr>
          <p:grpSpPr>
            <a:xfrm flipH="false" flipV="false" rot="0">
              <a:off x="666750" y="2451590"/>
              <a:ext cx="10858500" cy="995116"/>
              <a:chOff x="666750" y="2451590"/>
              <a:chExt cx="10858500" cy="995116"/>
            </a:xfrm>
          </p:grpSpPr>
          <p:sp>
            <p:nvSpPr>
              <p:cNvPr id="14" name="AutoShape 14"/>
              <p:cNvSpPr/>
              <p:nvPr/>
            </p:nvSpPr>
            <p:spPr>
              <a:xfrm flipH="false" flipV="false" rot="0">
                <a:off x="5015280" y="2851773"/>
                <a:ext cx="149810" cy="149810"/>
              </a:xfrm>
              <a:custGeom>
                <a:rect b="b" l="l" r="r" t="t"/>
                <a:pathLst>
                  <a:path h="175109" w="175109">
                    <a:moveTo>
                      <a:pt x="175109" y="87555"/>
                    </a:moveTo>
                    <a:cubicBezTo>
                      <a:pt x="175109" y="135910"/>
                      <a:pt x="135910" y="175109"/>
                      <a:pt x="87555" y="175109"/>
                    </a:cubicBezTo>
                    <a:cubicBezTo>
                      <a:pt x="39200" y="175109"/>
                      <a:pt x="0" y="135910"/>
                      <a:pt x="0" y="87555"/>
                    </a:cubicBezTo>
                    <a:cubicBezTo>
                      <a:pt x="0" y="39200"/>
                      <a:pt x="39200" y="0"/>
                      <a:pt x="87555" y="0"/>
                    </a:cubicBezTo>
                    <a:cubicBezTo>
                      <a:pt x="135910" y="0"/>
                      <a:pt x="175109" y="39200"/>
                      <a:pt x="175109" y="87555"/>
                    </a:cubicBezTo>
                    <a:close/>
                  </a:path>
                </a:pathLst>
              </a:cu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666750" y="2541197"/>
                <a:ext cx="4023562" cy="770962"/>
              </a:xfrm>
              <a:custGeom>
                <a:rect b="b" l="l" r="r" t="t"/>
                <a:pathLst>
                  <a:path h="700437" w="3655502">
                    <a:moveTo>
                      <a:pt x="350219" y="700437"/>
                    </a:moveTo>
                    <a:lnTo>
                      <a:pt x="3305285" y="700437"/>
                    </a:lnTo>
                    <a:cubicBezTo>
                      <a:pt x="3498683" y="700437"/>
                      <a:pt x="3655503" y="543617"/>
                      <a:pt x="3655503" y="350219"/>
                    </a:cubicBezTo>
                    <a:cubicBezTo>
                      <a:pt x="3655503" y="156820"/>
                      <a:pt x="3498683" y="0"/>
                      <a:pt x="3305285" y="0"/>
                    </a:cubicBezTo>
                    <a:lnTo>
                      <a:pt x="350219" y="0"/>
                    </a:lnTo>
                    <a:cubicBezTo>
                      <a:pt x="156820" y="0"/>
                      <a:pt x="0" y="156820"/>
                      <a:pt x="0" y="350219"/>
                    </a:cubicBezTo>
                    <a:cubicBezTo>
                      <a:pt x="0" y="543617"/>
                      <a:pt x="156820" y="700437"/>
                      <a:pt x="350219" y="700437"/>
                    </a:cubicBezTo>
                    <a:close/>
                  </a:path>
                </a:pathLst>
              </a:cu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5314950" y="2451590"/>
                <a:ext cx="6210300" cy="396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定制化内容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5314950" y="2859304"/>
                <a:ext cx="6210300" cy="5874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飞书可根据企业需求定制界面和功能；钉钉提供专属版和APG一体机方案；企业微信支持部分定制化。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flipH="false" flipV="false" rot="0">
              <a:off x="1096347" y="3554821"/>
              <a:ext cx="10428903" cy="995116"/>
              <a:chOff x="1096347" y="3554821"/>
              <a:chExt cx="10428903" cy="995116"/>
            </a:xfrm>
          </p:grpSpPr>
          <p:sp>
            <p:nvSpPr>
              <p:cNvPr id="19" name="AutoShape 19"/>
              <p:cNvSpPr/>
              <p:nvPr/>
            </p:nvSpPr>
            <p:spPr>
              <a:xfrm flipH="false" flipV="false" rot="0">
                <a:off x="5015280" y="3955004"/>
                <a:ext cx="149810" cy="149810"/>
              </a:xfrm>
              <a:custGeom>
                <a:rect b="b" l="l" r="r" t="t"/>
                <a:pathLst>
                  <a:path h="175109" w="175109">
                    <a:moveTo>
                      <a:pt x="175109" y="87555"/>
                    </a:moveTo>
                    <a:cubicBezTo>
                      <a:pt x="175109" y="135910"/>
                      <a:pt x="135910" y="175109"/>
                      <a:pt x="87555" y="175109"/>
                    </a:cubicBezTo>
                    <a:cubicBezTo>
                      <a:pt x="39200" y="175109"/>
                      <a:pt x="0" y="135910"/>
                      <a:pt x="0" y="87555"/>
                    </a:cubicBezTo>
                    <a:cubicBezTo>
                      <a:pt x="0" y="39199"/>
                      <a:pt x="39200" y="0"/>
                      <a:pt x="87555" y="0"/>
                    </a:cubicBezTo>
                    <a:cubicBezTo>
                      <a:pt x="135910" y="0"/>
                      <a:pt x="175109" y="39199"/>
                      <a:pt x="175109" y="87555"/>
                    </a:cubicBezTo>
                    <a:close/>
                  </a:path>
                </a:pathLst>
              </a:cu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1096347" y="3644428"/>
                <a:ext cx="3164368" cy="770962"/>
              </a:xfrm>
              <a:custGeom>
                <a:rect b="b" l="l" r="r" t="t"/>
                <a:pathLst>
                  <a:path h="700437" w="2874904">
                    <a:moveTo>
                      <a:pt x="350219" y="700437"/>
                    </a:moveTo>
                    <a:lnTo>
                      <a:pt x="2524686" y="700437"/>
                    </a:lnTo>
                    <a:cubicBezTo>
                      <a:pt x="2718085" y="700437"/>
                      <a:pt x="2874905" y="543617"/>
                      <a:pt x="2874905" y="350219"/>
                    </a:cubicBezTo>
                    <a:cubicBezTo>
                      <a:pt x="2874905" y="156820"/>
                      <a:pt x="2718085" y="0"/>
                      <a:pt x="2524686" y="0"/>
                    </a:cubicBezTo>
                    <a:lnTo>
                      <a:pt x="350219" y="0"/>
                    </a:lnTo>
                    <a:cubicBezTo>
                      <a:pt x="156820" y="0"/>
                      <a:pt x="0" y="156820"/>
                      <a:pt x="0" y="350219"/>
                    </a:cubicBezTo>
                    <a:cubicBezTo>
                      <a:pt x="0" y="543617"/>
                      <a:pt x="156820" y="700437"/>
                      <a:pt x="350219" y="700437"/>
                    </a:cubicBezTo>
                    <a:close/>
                  </a:path>
                </a:pathLst>
              </a:cu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5314950" y="3554821"/>
                <a:ext cx="6210300" cy="396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服务流程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5314950" y="3962535"/>
                <a:ext cx="6210300" cy="5874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飞书、钉钉、企业微信都有专业的定制化服务团队，提供从需求分析到实施的全流程服务。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flipH="false" flipV="false" rot="0">
              <a:off x="1525944" y="4646339"/>
              <a:ext cx="9999306" cy="1006829"/>
              <a:chOff x="1525944" y="4646339"/>
              <a:chExt cx="9999306" cy="1006829"/>
            </a:xfrm>
          </p:grpSpPr>
          <p:sp>
            <p:nvSpPr>
              <p:cNvPr id="24" name="AutoShape 24"/>
              <p:cNvSpPr/>
              <p:nvPr/>
            </p:nvSpPr>
            <p:spPr>
              <a:xfrm flipH="false" flipV="false" rot="0">
                <a:off x="5015280" y="5058235"/>
                <a:ext cx="149810" cy="149810"/>
              </a:xfrm>
              <a:custGeom>
                <a:rect b="b" l="l" r="r" t="t"/>
                <a:pathLst>
                  <a:path h="175109" w="175109">
                    <a:moveTo>
                      <a:pt x="175109" y="87555"/>
                    </a:moveTo>
                    <a:cubicBezTo>
                      <a:pt x="175109" y="135910"/>
                      <a:pt x="135910" y="175109"/>
                      <a:pt x="87555" y="175109"/>
                    </a:cubicBezTo>
                    <a:cubicBezTo>
                      <a:pt x="39200" y="175109"/>
                      <a:pt x="0" y="135910"/>
                      <a:pt x="0" y="87555"/>
                    </a:cubicBezTo>
                    <a:cubicBezTo>
                      <a:pt x="0" y="39200"/>
                      <a:pt x="39200" y="0"/>
                      <a:pt x="87555" y="0"/>
                    </a:cubicBezTo>
                    <a:cubicBezTo>
                      <a:pt x="135910" y="0"/>
                      <a:pt x="175109" y="39200"/>
                      <a:pt x="175109" y="87555"/>
                    </a:cubicBezTo>
                    <a:close/>
                  </a:path>
                </a:pathLst>
              </a:cu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TextBox 25"/>
              <p:cNvSpPr txBox="true"/>
              <p:nvPr/>
            </p:nvSpPr>
            <p:spPr>
              <a:xfrm flipH="false" flipV="false" rot="0">
                <a:off x="1525944" y="4747659"/>
                <a:ext cx="2305174" cy="770962"/>
              </a:xfrm>
              <a:custGeom>
                <a:rect b="b" l="l" r="r" t="t"/>
                <a:pathLst>
                  <a:path h="700437" w="2094306">
                    <a:moveTo>
                      <a:pt x="350219" y="700437"/>
                    </a:moveTo>
                    <a:lnTo>
                      <a:pt x="1744088" y="700437"/>
                    </a:lnTo>
                    <a:cubicBezTo>
                      <a:pt x="1937487" y="700437"/>
                      <a:pt x="2094307" y="543617"/>
                      <a:pt x="2094307" y="350219"/>
                    </a:cubicBezTo>
                    <a:cubicBezTo>
                      <a:pt x="2094307" y="156820"/>
                      <a:pt x="1937487" y="0"/>
                      <a:pt x="1744088" y="0"/>
                    </a:cubicBezTo>
                    <a:lnTo>
                      <a:pt x="350219" y="0"/>
                    </a:lnTo>
                    <a:cubicBezTo>
                      <a:pt x="156820" y="0"/>
                      <a:pt x="0" y="156820"/>
                      <a:pt x="0" y="350219"/>
                    </a:cubicBezTo>
                    <a:cubicBezTo>
                      <a:pt x="0" y="543617"/>
                      <a:pt x="156820" y="700437"/>
                      <a:pt x="350219" y="700437"/>
                    </a:cubicBezTo>
                    <a:close/>
                  </a:path>
                </a:pathLst>
              </a:cu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5314950" y="4646339"/>
                <a:ext cx="6210300" cy="396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服务案例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5314950" y="5065766"/>
                <a:ext cx="6210300" cy="5874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某大型企业用钉钉定制专属管理系统；某政府机构用飞书定制办公平台。</a:t>
                </a:r>
                <a:endParaRPr lang="en-US" sz="1100"/>
              </a:p>
            </p:txBody>
          </p:sp>
        </p:grpSp>
      </p:grpSp>
      <p:sp>
        <p:nvSpPr>
          <p:cNvPr id="28" name="TextBox 28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定制化服务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215361" y="1754325"/>
            <a:ext cx="9748578" cy="207970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市场表现与未来展望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1215361" y="3913252"/>
            <a:ext cx="9748578" cy="159073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了解平台市场现状与未来趋势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0c764d4-37c5-4a86-adf4-26f3c9007519"/>
          <p:cNvGrpSpPr/>
          <p:nvPr/>
        </p:nvGrpSpPr>
        <p:grpSpPr>
          <a:xfrm flipH="false" flipV="false" rot="0">
            <a:off x="660400" y="1130300"/>
            <a:ext cx="10858500" cy="4518660"/>
            <a:chOff x="660400" y="1130300"/>
            <a:chExt cx="10858500" cy="4518660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30300"/>
              <a:ext cx="10858500" cy="79973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市场地位的体现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660400" y="2508250"/>
              <a:ext cx="3420000" cy="3140710"/>
              <a:chOff x="660400" y="2121878"/>
              <a:chExt cx="3420000" cy="3140710"/>
            </a:xfrm>
          </p:grpSpPr>
          <p:sp>
            <p:nvSpPr>
              <p:cNvPr id="5" name="AutoShape 5"/>
              <p:cNvSpPr/>
              <p:nvPr/>
            </p:nvSpPr>
            <p:spPr>
              <a:xfrm flipH="false" flipV="false" rot="0">
                <a:off x="660400" y="2121878"/>
                <a:ext cx="3420000" cy="3140710"/>
              </a:xfrm>
              <a:prstGeom prst="roundRect">
                <a:avLst>
                  <a:gd fmla="val 7200" name="adj"/>
                </a:avLst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840400" y="2251110"/>
                <a:ext cx="2340000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整体份额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853101" y="2899109"/>
                <a:ext cx="3060000" cy="219075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根据最新数据，钉钉在整体市场份额中占据领先地位，飞书和企业微信也有一定的市场份额。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3252208" y="2121879"/>
                <a:ext cx="576000" cy="556479"/>
              </a:xfrm>
              <a:custGeom>
                <a:rect b="b" l="l" r="r" t="t"/>
                <a:pathLst>
                  <a:path h="556479" w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463731"/>
                    </a:lnTo>
                    <a:cubicBezTo>
                      <a:pt x="576000" y="514954"/>
                      <a:pt x="534475" y="556479"/>
                      <a:pt x="483252" y="556479"/>
                    </a:cubicBezTo>
                    <a:lnTo>
                      <a:pt x="92748" y="556479"/>
                    </a:lnTo>
                    <a:cubicBezTo>
                      <a:pt x="41525" y="556479"/>
                      <a:pt x="0" y="514954"/>
                      <a:pt x="0" y="4637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5B19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4386000" y="2508250"/>
              <a:ext cx="3420000" cy="3140710"/>
              <a:chOff x="4386000" y="2121878"/>
              <a:chExt cx="3420000" cy="3140710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4386000" y="2121878"/>
                <a:ext cx="3420000" cy="3140710"/>
              </a:xfrm>
              <a:prstGeom prst="roundRect">
                <a:avLst>
                  <a:gd fmla="val 7200" name="adj"/>
                </a:avLst>
              </a:prstGeom>
              <a:solidFill>
                <a:srgbClr val="25B19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6977808" y="2121879"/>
                <a:ext cx="576000" cy="556479"/>
              </a:xfrm>
              <a:custGeom>
                <a:rect b="b" l="l" r="r" t="t"/>
                <a:pathLst>
                  <a:path h="556479" w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463731"/>
                    </a:lnTo>
                    <a:cubicBezTo>
                      <a:pt x="576000" y="514954"/>
                      <a:pt x="534475" y="556479"/>
                      <a:pt x="483252" y="556479"/>
                    </a:cubicBezTo>
                    <a:lnTo>
                      <a:pt x="92748" y="556479"/>
                    </a:lnTo>
                    <a:cubicBezTo>
                      <a:pt x="41525" y="556479"/>
                      <a:pt x="0" y="514954"/>
                      <a:pt x="0" y="4637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4566000" y="2251110"/>
                <a:ext cx="2340000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行业份额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4578701" y="2899110"/>
                <a:ext cx="3060000" cy="219075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钉钉在传统行业市场份额较大；飞书在互联网、科技行业受欢迎；企业微信在销售、客服行业有优势。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8098899" y="2508250"/>
              <a:ext cx="3420000" cy="3140710"/>
              <a:chOff x="8098899" y="2121878"/>
              <a:chExt cx="3420000" cy="3140710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8098899" y="2121878"/>
                <a:ext cx="3420000" cy="3140710"/>
              </a:xfrm>
              <a:prstGeom prst="roundRect">
                <a:avLst>
                  <a:gd fmla="val 7200" name="adj"/>
                </a:avLst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8278899" y="2251110"/>
                <a:ext cx="2340000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地区份额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8278899" y="2899110"/>
                <a:ext cx="3060000" cy="219075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飞书在一线城市市场份额较高；钉钉在全国各地都有广泛用户；企业微信在微信用户集中的地区份额较大。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10690707" y="2121879"/>
                <a:ext cx="576000" cy="556479"/>
              </a:xfrm>
              <a:custGeom>
                <a:rect b="b" l="l" r="r" t="t"/>
                <a:pathLst>
                  <a:path h="556479" w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463731"/>
                    </a:lnTo>
                    <a:cubicBezTo>
                      <a:pt x="576000" y="514954"/>
                      <a:pt x="534475" y="556479"/>
                      <a:pt x="483252" y="556479"/>
                    </a:cubicBezTo>
                    <a:lnTo>
                      <a:pt x="92748" y="556479"/>
                    </a:lnTo>
                    <a:cubicBezTo>
                      <a:pt x="41525" y="556479"/>
                      <a:pt x="0" y="514954"/>
                      <a:pt x="0" y="4637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5B19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市场份额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b04178a-601a-41f0-b6b1-51bc29909f51"/>
          <p:cNvGrpSpPr/>
          <p:nvPr/>
        </p:nvGrpSpPr>
        <p:grpSpPr>
          <a:xfrm flipH="false" flipV="false" rot="0">
            <a:off x="660400" y="1130300"/>
            <a:ext cx="10858500" cy="4927600"/>
            <a:chOff x="660400" y="1130300"/>
            <a:chExt cx="10858500" cy="4927600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30300"/>
              <a:ext cx="10858500" cy="7620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发展潜力的指标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1206500" y="2492669"/>
              <a:ext cx="3108324" cy="3565231"/>
              <a:chOff x="-8481" y="2492669"/>
              <a:chExt cx="3108324" cy="3565231"/>
            </a:xfrm>
          </p:grpSpPr>
          <p:grpSp>
            <p:nvGrpSpPr>
              <p:cNvPr id="5" name="Group 5"/>
              <p:cNvGrpSpPr/>
              <p:nvPr/>
            </p:nvGrpSpPr>
            <p:grpSpPr>
              <a:xfrm flipH="false" flipV="false" rot="0">
                <a:off x="-8481" y="3746500"/>
                <a:ext cx="3108324" cy="2311400"/>
                <a:chOff x="-8481" y="3822700"/>
                <a:chExt cx="3108324" cy="2311400"/>
              </a:xfrm>
            </p:grpSpPr>
            <p:sp>
              <p:nvSpPr>
                <p:cNvPr id="6" name="TextBox 6"/>
                <p:cNvSpPr txBox="true"/>
                <p:nvPr/>
              </p:nvSpPr>
              <p:spPr>
                <a:xfrm flipH="false" flipV="false" rot="0">
                  <a:off x="-8481" y="4584714"/>
                  <a:ext cx="3108324" cy="15493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飞书用户增长率较快，凭借高效协作和开放平台吸引新用户；钉钉和企业微信用户增长稳定。</a:t>
                  </a:r>
                  <a:endParaRPr lang="en-US" sz="1100"/>
                </a:p>
              </p:txBody>
            </p:sp>
            <p:sp>
              <p:nvSpPr>
                <p:cNvPr id="7" name="TextBox 7"/>
                <p:cNvSpPr txBox="true"/>
                <p:nvPr/>
              </p:nvSpPr>
              <p:spPr>
                <a:xfrm flipH="false" flipV="false" rot="0">
                  <a:off x="-8481" y="3822700"/>
                  <a:ext cx="3108324" cy="76201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true" bIns="45720" lIns="91440" rIns="91440" rtlCol="false" tIns="45720" vert="horz" wrap="squar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用户增长率</a:t>
                  </a:r>
                  <a:endParaRPr lang="en-US" sz="1100"/>
                </a:p>
              </p:txBody>
            </p:sp>
          </p:grpSp>
          <p:grpSp>
            <p:nvGrpSpPr>
              <p:cNvPr id="8" name="Group 8"/>
              <p:cNvGrpSpPr/>
              <p:nvPr/>
            </p:nvGrpSpPr>
            <p:grpSpPr>
              <a:xfrm flipH="false" flipV="false" rot="0">
                <a:off x="1210828" y="2492669"/>
                <a:ext cx="677092" cy="1174132"/>
                <a:chOff x="1210828" y="2568869"/>
                <a:chExt cx="677092" cy="1174132"/>
              </a:xfrm>
            </p:grpSpPr>
            <p:sp>
              <p:nvSpPr>
                <p:cNvPr id="9" name="AutoShape 9"/>
                <p:cNvSpPr/>
                <p:nvPr/>
              </p:nvSpPr>
              <p:spPr>
                <a:xfrm flipH="false" flipV="false" rot="0">
                  <a:off x="1549374" y="3245961"/>
                  <a:ext cx="0" cy="497040"/>
                </a:xfrm>
                <a:prstGeom prst="line">
                  <a:avLst/>
                </a:prstGeom>
                <a:ln w="3175">
                  <a:solidFill>
                    <a:srgbClr val="778495">
                      <a:alpha val="50196"/>
                    </a:srgbClr>
                  </a:solidFill>
                  <a:prstDash val="sysDash"/>
                  <a:headEnd type="none"/>
                  <a:tailEnd type="oval"/>
                </a:ln>
              </p:spPr>
            </p:sp>
            <p:sp>
              <p:nvSpPr>
                <p:cNvPr id="10" name="TextBox 10"/>
                <p:cNvSpPr txBox="true"/>
                <p:nvPr/>
              </p:nvSpPr>
              <p:spPr>
                <a:xfrm flipH="false" flipV="false" rot="0"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rgbClr val="25B190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4529138" y="2492669"/>
              <a:ext cx="3108324" cy="3565231"/>
              <a:chOff x="1809107" y="2492669"/>
              <a:chExt cx="3108324" cy="3565231"/>
            </a:xfrm>
          </p:grpSpPr>
          <p:grpSp>
            <p:nvGrpSpPr>
              <p:cNvPr id="12" name="Group 12"/>
              <p:cNvGrpSpPr/>
              <p:nvPr/>
            </p:nvGrpSpPr>
            <p:grpSpPr>
              <a:xfrm flipH="false" flipV="false" rot="0">
                <a:off x="1809107" y="3746500"/>
                <a:ext cx="3108324" cy="2311400"/>
                <a:chOff x="1809107" y="3822700"/>
                <a:chExt cx="3108324" cy="2311400"/>
              </a:xfrm>
            </p:grpSpPr>
            <p:sp>
              <p:nvSpPr>
                <p:cNvPr id="13" name="TextBox 13"/>
                <p:cNvSpPr txBox="true"/>
                <p:nvPr/>
              </p:nvSpPr>
              <p:spPr>
                <a:xfrm flipH="false" flipV="false" rot="0">
                  <a:off x="1809107" y="4584714"/>
                  <a:ext cx="3108324" cy="15493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飞书用户活跃度较高，用户粘性强；钉钉和企业微信用户活跃度也较好。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true"/>
                <p:nvPr/>
              </p:nvSpPr>
              <p:spPr>
                <a:xfrm flipH="false" flipV="false" rot="0">
                  <a:off x="1809107" y="3822700"/>
                  <a:ext cx="3108324" cy="76201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true" bIns="45720" lIns="91440" rIns="91440" rtlCol="false" tIns="45720" vert="horz" wrap="squar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用户活跃度</a:t>
                  </a:r>
                  <a:endParaRPr lang="en-US" sz="1100"/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 flipH="false" flipV="false" rot="0">
                <a:off x="3027677" y="2492669"/>
                <a:ext cx="677092" cy="1174132"/>
                <a:chOff x="1210828" y="2568869"/>
                <a:chExt cx="677092" cy="1174132"/>
              </a:xfrm>
            </p:grpSpPr>
            <p:sp>
              <p:nvSpPr>
                <p:cNvPr id="16" name="AutoShape 16"/>
                <p:cNvSpPr/>
                <p:nvPr/>
              </p:nvSpPr>
              <p:spPr>
                <a:xfrm flipH="false" flipV="false" rot="0">
                  <a:off x="1549374" y="3245961"/>
                  <a:ext cx="0" cy="497040"/>
                </a:xfrm>
                <a:prstGeom prst="line">
                  <a:avLst/>
                </a:prstGeom>
                <a:ln w="3175">
                  <a:solidFill>
                    <a:srgbClr val="778495">
                      <a:alpha val="50196"/>
                    </a:srgbClr>
                  </a:solidFill>
                  <a:prstDash val="sysDash"/>
                  <a:headEnd type="none"/>
                  <a:tailEnd type="oval"/>
                </a:ln>
              </p:spPr>
            </p:sp>
            <p:sp>
              <p:nvSpPr>
                <p:cNvPr id="17" name="TextBox 17"/>
                <p:cNvSpPr txBox="true"/>
                <p:nvPr/>
              </p:nvSpPr>
              <p:spPr>
                <a:xfrm flipH="false" flipV="false" rot="0"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rgbClr val="FBB430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</p:grpSp>
        <p:grpSp>
          <p:nvGrpSpPr>
            <p:cNvPr id="18" name="Group 18"/>
            <p:cNvGrpSpPr/>
            <p:nvPr/>
          </p:nvGrpSpPr>
          <p:grpSpPr>
            <a:xfrm flipH="false" flipV="false" rot="0">
              <a:off x="7851776" y="2492669"/>
              <a:ext cx="3108324" cy="3565231"/>
              <a:chOff x="3626695" y="2492669"/>
              <a:chExt cx="3108324" cy="3565231"/>
            </a:xfrm>
          </p:grpSpPr>
          <p:grpSp>
            <p:nvGrpSpPr>
              <p:cNvPr id="19" name="Group 19"/>
              <p:cNvGrpSpPr/>
              <p:nvPr/>
            </p:nvGrpSpPr>
            <p:grpSpPr>
              <a:xfrm flipH="false" flipV="false" rot="0">
                <a:off x="3626695" y="3746500"/>
                <a:ext cx="3108324" cy="2311400"/>
                <a:chOff x="3626695" y="3822700"/>
                <a:chExt cx="3108324" cy="2311400"/>
              </a:xfrm>
            </p:grpSpPr>
            <p:sp>
              <p:nvSpPr>
                <p:cNvPr id="20" name="TextBox 20"/>
                <p:cNvSpPr txBox="true"/>
                <p:nvPr/>
              </p:nvSpPr>
              <p:spPr>
                <a:xfrm flipH="false" flipV="false" rot="0">
                  <a:off x="3626695" y="4584714"/>
                  <a:ext cx="3108324" cy="15493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b="false" i="false" lang="en-US" sz="12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飞书用户留存率较高，用户满意度较高；钉钉和企业微信用户留存率也处于行业较好水平。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true"/>
                <p:nvPr/>
              </p:nvSpPr>
              <p:spPr>
                <a:xfrm flipH="false" flipV="false" rot="0">
                  <a:off x="3626695" y="3822700"/>
                  <a:ext cx="3108324" cy="76201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true" bIns="45720" lIns="91440" rIns="91440" rtlCol="false" tIns="45720" vert="horz" wrap="squar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用户留存率</a:t>
                  </a:r>
                  <a:endParaRPr lang="en-US" sz="1100"/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 flipH="false" flipV="false" rot="0">
                <a:off x="4844526" y="2492669"/>
                <a:ext cx="677092" cy="1174132"/>
                <a:chOff x="1210828" y="2568869"/>
                <a:chExt cx="677092" cy="1174132"/>
              </a:xfrm>
            </p:grpSpPr>
            <p:sp>
              <p:nvSpPr>
                <p:cNvPr id="23" name="AutoShape 23"/>
                <p:cNvSpPr/>
                <p:nvPr/>
              </p:nvSpPr>
              <p:spPr>
                <a:xfrm flipH="false" flipV="false" rot="0">
                  <a:off x="1549374" y="3245961"/>
                  <a:ext cx="0" cy="497040"/>
                </a:xfrm>
                <a:prstGeom prst="line">
                  <a:avLst/>
                </a:prstGeom>
                <a:ln w="3175">
                  <a:solidFill>
                    <a:srgbClr val="778495">
                      <a:alpha val="50196"/>
                    </a:srgbClr>
                  </a:solidFill>
                  <a:prstDash val="sysDash"/>
                  <a:headEnd type="none"/>
                  <a:tailEnd type="oval"/>
                </a:ln>
              </p:spPr>
            </p:sp>
            <p:sp>
              <p:nvSpPr>
                <p:cNvPr id="24" name="TextBox 24"/>
                <p:cNvSpPr txBox="true"/>
                <p:nvPr/>
              </p:nvSpPr>
              <p:spPr>
                <a:xfrm flipH="false" flipV="false" rot="0"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rgbClr val="90BD47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</p:grpSp>
      </p:grpSp>
      <p:sp>
        <p:nvSpPr>
          <p:cNvPr id="25" name="TextBox 25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用户增长趋势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9d8c31b-048c-4203-8746-0acb7d2eb967"/>
          <p:cNvGrpSpPr/>
          <p:nvPr/>
        </p:nvGrpSpPr>
        <p:grpSpPr>
          <a:xfrm flipH="false" flipV="false" rot="0">
            <a:off x="644525" y="1130300"/>
            <a:ext cx="10888663" cy="5003800"/>
            <a:chOff x="644525" y="1130300"/>
            <a:chExt cx="10888663" cy="5003800"/>
          </a:xfrm>
        </p:grpSpPr>
        <p:grpSp>
          <p:nvGrpSpPr>
            <p:cNvPr id="3" name="Group 3"/>
            <p:cNvGrpSpPr/>
            <p:nvPr/>
          </p:nvGrpSpPr>
          <p:grpSpPr>
            <a:xfrm flipH="false" flipV="false" rot="0">
              <a:off x="644525" y="1892482"/>
              <a:ext cx="10888663" cy="4241618"/>
              <a:chOff x="644525" y="1892482"/>
              <a:chExt cx="10888663" cy="4241618"/>
            </a:xfrm>
          </p:grpSpPr>
          <p:grpSp>
            <p:nvGrpSpPr>
              <p:cNvPr id="4" name="Group 4"/>
              <p:cNvGrpSpPr/>
              <p:nvPr/>
            </p:nvGrpSpPr>
            <p:grpSpPr>
              <a:xfrm flipH="false" flipV="false" rot="0">
                <a:off x="658813" y="1892482"/>
                <a:ext cx="10874375" cy="1136732"/>
                <a:chOff x="658813" y="1930437"/>
                <a:chExt cx="10874375" cy="1136732"/>
              </a:xfrm>
            </p:grpSpPr>
            <p:sp>
              <p:nvSpPr>
                <p:cNvPr id="5" name="AutoShape 5"/>
                <p:cNvSpPr/>
                <p:nvPr/>
              </p:nvSpPr>
              <p:spPr>
                <a:xfrm flipH="false" flipV="false" rot="0">
                  <a:off x="658813" y="2057739"/>
                  <a:ext cx="10874375" cy="88212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778495">
                    <a:alpha val="14901"/>
                  </a:srgbClr>
                </a:solidFill>
                <a:ln>
                  <a:headEnd type="none"/>
                  <a:tailEnd type="none"/>
                </a:ln>
              </p:spPr>
            </p:sp>
            <p:sp>
              <p:nvSpPr>
                <p:cNvPr id="6" name="TextBox 6"/>
                <p:cNvSpPr txBox="true"/>
                <p:nvPr/>
              </p:nvSpPr>
              <p:spPr>
                <a:xfrm flipH="false" flipV="false" rot="0">
                  <a:off x="1749337" y="1930437"/>
                  <a:ext cx="1136738" cy="1136732"/>
                </a:xfrm>
                <a:prstGeom prst="ellipse">
                  <a:avLst/>
                </a:prstGeom>
                <a:gradFill>
                  <a:gsLst>
                    <a:gs pos="0">
                      <a:srgbClr val="25B190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25B190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ctr">
                    <a:defRPr/>
                  </a:pPr>
                  <a:r>
                    <a:rPr b="true" i="false" lang="en-US" sz="2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01-</a:t>
                  </a:r>
                  <a:endParaRPr lang="en-US" sz="1100"/>
                </a:p>
              </p:txBody>
            </p:sp>
            <p:grpSp>
              <p:nvGrpSpPr>
                <p:cNvPr id="7" name="Group 7"/>
                <p:cNvGrpSpPr/>
                <p:nvPr/>
              </p:nvGrpSpPr>
              <p:grpSpPr>
                <a:xfrm flipH="false" flipV="false" rot="0">
                  <a:off x="3119717" y="2174492"/>
                  <a:ext cx="7556589" cy="648622"/>
                  <a:chOff x="3119717" y="2174492"/>
                  <a:chExt cx="7556589" cy="648622"/>
                </a:xfrm>
              </p:grpSpPr>
              <p:sp>
                <p:nvSpPr>
                  <p:cNvPr id="8" name="TextBox 8"/>
                  <p:cNvSpPr txBox="true"/>
                  <p:nvPr/>
                </p:nvSpPr>
                <p:spPr>
                  <a:xfrm flipH="false" flipV="false" rot="0">
                    <a:off x="3119717" y="2174492"/>
                    <a:ext cx="2592461" cy="648622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l">
                      <a:defRPr/>
                    </a:pPr>
                    <a:r>
                      <a:rPr b="true" i="false" lang="en-US" sz="180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满意度调查</a:t>
                    </a:r>
                    <a:endParaRPr lang="en-US" sz="1100"/>
                  </a:p>
                </p:txBody>
              </p:sp>
              <p:sp>
                <p:nvSpPr>
                  <p:cNvPr id="9" name="TextBox 9"/>
                  <p:cNvSpPr txBox="true"/>
                  <p:nvPr/>
                </p:nvSpPr>
                <p:spPr>
                  <a:xfrm flipH="false" flipV="false" rot="0">
                    <a:off x="6208890" y="2174492"/>
                    <a:ext cx="4467416" cy="648622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根据第三方调查，飞书在用户满意度方面表现较好，钉钉和企业微信也有不错的用户评价。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id="10" name="Group 10"/>
              <p:cNvGrpSpPr/>
              <p:nvPr/>
            </p:nvGrpSpPr>
            <p:grpSpPr>
              <a:xfrm flipH="false" flipV="false" rot="0">
                <a:off x="644525" y="3444925"/>
                <a:ext cx="10874375" cy="1136732"/>
                <a:chOff x="644525" y="3489746"/>
                <a:chExt cx="10874375" cy="1136732"/>
              </a:xfrm>
            </p:grpSpPr>
            <p:sp>
              <p:nvSpPr>
                <p:cNvPr id="11" name="AutoShape 11"/>
                <p:cNvSpPr/>
                <p:nvPr/>
              </p:nvSpPr>
              <p:spPr>
                <a:xfrm flipH="false" flipV="false" rot="0">
                  <a:off x="644525" y="3617048"/>
                  <a:ext cx="10874375" cy="88212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778495">
                    <a:alpha val="14901"/>
                  </a:srgbClr>
                </a:solidFill>
                <a:ln>
                  <a:headEnd type="none"/>
                  <a:tailEnd type="none"/>
                </a:ln>
              </p:spPr>
            </p:sp>
            <p:sp>
              <p:nvSpPr>
                <p:cNvPr id="12" name="TextBox 12"/>
                <p:cNvSpPr txBox="true"/>
                <p:nvPr/>
              </p:nvSpPr>
              <p:spPr>
                <a:xfrm flipH="false" flipV="false" rot="0">
                  <a:off x="1735049" y="3489746"/>
                  <a:ext cx="1136738" cy="1136732"/>
                </a:xfrm>
                <a:prstGeom prst="ellipse">
                  <a:avLst/>
                </a:prstGeom>
                <a:gradFill>
                  <a:gsLst>
                    <a:gs pos="0">
                      <a:srgbClr val="FBB430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FBB430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ctr">
                    <a:defRPr/>
                  </a:pPr>
                  <a:r>
                    <a:rPr b="true" i="false" lang="en-US" sz="2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02-</a:t>
                  </a:r>
                  <a:endParaRPr lang="en-US" sz="1100"/>
                </a:p>
              </p:txBody>
            </p:sp>
            <p:grpSp>
              <p:nvGrpSpPr>
                <p:cNvPr id="13" name="Group 13"/>
                <p:cNvGrpSpPr/>
                <p:nvPr/>
              </p:nvGrpSpPr>
              <p:grpSpPr>
                <a:xfrm flipH="false" flipV="false" rot="0">
                  <a:off x="3105429" y="3733801"/>
                  <a:ext cx="7556589" cy="648622"/>
                  <a:chOff x="3105429" y="3733801"/>
                  <a:chExt cx="7556589" cy="648622"/>
                </a:xfrm>
              </p:grpSpPr>
              <p:sp>
                <p:nvSpPr>
                  <p:cNvPr id="14" name="TextBox 14"/>
                  <p:cNvSpPr txBox="true"/>
                  <p:nvPr/>
                </p:nvSpPr>
                <p:spPr>
                  <a:xfrm flipH="false" flipV="false" rot="0">
                    <a:off x="3105429" y="3733801"/>
                    <a:ext cx="2592461" cy="648622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l">
                      <a:defRPr/>
                    </a:pPr>
                    <a:r>
                      <a:rPr b="true" i="false" lang="en-US" sz="180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用户评价</a:t>
                    </a:r>
                    <a:endParaRPr lang="en-US" sz="1100"/>
                  </a:p>
                </p:txBody>
              </p:sp>
              <p:sp>
                <p:nvSpPr>
                  <p:cNvPr id="15" name="TextBox 15"/>
                  <p:cNvSpPr txBox="true"/>
                  <p:nvPr/>
                </p:nvSpPr>
                <p:spPr>
                  <a:xfrm flipH="false" flipV="false" rot="0">
                    <a:off x="6194602" y="3733801"/>
                    <a:ext cx="4467416" cy="648622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飞书用户称赞其界面简洁、协作高效；钉钉用户认可其功能全面；企业微信用户喜欢其与微信的衔接。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id="16" name="Group 16"/>
              <p:cNvGrpSpPr/>
              <p:nvPr/>
            </p:nvGrpSpPr>
            <p:grpSpPr>
              <a:xfrm flipH="false" flipV="false" rot="0">
                <a:off x="658812" y="4997368"/>
                <a:ext cx="10874375" cy="1136732"/>
                <a:chOff x="658812" y="5035323"/>
                <a:chExt cx="10874375" cy="1136732"/>
              </a:xfrm>
            </p:grpSpPr>
            <p:sp>
              <p:nvSpPr>
                <p:cNvPr id="17" name="AutoShape 17"/>
                <p:cNvSpPr/>
                <p:nvPr/>
              </p:nvSpPr>
              <p:spPr>
                <a:xfrm flipH="false" flipV="false" rot="0">
                  <a:off x="658812" y="5162625"/>
                  <a:ext cx="10874375" cy="88212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778495">
                    <a:alpha val="14901"/>
                  </a:srgbClr>
                </a:solidFill>
                <a:ln>
                  <a:headEnd type="none"/>
                  <a:tailEnd type="none"/>
                </a:ln>
              </p:spPr>
            </p:sp>
            <p:sp>
              <p:nvSpPr>
                <p:cNvPr id="18" name="TextBox 18"/>
                <p:cNvSpPr txBox="true"/>
                <p:nvPr/>
              </p:nvSpPr>
              <p:spPr>
                <a:xfrm flipH="false" flipV="false" rot="0">
                  <a:off x="1749336" y="5035323"/>
                  <a:ext cx="1136738" cy="1136732"/>
                </a:xfrm>
                <a:prstGeom prst="ellipse">
                  <a:avLst/>
                </a:prstGeom>
                <a:gradFill>
                  <a:gsLst>
                    <a:gs pos="0">
                      <a:srgbClr val="90BD47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90BD47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ctr">
                    <a:defRPr/>
                  </a:pPr>
                  <a:r>
                    <a:rPr b="true" i="false" lang="en-US" sz="2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03-</a:t>
                  </a:r>
                  <a:endParaRPr lang="en-US" sz="1100"/>
                </a:p>
              </p:txBody>
            </p:sp>
            <p:grpSp>
              <p:nvGrpSpPr>
                <p:cNvPr id="19" name="Group 19"/>
                <p:cNvGrpSpPr/>
                <p:nvPr/>
              </p:nvGrpSpPr>
              <p:grpSpPr>
                <a:xfrm flipH="false" flipV="false" rot="0">
                  <a:off x="3119716" y="5279378"/>
                  <a:ext cx="7556589" cy="648622"/>
                  <a:chOff x="3119716" y="5279378"/>
                  <a:chExt cx="7556589" cy="648622"/>
                </a:xfrm>
              </p:grpSpPr>
              <p:sp>
                <p:nvSpPr>
                  <p:cNvPr id="20" name="TextBox 20"/>
                  <p:cNvSpPr txBox="true"/>
                  <p:nvPr/>
                </p:nvSpPr>
                <p:spPr>
                  <a:xfrm flipH="false" flipV="false" rot="0">
                    <a:off x="3119716" y="5279378"/>
                    <a:ext cx="2592461" cy="648622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l">
                      <a:defRPr/>
                    </a:pPr>
                    <a:r>
                      <a:rPr b="true" i="false" lang="en-US" sz="180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用户建议</a:t>
                    </a:r>
                    <a:endParaRPr lang="en-US" sz="1100"/>
                  </a:p>
                </p:txBody>
              </p:sp>
              <p:sp>
                <p:nvSpPr>
                  <p:cNvPr id="21" name="TextBox 21"/>
                  <p:cNvSpPr txBox="true"/>
                  <p:nvPr/>
                </p:nvSpPr>
                <p:spPr>
                  <a:xfrm flipH="false" flipV="false" rot="0">
                    <a:off x="6208889" y="5279378"/>
                    <a:ext cx="4467416" cy="648622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ctr" anchorCtr="false" bIns="45720" lIns="91440" rIns="9144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000000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rPr>
                      <a:t>用户对飞书、钉钉、企业微信都提出了一些建议，如优化功能、提升性能等。</a:t>
                    </a:r>
                    <a:endParaRPr lang="en-US" sz="1100"/>
                  </a:p>
                </p:txBody>
              </p:sp>
            </p:grpSp>
          </p:grpSp>
        </p:grpSp>
        <p:sp>
          <p:nvSpPr>
            <p:cNvPr id="22" name="TextBox 22"/>
            <p:cNvSpPr txBox="true"/>
            <p:nvPr/>
          </p:nvSpPr>
          <p:spPr>
            <a:xfrm flipH="false" flipV="false" rot="0">
              <a:off x="660400" y="1130300"/>
              <a:ext cx="10858500" cy="68124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用户口碑的反映</a:t>
              </a:r>
              <a:endParaRPr lang="en-US" sz="1100"/>
            </a:p>
          </p:txBody>
        </p:sp>
      </p:grpSp>
      <p:sp>
        <p:nvSpPr>
          <p:cNvPr id="23" name="TextBox 23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客户满意度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f17c1e3-2ebb-463e-b641-7fbb4ced5985"/>
          <p:cNvGrpSpPr/>
          <p:nvPr/>
        </p:nvGrpSpPr>
        <p:grpSpPr>
          <a:xfrm flipH="false" flipV="false" rot="0">
            <a:off x="0" y="1130301"/>
            <a:ext cx="12185650" cy="4838699"/>
            <a:chOff x="0" y="1130301"/>
            <a:chExt cx="12185650" cy="4838699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0" y="2212111"/>
              <a:ext cx="12185650" cy="3756889"/>
            </a:xfrm>
            <a:custGeom>
              <a:rect b="b" l="l" r="r" t="t"/>
              <a:pathLst>
                <a:path h="943867" w="12414131">
                  <a:moveTo>
                    <a:pt x="0" y="943867"/>
                  </a:moveTo>
                  <a:cubicBezTo>
                    <a:pt x="942622" y="465500"/>
                    <a:pt x="1904652" y="4683"/>
                    <a:pt x="3190412" y="23"/>
                  </a:cubicBezTo>
                  <a:cubicBezTo>
                    <a:pt x="4476172" y="-4637"/>
                    <a:pt x="6093177" y="720911"/>
                    <a:pt x="7636933" y="791467"/>
                  </a:cubicBezTo>
                  <a:cubicBezTo>
                    <a:pt x="9180689" y="862023"/>
                    <a:pt x="11492675" y="34458"/>
                    <a:pt x="12414131" y="37280"/>
                  </a:cubicBezTo>
                </a:path>
              </a:pathLst>
            </a:custGeom>
            <a:ln w="1270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660400" y="2901951"/>
              <a:ext cx="3450771" cy="18097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660400" y="2901951"/>
              <a:ext cx="3450771" cy="1809750"/>
            </a:xfrm>
            <a:prstGeom prst="rect">
              <a:avLst/>
            </a:prstGeom>
            <a:solidFill>
              <a:srgbClr val="25B190">
                <a:alpha val="2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4364264" y="2901951"/>
              <a:ext cx="3450771" cy="18097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4364264" y="2901951"/>
              <a:ext cx="3450771" cy="1809750"/>
            </a:xfrm>
            <a:prstGeom prst="rect">
              <a:avLst/>
            </a:prstGeom>
            <a:solidFill>
              <a:srgbClr val="25B190">
                <a:alpha val="2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8068129" y="2901951"/>
              <a:ext cx="3450771" cy="18097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false" flipV="false" rot="0">
              <a:off x="8068129" y="2901951"/>
              <a:ext cx="3450771" cy="1809750"/>
            </a:xfrm>
            <a:prstGeom prst="rect">
              <a:avLst/>
            </a:prstGeom>
            <a:solidFill>
              <a:srgbClr val="25B190">
                <a:alpha val="2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0" name="TextBox 10"/>
            <p:cNvSpPr txBox="true"/>
            <p:nvPr/>
          </p:nvSpPr>
          <p:spPr>
            <a:xfrm flipH="false" flipV="false" rot="0">
              <a:off x="660400" y="1130301"/>
              <a:ext cx="2240281" cy="52705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true" i="false" lang="en-US" strike="noStrike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驱动发展的动力</a:t>
              </a:r>
              <a:endParaRPr lang="en-US" sz="1100"/>
            </a:p>
          </p:txBody>
        </p:sp>
        <p:grpSp>
          <p:nvGrpSpPr>
            <p:cNvPr id="11" name="Group 11"/>
            <p:cNvGrpSpPr/>
            <p:nvPr/>
          </p:nvGrpSpPr>
          <p:grpSpPr>
            <a:xfrm flipH="false" flipV="false" rot="0">
              <a:off x="784086" y="2646155"/>
              <a:ext cx="3203399" cy="1786146"/>
              <a:chOff x="784086" y="2646155"/>
              <a:chExt cx="3203399" cy="1786146"/>
            </a:xfrm>
          </p:grpSpPr>
          <p:sp>
            <p:nvSpPr>
              <p:cNvPr id="12" name="TextBox 12"/>
              <p:cNvSpPr txBox="true"/>
              <p:nvPr/>
            </p:nvSpPr>
            <p:spPr>
              <a:xfrm flipH="true" flipV="false" rot="0">
                <a:off x="1586187" y="2646155"/>
                <a:ext cx="1599199" cy="504081"/>
              </a:xfrm>
              <a:prstGeom prst="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784086" y="3334539"/>
                <a:ext cx="3203399" cy="109776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AI技术应用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4487950" y="2646155"/>
              <a:ext cx="3203399" cy="1786146"/>
              <a:chOff x="4487950" y="2646155"/>
              <a:chExt cx="3203399" cy="1786146"/>
            </a:xfrm>
          </p:grpSpPr>
          <p:sp>
            <p:nvSpPr>
              <p:cNvPr id="15" name="TextBox 15"/>
              <p:cNvSpPr txBox="true"/>
              <p:nvPr/>
            </p:nvSpPr>
            <p:spPr>
              <a:xfrm flipH="true" flipV="false" rot="0">
                <a:off x="5290051" y="2646155"/>
                <a:ext cx="1599199" cy="504081"/>
              </a:xfrm>
              <a:prstGeom prst="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4487950" y="3334539"/>
                <a:ext cx="3203399" cy="109776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新功能推出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8191815" y="2646155"/>
              <a:ext cx="3203399" cy="1786146"/>
              <a:chOff x="8191815" y="2646155"/>
              <a:chExt cx="3203399" cy="1786146"/>
            </a:xfrm>
          </p:grpSpPr>
          <p:sp>
            <p:nvSpPr>
              <p:cNvPr id="18" name="TextBox 18"/>
              <p:cNvSpPr txBox="true"/>
              <p:nvPr/>
            </p:nvSpPr>
            <p:spPr>
              <a:xfrm flipH="true" flipV="false" rot="0">
                <a:off x="8993916" y="2646155"/>
                <a:ext cx="1599199" cy="504081"/>
              </a:xfrm>
              <a:prstGeom prst="rect">
                <a:avLst/>
              </a:prstGeom>
              <a:solidFill>
                <a:srgbClr val="25B19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8191815" y="3334539"/>
                <a:ext cx="3203399" cy="109776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技术合作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技术创新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a9c3cba-ba5c-4d62-847c-2e57168212a2"/>
          <p:cNvGrpSpPr/>
          <p:nvPr/>
        </p:nvGrpSpPr>
        <p:grpSpPr>
          <a:xfrm flipH="false" flipV="false" rot="0">
            <a:off x="660400" y="0"/>
            <a:ext cx="10219068" cy="6858000"/>
            <a:chOff x="660400" y="0"/>
            <a:chExt cx="10219068" cy="685800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1312532" y="0"/>
              <a:ext cx="9566936" cy="6858000"/>
            </a:xfrm>
            <a:custGeom>
              <a:rect b="b" l="l" r="r" t="t"/>
              <a:pathLst>
                <a:path h="6858000" w="9566936">
                  <a:moveTo>
                    <a:pt x="1666829" y="0"/>
                  </a:moveTo>
                  <a:lnTo>
                    <a:pt x="7900107" y="0"/>
                  </a:lnTo>
                  <a:lnTo>
                    <a:pt x="7999764" y="86446"/>
                  </a:lnTo>
                  <a:cubicBezTo>
                    <a:pt x="8962511" y="962697"/>
                    <a:pt x="9566936" y="2226764"/>
                    <a:pt x="9566936" y="3632200"/>
                  </a:cubicBezTo>
                  <a:cubicBezTo>
                    <a:pt x="9566936" y="4872291"/>
                    <a:pt x="9096363" y="6002319"/>
                    <a:pt x="8324277" y="6852988"/>
                  </a:cubicBezTo>
                  <a:lnTo>
                    <a:pt x="8319505" y="6858000"/>
                  </a:lnTo>
                  <a:lnTo>
                    <a:pt x="1247431" y="6858000"/>
                  </a:lnTo>
                  <a:lnTo>
                    <a:pt x="1242659" y="6852988"/>
                  </a:lnTo>
                  <a:cubicBezTo>
                    <a:pt x="470574" y="6002319"/>
                    <a:pt x="0" y="4872291"/>
                    <a:pt x="0" y="3632200"/>
                  </a:cubicBezTo>
                  <a:cubicBezTo>
                    <a:pt x="0" y="2226764"/>
                    <a:pt x="604426" y="962697"/>
                    <a:pt x="1567173" y="86446"/>
                  </a:cubicBezTo>
                  <a:close/>
                </a:path>
              </a:pathLst>
            </a:custGeom>
            <a:solidFill>
              <a:srgbClr val="25B190">
                <a:alpha val="5098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2148114" y="0"/>
              <a:ext cx="7895772" cy="6858000"/>
            </a:xfrm>
            <a:custGeom>
              <a:rect b="b" l="l" r="r" t="t"/>
              <a:pathLst>
                <a:path h="6858000" w="7895772">
                  <a:moveTo>
                    <a:pt x="2387951" y="0"/>
                  </a:moveTo>
                  <a:lnTo>
                    <a:pt x="5507822" y="0"/>
                  </a:lnTo>
                  <a:lnTo>
                    <a:pt x="5659458" y="68649"/>
                  </a:lnTo>
                  <a:cubicBezTo>
                    <a:pt x="6982664" y="707125"/>
                    <a:pt x="7895772" y="2062880"/>
                    <a:pt x="7895772" y="3632200"/>
                  </a:cubicBezTo>
                  <a:cubicBezTo>
                    <a:pt x="7895772" y="4860364"/>
                    <a:pt x="7336515" y="5957724"/>
                    <a:pt x="6459108" y="6682835"/>
                  </a:cubicBezTo>
                  <a:lnTo>
                    <a:pt x="6225190" y="6858000"/>
                  </a:lnTo>
                  <a:lnTo>
                    <a:pt x="1670582" y="6858000"/>
                  </a:lnTo>
                  <a:lnTo>
                    <a:pt x="1436664" y="6682835"/>
                  </a:lnTo>
                  <a:cubicBezTo>
                    <a:pt x="559258" y="5957724"/>
                    <a:pt x="0" y="4860364"/>
                    <a:pt x="0" y="3632200"/>
                  </a:cubicBezTo>
                  <a:cubicBezTo>
                    <a:pt x="0" y="2062880"/>
                    <a:pt x="913109" y="707125"/>
                    <a:pt x="2236315" y="68649"/>
                  </a:cubicBezTo>
                  <a:close/>
                </a:path>
              </a:pathLst>
            </a:custGeom>
            <a:solidFill>
              <a:srgbClr val="25B190">
                <a:alpha val="5098"/>
              </a:srgbClr>
            </a:solidFill>
            <a:ln w="9525">
              <a:solidFill>
                <a:srgbClr val="FFFFFF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3875852" y="1459763"/>
              <a:ext cx="4466014" cy="4472250"/>
            </a:xfrm>
            <a:prstGeom prst="ellipse">
              <a:avLst/>
            </a:prstGeom>
            <a:solidFill>
              <a:srgbClr val="25B190">
                <a:alpha val="14901"/>
              </a:srgbClr>
            </a:solidFill>
            <a:ln w="9525">
              <a:solidFill>
                <a:srgbClr val="FFFFFF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2571230" y="2764995"/>
              <a:ext cx="1122172" cy="112217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3132316" y="3887168"/>
              <a:ext cx="0" cy="423621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ysDash"/>
              <a:headEnd type="none"/>
              <a:tailEnd type="oval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5528564" y="3300958"/>
              <a:ext cx="1122172" cy="112217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false" flipV="true" rot="0">
              <a:off x="6089650" y="2877338"/>
              <a:ext cx="0" cy="423621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ysDash"/>
              <a:headEnd type="none"/>
              <a:tailEnd type="oval"/>
            </a:ln>
          </p:spPr>
        </p:sp>
        <p:sp>
          <p:nvSpPr>
            <p:cNvPr id="10" name="AutoShape 10"/>
            <p:cNvSpPr/>
            <p:nvPr/>
          </p:nvSpPr>
          <p:spPr>
            <a:xfrm flipH="false" flipV="false" rot="0">
              <a:off x="8485898" y="2764995"/>
              <a:ext cx="1122172" cy="112217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false" flipV="false" rot="0">
              <a:off x="9046983" y="3887168"/>
              <a:ext cx="0" cy="423621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ysDash"/>
              <a:headEnd type="none"/>
              <a:tailEnd type="oval"/>
            </a:ln>
          </p:spPr>
        </p:sp>
        <p:sp>
          <p:nvSpPr>
            <p:cNvPr id="12" name="AutoShape 12"/>
            <p:cNvSpPr/>
            <p:nvPr/>
          </p:nvSpPr>
          <p:spPr>
            <a:xfrm flipH="false" flipV="false" rot="0">
              <a:off x="3693402" y="3326081"/>
              <a:ext cx="1835162" cy="535963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ysDash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true" flipV="false" rot="0">
              <a:off x="6650736" y="3326081"/>
              <a:ext cx="1835162" cy="535963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ysDash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 flipH="true" flipV="false" rot="0">
              <a:off x="1334788" y="4361938"/>
              <a:ext cx="3595060" cy="1825864"/>
            </a:xfrm>
            <a:prstGeom prst="roundRect">
              <a:avLst/>
            </a:prstGeom>
            <a:solidFill>
              <a:srgbClr val="FFFFFF">
                <a:alpha val="100000"/>
              </a:srgbClr>
            </a:solidFill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5" name="Group 15"/>
            <p:cNvGrpSpPr/>
            <p:nvPr/>
          </p:nvGrpSpPr>
          <p:grpSpPr>
            <a:xfrm flipH="false" flipV="false" rot="0">
              <a:off x="1508084" y="2851311"/>
              <a:ext cx="3248471" cy="2887398"/>
              <a:chOff x="1508084" y="2851311"/>
              <a:chExt cx="3248471" cy="2887398"/>
            </a:xfrm>
          </p:grpSpPr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1508084" y="4518671"/>
                <a:ext cx="3248468" cy="47502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20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行业拓展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1508087" y="5074667"/>
                <a:ext cx="3248468" cy="66404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飞书、钉钉、企业微信都在不断拓展行业领域，覆盖更多行业用户。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2657546" y="2851311"/>
                <a:ext cx="949541" cy="94954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25B190">
                      <a:alpha val="100000"/>
                      <a:lumMod val="60000"/>
                      <a:lumOff val="40000"/>
                    </a:srgbClr>
                  </a:gs>
                  <a:gs pos="75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19" name="AutoShape 19"/>
            <p:cNvSpPr/>
            <p:nvPr/>
          </p:nvSpPr>
          <p:spPr>
            <a:xfrm flipH="true" flipV="false" rot="0">
              <a:off x="4292120" y="1076597"/>
              <a:ext cx="3595060" cy="1825864"/>
            </a:xfrm>
            <a:prstGeom prst="roundRect">
              <a:avLst/>
            </a:prstGeom>
            <a:solidFill>
              <a:srgbClr val="FFFFFF">
                <a:alpha val="100000"/>
              </a:srgbClr>
            </a:solidFill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0" name="Group 20"/>
            <p:cNvGrpSpPr/>
            <p:nvPr/>
          </p:nvGrpSpPr>
          <p:grpSpPr>
            <a:xfrm flipH="false" flipV="false" rot="0">
              <a:off x="4465419" y="1233330"/>
              <a:ext cx="3248468" cy="3109172"/>
              <a:chOff x="4465419" y="1233330"/>
              <a:chExt cx="3248468" cy="3109172"/>
            </a:xfrm>
          </p:grpSpPr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4465419" y="1233330"/>
                <a:ext cx="3248468" cy="47502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20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生态合作伙伴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4465419" y="1789326"/>
                <a:ext cx="3248468" cy="66404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飞书、钉钉、企业微信与众多合作伙伴携手，共同构建丰富的生态系统。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5617840" y="3392961"/>
                <a:ext cx="949541" cy="94954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FBB430">
                      <a:alpha val="100000"/>
                      <a:lumMod val="60000"/>
                      <a:lumOff val="40000"/>
                    </a:srgbClr>
                  </a:gs>
                  <a:gs pos="75000">
                    <a:srgbClr val="FBB43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24" name="AutoShape 24"/>
            <p:cNvSpPr/>
            <p:nvPr/>
          </p:nvSpPr>
          <p:spPr>
            <a:xfrm flipH="true" flipV="false" rot="0">
              <a:off x="7249453" y="4361938"/>
              <a:ext cx="3595060" cy="1825864"/>
            </a:xfrm>
            <a:prstGeom prst="roundRect">
              <a:avLst/>
            </a:prstGeom>
            <a:solidFill>
              <a:srgbClr val="FFFFFF">
                <a:alpha val="100000"/>
              </a:srgbClr>
            </a:solidFill>
            <a:ln w="6350">
              <a:solidFill>
                <a:srgbClr val="25B19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5" name="Group 25"/>
            <p:cNvGrpSpPr/>
            <p:nvPr/>
          </p:nvGrpSpPr>
          <p:grpSpPr>
            <a:xfrm flipH="false" flipV="false" rot="0">
              <a:off x="7422752" y="2851311"/>
              <a:ext cx="3248468" cy="2887398"/>
              <a:chOff x="7422752" y="2851311"/>
              <a:chExt cx="3248468" cy="2887398"/>
            </a:xfrm>
          </p:grpSpPr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7422752" y="4518671"/>
                <a:ext cx="3248468" cy="47502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20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国际化布局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7422752" y="5074667"/>
                <a:ext cx="3248468" cy="66404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飞书和钉钉都在积极进行国际化布局，拓展海外市场。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8578134" y="2851311"/>
                <a:ext cx="949541" cy="94954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90BD47">
                      <a:alpha val="100000"/>
                      <a:lumMod val="60000"/>
                      <a:lumOff val="40000"/>
                    </a:srgbClr>
                  </a:gs>
                  <a:gs pos="75000">
                    <a:srgbClr val="90BD4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29" name="TextBox 29"/>
            <p:cNvSpPr txBox="true"/>
            <p:nvPr/>
          </p:nvSpPr>
          <p:spPr>
            <a:xfrm flipH="false" flipV="false" rot="0">
              <a:off x="660400" y="1130299"/>
              <a:ext cx="2664353" cy="1634695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拓展市场的手段</a:t>
              </a:r>
              <a:endParaRPr lang="en-US" sz="1100"/>
            </a:p>
          </p:txBody>
        </p:sp>
      </p:grpSp>
      <p:sp>
        <p:nvSpPr>
          <p:cNvPr id="30" name="TextBox 30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生态扩展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b70130-fa9f-45f8-bf02-87d876de8921"/>
          <p:cNvGrpSpPr/>
          <p:nvPr/>
        </p:nvGrpSpPr>
        <p:grpSpPr>
          <a:xfrm flipH="false" flipV="false"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4345309" y="2002054"/>
              <a:ext cx="3488680" cy="4132035"/>
            </a:xfrm>
            <a:custGeom>
              <a:rect b="b" l="l" r="r" t="t"/>
              <a:pathLst>
                <a:path h="4132035" w="3488680">
                  <a:moveTo>
                    <a:pt x="419640" y="0"/>
                  </a:moveTo>
                  <a:lnTo>
                    <a:pt x="1083131" y="0"/>
                  </a:lnTo>
                  <a:lnTo>
                    <a:pt x="1905078" y="821948"/>
                  </a:lnTo>
                  <a:lnTo>
                    <a:pt x="1905078" y="0"/>
                  </a:lnTo>
                  <a:lnTo>
                    <a:pt x="2690408" y="0"/>
                  </a:lnTo>
                  <a:lnTo>
                    <a:pt x="2690408" y="821948"/>
                  </a:lnTo>
                  <a:lnTo>
                    <a:pt x="3488680" y="23676"/>
                  </a:lnTo>
                  <a:lnTo>
                    <a:pt x="3488680" y="1134303"/>
                  </a:lnTo>
                  <a:lnTo>
                    <a:pt x="3245723" y="1377263"/>
                  </a:lnTo>
                  <a:lnTo>
                    <a:pt x="3488680" y="1377263"/>
                  </a:lnTo>
                  <a:lnTo>
                    <a:pt x="3488680" y="2162594"/>
                  </a:lnTo>
                  <a:lnTo>
                    <a:pt x="3245723" y="2162594"/>
                  </a:lnTo>
                  <a:lnTo>
                    <a:pt x="3488680" y="2405552"/>
                  </a:lnTo>
                  <a:lnTo>
                    <a:pt x="3488680" y="3516179"/>
                  </a:lnTo>
                  <a:lnTo>
                    <a:pt x="2690408" y="2717907"/>
                  </a:lnTo>
                  <a:lnTo>
                    <a:pt x="2690408" y="4132035"/>
                  </a:lnTo>
                  <a:lnTo>
                    <a:pt x="1905080" y="4132035"/>
                  </a:lnTo>
                  <a:lnTo>
                    <a:pt x="1905078" y="2717907"/>
                  </a:lnTo>
                  <a:lnTo>
                    <a:pt x="843939" y="3779046"/>
                  </a:lnTo>
                  <a:cubicBezTo>
                    <a:pt x="792825" y="3830162"/>
                    <a:pt x="709948" y="3830162"/>
                    <a:pt x="658834" y="3779046"/>
                  </a:cubicBezTo>
                  <a:lnTo>
                    <a:pt x="288627" y="3408841"/>
                  </a:lnTo>
                  <a:cubicBezTo>
                    <a:pt x="237511" y="3357723"/>
                    <a:pt x="237511" y="3274849"/>
                    <a:pt x="288627" y="3223734"/>
                  </a:cubicBezTo>
                  <a:lnTo>
                    <a:pt x="1349764" y="2162594"/>
                  </a:lnTo>
                  <a:lnTo>
                    <a:pt x="0" y="2162594"/>
                  </a:lnTo>
                  <a:lnTo>
                    <a:pt x="0" y="1377264"/>
                  </a:lnTo>
                  <a:lnTo>
                    <a:pt x="1349764" y="1377263"/>
                  </a:lnTo>
                  <a:lnTo>
                    <a:pt x="288627" y="316123"/>
                  </a:lnTo>
                  <a:cubicBezTo>
                    <a:pt x="237511" y="265005"/>
                    <a:pt x="237511" y="182132"/>
                    <a:pt x="288627" y="131014"/>
                  </a:cubicBez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true"/>
            <p:nvPr/>
          </p:nvSpPr>
          <p:spPr>
            <a:xfrm flipH="false" flipV="false" rot="0">
              <a:off x="660400" y="1130300"/>
              <a:ext cx="10858500" cy="7200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市场的竞争态势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1160977" y="3317836"/>
              <a:ext cx="2880000" cy="1500483"/>
              <a:chOff x="1160977" y="2167894"/>
              <a:chExt cx="2880000" cy="1500483"/>
            </a:xfrm>
          </p:grpSpPr>
          <p:sp>
            <p:nvSpPr>
              <p:cNvPr id="6" name="TextBox 6"/>
              <p:cNvSpPr txBox="true"/>
              <p:nvPr/>
            </p:nvSpPr>
            <p:spPr>
              <a:xfrm flipH="true" flipV="false" rot="0">
                <a:off x="1160977" y="2810736"/>
                <a:ext cx="2880000" cy="8576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竞争现状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1160977" y="2167894"/>
                <a:ext cx="2880000" cy="6428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2800">
                    <a:ln/>
                    <a:solidFill>
                      <a:srgbClr val="25B19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flipH="false" flipV="false" rot="0">
              <a:off x="4649651" y="3317836"/>
              <a:ext cx="2880000" cy="1500483"/>
              <a:chOff x="4649650" y="2167894"/>
              <a:chExt cx="2880000" cy="1500483"/>
            </a:xfrm>
          </p:grpSpPr>
          <p:sp>
            <p:nvSpPr>
              <p:cNvPr id="9" name="TextBox 9"/>
              <p:cNvSpPr txBox="true"/>
              <p:nvPr/>
            </p:nvSpPr>
            <p:spPr>
              <a:xfrm flipH="true" flipV="false" rot="0">
                <a:off x="4649650" y="2810736"/>
                <a:ext cx="2880000" cy="8576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竞争策略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4649650" y="2167894"/>
                <a:ext cx="2880000" cy="6428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2800">
                    <a:ln/>
                    <a:solidFill>
                      <a:srgbClr val="FBB43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8138323" y="3317836"/>
              <a:ext cx="2880000" cy="1500483"/>
              <a:chOff x="8138323" y="2167894"/>
              <a:chExt cx="2880000" cy="1500483"/>
            </a:xfrm>
          </p:grpSpPr>
          <p:sp>
            <p:nvSpPr>
              <p:cNvPr id="12" name="TextBox 12"/>
              <p:cNvSpPr txBox="true"/>
              <p:nvPr/>
            </p:nvSpPr>
            <p:spPr>
              <a:xfrm flipH="true" flipV="false" rot="0">
                <a:off x="8138323" y="2810736"/>
                <a:ext cx="2880000" cy="8576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竞争挑战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8138323" y="2167894"/>
                <a:ext cx="2880000" cy="6428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2800">
                    <a:ln/>
                    <a:solidFill>
                      <a:srgbClr val="25B19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4" name="AutoShape 14"/>
            <p:cNvSpPr/>
            <p:nvPr/>
          </p:nvSpPr>
          <p:spPr>
            <a:xfrm flipH="false" flipV="false" rot="0">
              <a:off x="4345314" y="2002055"/>
              <a:ext cx="0" cy="4132045"/>
            </a:xfrm>
            <a:prstGeom prst="line">
              <a:avLst/>
            </a:prstGeom>
            <a:ln w="63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 flipH="false" flipV="false" rot="0">
              <a:off x="7833988" y="2002055"/>
              <a:ext cx="0" cy="4132045"/>
            </a:xfrm>
            <a:prstGeom prst="line">
              <a:avLst/>
            </a:prstGeom>
            <a:ln w="63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 flipH="false" flipV="false" rot="0">
              <a:off x="660400" y="2002054"/>
              <a:ext cx="10858500" cy="4132035"/>
            </a:xfrm>
            <a:prstGeom prst="roundRect">
              <a:avLst>
                <a:gd fmla="val 5602" name="adj"/>
              </a:avLst>
            </a:prstGeom>
            <a:ln w="635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17" name="TextBox 17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竞争格局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d328ffc-183a-44c8-b36f-28d28a7d5d93"/>
          <p:cNvGrpSpPr/>
          <p:nvPr/>
        </p:nvGrpSpPr>
        <p:grpSpPr>
          <a:xfrm flipH="false" flipV="false" rot="0">
            <a:off x="0" y="1130300"/>
            <a:ext cx="12192000" cy="5727699"/>
            <a:chOff x="0" y="1130300"/>
            <a:chExt cx="12192000" cy="5727699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0" y="6235700"/>
              <a:ext cx="12192000" cy="622299"/>
            </a:xfrm>
            <a:prstGeom prst="round2Same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rgbClr val="25B190">
                    <a:alpha val="100000"/>
                  </a:srgbClr>
                </a:gs>
                <a:gs pos="100000">
                  <a:srgbClr val="FBB430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true"/>
            <p:nvPr/>
          </p:nvSpPr>
          <p:spPr>
            <a:xfrm flipH="false" flipV="false" rot="0">
              <a:off x="660399" y="1130300"/>
              <a:ext cx="10858500" cy="50165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展望未来的发展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925936" y="2834004"/>
              <a:ext cx="2955022" cy="1596392"/>
              <a:chOff x="4420929" y="2157728"/>
              <a:chExt cx="2955022" cy="1596392"/>
            </a:xfrm>
          </p:grpSpPr>
          <p:sp>
            <p:nvSpPr>
              <p:cNvPr id="6" name="AutoShape 6"/>
              <p:cNvSpPr/>
              <p:nvPr/>
            </p:nvSpPr>
            <p:spPr>
              <a:xfrm flipH="false" flipV="false" rot="0">
                <a:off x="4420929" y="2473959"/>
                <a:ext cx="2955022" cy="1280161"/>
              </a:xfrm>
              <a:prstGeom prst="roundRect">
                <a:avLst>
                  <a:gd fmla="val 10000" name="adj"/>
                </a:avLst>
              </a:prstGeom>
              <a:solidFill>
                <a:srgbClr val="FBB43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5582210" y="2157728"/>
                <a:ext cx="632462" cy="632462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</a:srgbClr>
                  </a:gs>
                  <a:gs pos="8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4559628" y="2921000"/>
                <a:ext cx="2677624" cy="71119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发展趋势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4612139" y="2834004"/>
              <a:ext cx="2955022" cy="1596392"/>
              <a:chOff x="4612139" y="2157728"/>
              <a:chExt cx="2955022" cy="1596392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4612139" y="2473959"/>
                <a:ext cx="2955022" cy="1280161"/>
              </a:xfrm>
              <a:prstGeom prst="roundRect">
                <a:avLst>
                  <a:gd fmla="val 10000" name="adj"/>
                </a:avLst>
              </a:prstGeom>
              <a:solidFill>
                <a:srgbClr val="FBB43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5773418" y="2157728"/>
                <a:ext cx="632462" cy="632462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</a:srgbClr>
                  </a:gs>
                  <a:gs pos="8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4750839" y="2921000"/>
                <a:ext cx="2677624" cy="71119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发展机遇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8298342" y="2834004"/>
              <a:ext cx="2955022" cy="1596392"/>
              <a:chOff x="4803349" y="2157728"/>
              <a:chExt cx="2955022" cy="1596392"/>
            </a:xfrm>
          </p:grpSpPr>
          <p:sp>
            <p:nvSpPr>
              <p:cNvPr id="14" name="AutoShape 14"/>
              <p:cNvSpPr/>
              <p:nvPr/>
            </p:nvSpPr>
            <p:spPr>
              <a:xfrm flipH="false" flipV="false" rot="0">
                <a:off x="4803349" y="2473959"/>
                <a:ext cx="2955022" cy="1280161"/>
              </a:xfrm>
              <a:prstGeom prst="roundRect">
                <a:avLst>
                  <a:gd fmla="val 10000" name="adj"/>
                </a:avLst>
              </a:prstGeom>
              <a:solidFill>
                <a:srgbClr val="FBB43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5964628" y="2157728"/>
                <a:ext cx="632462" cy="632462"/>
              </a:xfrm>
              <a:prstGeom prst="ellipse">
                <a:avLst/>
              </a:prstGeom>
              <a:gradFill>
                <a:gsLst>
                  <a:gs pos="0">
                    <a:srgbClr val="FBB430">
                      <a:alpha val="100000"/>
                    </a:srgbClr>
                  </a:gs>
                  <a:gs pos="80000">
                    <a:srgbClr val="25B19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4942048" y="2921000"/>
                <a:ext cx="2677624" cy="71119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发展挑战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true"/>
          <p:nvPr/>
        </p:nvSpPr>
        <p:spPr>
          <a:xfrm flipH="false" flipV="false" rot="0">
            <a:off x="963070" y="416700"/>
            <a:ext cx="10368000" cy="5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未来趋势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660399" y="1130300"/>
            <a:ext cx="10858500" cy="2376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 w="19050"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8444226" y="4015907"/>
            <a:ext cx="2858106" cy="828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000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报告人名称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8444226" y="5191698"/>
            <a:ext cx="2858106" cy="828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non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4dd909-385c-453c-b35b-9536ff0514d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4dd909-385c-453c-b35b-9536ff0514d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